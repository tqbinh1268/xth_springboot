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8"/>
  </p:notesMasterIdLst>
  <p:sldIdLst>
    <p:sldId id="709" r:id="rId2"/>
    <p:sldId id="808" r:id="rId3"/>
    <p:sldId id="784" r:id="rId4"/>
    <p:sldId id="764" r:id="rId5"/>
    <p:sldId id="767" r:id="rId6"/>
    <p:sldId id="768" r:id="rId7"/>
    <p:sldId id="798" r:id="rId8"/>
    <p:sldId id="810" r:id="rId9"/>
    <p:sldId id="811" r:id="rId10"/>
    <p:sldId id="812" r:id="rId11"/>
    <p:sldId id="813" r:id="rId12"/>
    <p:sldId id="814" r:id="rId13"/>
    <p:sldId id="815" r:id="rId14"/>
    <p:sldId id="816" r:id="rId15"/>
    <p:sldId id="817" r:id="rId16"/>
    <p:sldId id="818" r:id="rId17"/>
    <p:sldId id="819" r:id="rId18"/>
    <p:sldId id="820" r:id="rId19"/>
    <p:sldId id="821" r:id="rId20"/>
    <p:sldId id="823" r:id="rId21"/>
    <p:sldId id="822" r:id="rId22"/>
    <p:sldId id="824" r:id="rId23"/>
    <p:sldId id="825" r:id="rId24"/>
    <p:sldId id="826" r:id="rId25"/>
    <p:sldId id="827" r:id="rId26"/>
    <p:sldId id="836" r:id="rId27"/>
    <p:sldId id="828" r:id="rId28"/>
    <p:sldId id="829" r:id="rId29"/>
    <p:sldId id="833" r:id="rId30"/>
    <p:sldId id="835" r:id="rId31"/>
    <p:sldId id="832" r:id="rId32"/>
    <p:sldId id="834" r:id="rId33"/>
    <p:sldId id="831" r:id="rId34"/>
    <p:sldId id="790" r:id="rId35"/>
    <p:sldId id="707" r:id="rId36"/>
    <p:sldId id="75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BBB59"/>
    <a:srgbClr val="FF3300"/>
    <a:srgbClr val="F9F9F9"/>
    <a:srgbClr val="FF5A33"/>
    <a:srgbClr val="5C0000"/>
    <a:srgbClr val="FF9900"/>
    <a:srgbClr val="FFD1D1"/>
    <a:srgbClr val="FFB9B9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364" autoAdjust="0"/>
  </p:normalViewPr>
  <p:slideViewPr>
    <p:cSldViewPr>
      <p:cViewPr varScale="1">
        <p:scale>
          <a:sx n="88" d="100"/>
          <a:sy n="88" d="100"/>
        </p:scale>
        <p:origin x="696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EE1EE2F0-59E4-4602-AA67-BA6EBD73A1CB}"/>
              </a:ext>
            </a:extLst>
          </p:cNvPr>
          <p:cNvGrpSpPr/>
          <p:nvPr userDrawn="1"/>
        </p:nvGrpSpPr>
        <p:grpSpPr>
          <a:xfrm>
            <a:off x="381000" y="226219"/>
            <a:ext cx="4775200" cy="1828800"/>
            <a:chOff x="457200" y="457200"/>
            <a:chExt cx="3581400" cy="13716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7EA993B7-8979-47E1-88DF-A0445F6965F8}"/>
                </a:ext>
              </a:extLst>
            </p:cNvPr>
            <p:cNvSpPr/>
            <p:nvPr userDrawn="1"/>
          </p:nvSpPr>
          <p:spPr>
            <a:xfrm>
              <a:off x="457200" y="609600"/>
              <a:ext cx="3581400" cy="1219200"/>
            </a:xfrm>
            <a:prstGeom prst="rect">
              <a:avLst/>
            </a:prstGeom>
            <a:solidFill>
              <a:srgbClr val="F26522"/>
            </a:solidFill>
            <a:ln>
              <a:solidFill>
                <a:srgbClr val="F265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0FB16836-C66B-4FAD-9EE8-C898ADFF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457200"/>
              <a:ext cx="2787037" cy="121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5759003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spring.io/spring-tools/release/STS4/4.27.0.RELEASE/dist/e4.34/spring-tool-suite-4-4.27.0.RELEASE-e4.34.0-win32.win32.x86_64.zip" TargetMode="External"/><Relationship Id="rId2" Type="http://schemas.openxmlformats.org/officeDocument/2006/relationships/hyperlink" Target="https://marketplace.visualstudio.com/items?itemName=Pivotal.vscode-boot-dev-pac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pring-projects/sts4/wiki/Installation#thei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tools" TargetMode="External"/><Relationship Id="rId2" Type="http://schemas.openxmlformats.org/officeDocument/2006/relationships/hyperlink" Target="https://cdn.spring.io/spring-tools/release/STS4/4.27.0.RELEASE/dist/e4.34/spring-tool-suite-4-4.27.0.RELEASE-e4.34.0-win32.win32.x86_64.zi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1.1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Spring Boot </a:t>
            </a:r>
            <a:r>
              <a:rPr lang="en-US" dirty="0" smtClean="0"/>
              <a:t>MVC Introduction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9162"/>
            <a:ext cx="8991600" cy="57102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thiệu Spring, Spring MVC và Spring Boot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Cài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đặt môi trường phát triển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 khảo sát dự án Spring Boot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lý thư viện phụ </a:t>
            </a: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Hello World</a:t>
            </a:r>
          </a:p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II: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hình xủa lý request/response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Làm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việc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với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http Components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Spring Boot MVC</a:t>
            </a: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HttpServlet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HttpServlet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ServletContext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095849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15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Spring Boot Introduction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84035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</a:t>
            </a:r>
            <a:r>
              <a:rPr lang="en-US" dirty="0" smtClean="0"/>
              <a:t>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</a:t>
            </a:r>
            <a:r>
              <a:rPr lang="en-US" dirty="0" err="1"/>
              <a:t>là</a:t>
            </a:r>
            <a:r>
              <a:rPr lang="en-US" dirty="0"/>
              <a:t> framework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2003 </a:t>
            </a:r>
            <a:r>
              <a:rPr lang="en-US" dirty="0" err="1"/>
              <a:t>bởi</a:t>
            </a:r>
            <a:r>
              <a:rPr lang="en-US" dirty="0"/>
              <a:t> Rod Johnson.</a:t>
            </a:r>
          </a:p>
          <a:p>
            <a:r>
              <a:rPr lang="en-US" dirty="0"/>
              <a:t>Spring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java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nay.</a:t>
            </a:r>
          </a:p>
          <a:p>
            <a:r>
              <a:rPr lang="en-US" dirty="0" smtClean="0"/>
              <a:t>Spring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IoC</a:t>
            </a:r>
            <a:r>
              <a:rPr lang="en-US" dirty="0"/>
              <a:t>, DI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 smtClean="0"/>
              <a:t>dàng</a:t>
            </a:r>
            <a:r>
              <a:rPr lang="en-US" dirty="0" smtClean="0"/>
              <a:t> </a:t>
            </a:r>
            <a:r>
              <a:rPr lang="en-US" dirty="0" err="1" smtClean="0"/>
              <a:t>nâng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,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r>
              <a:rPr lang="en-US" dirty="0"/>
              <a:t>Spring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nhẹ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92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Spring Boot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</a:t>
            </a:r>
            <a:r>
              <a:rPr lang="en-US" dirty="0" err="1"/>
              <a:t>pring</a:t>
            </a:r>
            <a:r>
              <a:rPr lang="en-US" dirty="0"/>
              <a:t> Boot</a:t>
            </a:r>
            <a:r>
              <a:rPr lang="vi-VN" dirty="0"/>
              <a:t> là một dự án bổ sung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Spring</a:t>
            </a:r>
            <a:r>
              <a:rPr lang="vi-VN" dirty="0"/>
              <a:t>, nhằm đơn giản hóa việc phát triển ứng dụng Spring.</a:t>
            </a:r>
          </a:p>
          <a:p>
            <a:r>
              <a:rPr lang="vi-VN" dirty="0"/>
              <a:t>Dễ dàng hơn trong việc thiết lập và phát triển ứng dụng.</a:t>
            </a:r>
            <a:endParaRPr lang="en-US" dirty="0"/>
          </a:p>
          <a:p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vi-VN" dirty="0"/>
              <a:t> “</a:t>
            </a:r>
            <a:r>
              <a:rPr lang="en-US" dirty="0"/>
              <a:t>C</a:t>
            </a:r>
            <a:r>
              <a:rPr lang="vi-VN" dirty="0"/>
              <a:t>ấu hình mặc định” giảm thiểu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  <a:p>
            <a:r>
              <a:rPr lang="vi-VN" dirty="0"/>
              <a:t>Cho phép nhúng Web Server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dirty="0"/>
              <a:t>C</a:t>
            </a:r>
            <a:r>
              <a:rPr lang="vi-VN" dirty="0"/>
              <a:t>ó thể chạy ứng dụng </a:t>
            </a:r>
            <a:r>
              <a:rPr lang="en-US" dirty="0"/>
              <a:t>w</a:t>
            </a:r>
            <a:r>
              <a:rPr lang="vi-VN" dirty="0"/>
              <a:t>eb </a:t>
            </a:r>
            <a:r>
              <a:rPr lang="vi-VN" dirty="0" smtClean="0"/>
              <a:t>bằng </a:t>
            </a:r>
            <a:r>
              <a:rPr lang="vi-VN" dirty="0"/>
              <a:t>cơ chế dòng lệnh hoặc xuất ra file war để triển khai lên Web Server.</a:t>
            </a:r>
            <a:endParaRPr lang="en-US" dirty="0"/>
          </a:p>
          <a:p>
            <a:r>
              <a:rPr lang="vi-VN" dirty="0"/>
              <a:t>Dễ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vi-VN" dirty="0"/>
              <a:t>tương tác với hệ sinh thái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vi-VN" dirty="0"/>
              <a:t>của Spring</a:t>
            </a:r>
            <a:r>
              <a:rPr lang="en-US" dirty="0"/>
              <a:t> (</a:t>
            </a:r>
            <a:r>
              <a:rPr lang="vi-VN" dirty="0"/>
              <a:t>JDBC,</a:t>
            </a:r>
            <a:r>
              <a:rPr lang="en-US" dirty="0"/>
              <a:t> </a:t>
            </a:r>
            <a:r>
              <a:rPr lang="vi-VN" dirty="0"/>
              <a:t>ORM,</a:t>
            </a:r>
            <a:r>
              <a:rPr lang="en-US" dirty="0"/>
              <a:t> </a:t>
            </a:r>
            <a:r>
              <a:rPr lang="vi-VN" dirty="0"/>
              <a:t>Security…</a:t>
            </a:r>
            <a:r>
              <a:rPr lang="en-US" dirty="0"/>
              <a:t>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1159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Spring Boot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9200" y="1130010"/>
            <a:ext cx="2362200" cy="54993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2371" y="1130011"/>
            <a:ext cx="2362200" cy="54993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1130011"/>
            <a:ext cx="2362200" cy="275618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458200" y="3873210"/>
            <a:ext cx="2362200" cy="275618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 rot="16200000">
            <a:off x="5242498" y="3519267"/>
            <a:ext cx="40619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Spring Framework</a:t>
            </a:r>
          </a:p>
        </p:txBody>
      </p:sp>
      <p:sp>
        <p:nvSpPr>
          <p:cNvPr id="10" name="Rectangle 9"/>
          <p:cNvSpPr/>
          <p:nvPr/>
        </p:nvSpPr>
        <p:spPr>
          <a:xfrm rot="16200000">
            <a:off x="1068847" y="3425604"/>
            <a:ext cx="266290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Spring Boot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36695" y="2699026"/>
            <a:ext cx="100521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ln/>
                <a:solidFill>
                  <a:schemeClr val="accent3"/>
                </a:solidFill>
              </a:rPr>
              <a:t>Web</a:t>
            </a:r>
          </a:p>
          <a:p>
            <a:pPr algn="ctr"/>
            <a:r>
              <a:rPr lang="en-US" sz="2400" b="1" dirty="0">
                <a:ln/>
                <a:solidFill>
                  <a:schemeClr val="accent3"/>
                </a:solidFill>
              </a:rPr>
              <a:t>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76569" y="5124271"/>
            <a:ext cx="192546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ln/>
                <a:solidFill>
                  <a:schemeClr val="accent3"/>
                </a:solidFill>
              </a:rPr>
              <a:t>XML</a:t>
            </a:r>
          </a:p>
          <a:p>
            <a:pPr algn="ctr"/>
            <a:r>
              <a:rPr lang="en-US" sz="2400" b="1" dirty="0">
                <a:ln/>
                <a:solidFill>
                  <a:schemeClr val="accent3"/>
                </a:solidFill>
              </a:rPr>
              <a:t>Annotation</a:t>
            </a:r>
          </a:p>
          <a:p>
            <a:pPr algn="ctr"/>
            <a:r>
              <a:rPr lang="en-US" sz="2400" b="1" dirty="0">
                <a:ln/>
                <a:solidFill>
                  <a:schemeClr val="accent3"/>
                </a:solidFill>
              </a:rPr>
              <a:t>Configuration</a:t>
            </a:r>
          </a:p>
        </p:txBody>
      </p:sp>
      <p:sp>
        <p:nvSpPr>
          <p:cNvPr id="9" name="&quot;No&quot; Symbol 8"/>
          <p:cNvSpPr/>
          <p:nvPr/>
        </p:nvSpPr>
        <p:spPr>
          <a:xfrm>
            <a:off x="9182100" y="4190999"/>
            <a:ext cx="914400" cy="914400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ross 12"/>
          <p:cNvSpPr/>
          <p:nvPr/>
        </p:nvSpPr>
        <p:spPr>
          <a:xfrm>
            <a:off x="9182100" y="1676400"/>
            <a:ext cx="914400" cy="914400"/>
          </a:xfrm>
          <a:prstGeom prst="plus">
            <a:avLst>
              <a:gd name="adj" fmla="val 32576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qual 13"/>
          <p:cNvSpPr/>
          <p:nvPr/>
        </p:nvSpPr>
        <p:spPr>
          <a:xfrm>
            <a:off x="3934690" y="3416009"/>
            <a:ext cx="1704110" cy="914400"/>
          </a:xfrm>
          <a:prstGeom prst="mathEqual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14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Environment Setup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20116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Tool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Spring Boot.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Eclipse, </a:t>
            </a:r>
            <a:r>
              <a:rPr lang="en-US" dirty="0" err="1" smtClean="0"/>
              <a:t>Intelj</a:t>
            </a:r>
            <a:r>
              <a:rPr lang="en-US" dirty="0" smtClean="0"/>
              <a:t>, </a:t>
            </a:r>
            <a:r>
              <a:rPr lang="en-US" dirty="0" err="1" smtClean="0"/>
              <a:t>NetBean</a:t>
            </a:r>
            <a:r>
              <a:rPr lang="en-US" dirty="0" smtClean="0"/>
              <a:t>…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khuyến</a:t>
            </a:r>
            <a:r>
              <a:rPr lang="en-US" dirty="0" smtClean="0"/>
              <a:t> </a:t>
            </a:r>
            <a:r>
              <a:rPr lang="en-US" dirty="0" err="1" smtClean="0"/>
              <a:t>nghị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spring.io</a:t>
            </a:r>
          </a:p>
          <a:p>
            <a:r>
              <a:rPr lang="en-US" dirty="0" smtClean="0"/>
              <a:t>Spring </a:t>
            </a:r>
            <a:r>
              <a:rPr lang="en-US" dirty="0"/>
              <a:t>Tools 4 for Visual Studio </a:t>
            </a:r>
            <a:r>
              <a:rPr lang="en-US" dirty="0" smtClean="0"/>
              <a:t>Code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marketplace.visualstudio.com/items?itemName=Pivotal.vscode-boot-dev-pack</a:t>
            </a:r>
            <a:endParaRPr lang="en-US" dirty="0" smtClean="0"/>
          </a:p>
          <a:p>
            <a:r>
              <a:rPr lang="en-US" b="1" dirty="0" smtClean="0"/>
              <a:t>Spring </a:t>
            </a:r>
            <a:r>
              <a:rPr lang="en-US" b="1" dirty="0"/>
              <a:t>Tools 4 for </a:t>
            </a:r>
            <a:r>
              <a:rPr lang="en-US" b="1" dirty="0" smtClean="0"/>
              <a:t>Eclipse</a:t>
            </a:r>
          </a:p>
          <a:p>
            <a:pPr lvl="1"/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cdn.spring.io/spring-tools/release/STS4/4.27.0.RELEASE/dist/e4.34/spring-tool-suite-4-4.27.0.RELEASE-e4.34.0-win32.win32.x86_64.zip</a:t>
            </a:r>
            <a:endParaRPr lang="en-US" dirty="0" smtClean="0"/>
          </a:p>
          <a:p>
            <a:r>
              <a:rPr lang="en-US" dirty="0" smtClean="0"/>
              <a:t>Spring </a:t>
            </a:r>
            <a:r>
              <a:rPr lang="en-US" dirty="0"/>
              <a:t>Tools 4 for </a:t>
            </a:r>
            <a:r>
              <a:rPr lang="en-US" dirty="0" err="1" smtClean="0"/>
              <a:t>Theia</a:t>
            </a:r>
            <a:endParaRPr lang="en-US" dirty="0" smtClean="0"/>
          </a:p>
          <a:p>
            <a:pPr lvl="1"/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github.com/spring-projects/sts4/wiki/Installation#theia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1293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STS4 (Spring Tool Suite 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Bước</a:t>
            </a:r>
            <a:r>
              <a:rPr lang="en-US" dirty="0" smtClean="0"/>
              <a:t> 1: </a:t>
            </a:r>
            <a:r>
              <a:rPr lang="en-US" dirty="0" err="1" smtClean="0"/>
              <a:t>Cài</a:t>
            </a:r>
            <a:r>
              <a:rPr lang="en-US" dirty="0" smtClean="0"/>
              <a:t> JDK 17+</a:t>
            </a:r>
          </a:p>
          <a:p>
            <a:r>
              <a:rPr lang="en-US" dirty="0" err="1" smtClean="0"/>
              <a:t>Bước</a:t>
            </a:r>
            <a:r>
              <a:rPr lang="en-US" dirty="0" smtClean="0"/>
              <a:t> 2: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nén</a:t>
            </a:r>
            <a:endParaRPr lang="en-US" dirty="0" smtClean="0"/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cdn.spring.io/spring-tools/release/STS4/4.27.0.RELEASE/dist/e4.34/spring-tool-suite-4-4.27.0.RELEASE-e4.34.0-win32.win32.x86_64.zip</a:t>
            </a:r>
            <a:endParaRPr lang="en-US" dirty="0" smtClean="0"/>
          </a:p>
          <a:p>
            <a:pPr lvl="1"/>
            <a:r>
              <a:rPr lang="en-US" dirty="0" err="1" smtClean="0"/>
              <a:t>Chú</a:t>
            </a:r>
            <a:r>
              <a:rPr lang="en-US" dirty="0" smtClean="0"/>
              <a:t> ý: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tải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phiên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. </a:t>
            </a:r>
            <a:r>
              <a:rPr lang="en-US" dirty="0" err="1" smtClean="0"/>
              <a:t>Tải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đây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spring.io/tools</a:t>
            </a:r>
            <a:endParaRPr lang="en-US" dirty="0"/>
          </a:p>
          <a:p>
            <a:r>
              <a:rPr lang="en-US" dirty="0" err="1" smtClean="0"/>
              <a:t>Bước</a:t>
            </a:r>
            <a:r>
              <a:rPr lang="en-US" dirty="0" smtClean="0"/>
              <a:t> 3: </a:t>
            </a:r>
            <a:r>
              <a:rPr lang="en-US" dirty="0" err="1" smtClean="0"/>
              <a:t>Chạy</a:t>
            </a:r>
            <a:r>
              <a:rPr lang="en-US" dirty="0" smtClean="0"/>
              <a:t> SpringToolSuite4.exe</a:t>
            </a:r>
          </a:p>
          <a:p>
            <a:r>
              <a:rPr lang="en-US" dirty="0" err="1" smtClean="0"/>
              <a:t>Bước</a:t>
            </a:r>
            <a:r>
              <a:rPr lang="en-US" dirty="0" smtClean="0"/>
              <a:t> 4: </a:t>
            </a:r>
            <a:r>
              <a:rPr lang="en-US" dirty="0" err="1" smtClean="0"/>
              <a:t>Chọn</a:t>
            </a:r>
            <a:r>
              <a:rPr lang="en-US" dirty="0" smtClean="0"/>
              <a:t> Workspace (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Spring Boot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Đóng</a:t>
            </a:r>
            <a:r>
              <a:rPr lang="en-US" dirty="0" smtClean="0"/>
              <a:t> </a:t>
            </a:r>
            <a:r>
              <a:rPr lang="en-US" dirty="0" err="1" smtClean="0"/>
              <a:t>cửa</a:t>
            </a:r>
            <a:r>
              <a:rPr lang="en-US" dirty="0" smtClean="0"/>
              <a:t> </a:t>
            </a:r>
            <a:r>
              <a:rPr lang="en-US" dirty="0" err="1" smtClean="0"/>
              <a:t>sổ</a:t>
            </a:r>
            <a:r>
              <a:rPr lang="en-US" dirty="0" smtClean="0"/>
              <a:t> Welcome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cửa</a:t>
            </a:r>
            <a:r>
              <a:rPr lang="en-US" dirty="0" smtClean="0"/>
              <a:t> </a:t>
            </a:r>
            <a:r>
              <a:rPr lang="en-US" dirty="0" err="1" smtClean="0"/>
              <a:t>sổ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slide </a:t>
            </a:r>
            <a:r>
              <a:rPr lang="en-US" dirty="0" err="1" smtClean="0"/>
              <a:t>sau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36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Cửa</a:t>
            </a:r>
            <a:r>
              <a:rPr lang="en-US" dirty="0" smtClean="0"/>
              <a:t> </a:t>
            </a:r>
            <a:r>
              <a:rPr lang="en-US" dirty="0" err="1" smtClean="0"/>
              <a:t>sổ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STS4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ộp đè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46" y="914400"/>
            <a:ext cx="10949354" cy="589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11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Spring Starter Project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3078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1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2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0" y="946597"/>
            <a:ext cx="5029200" cy="5759003"/>
          </a:xfrm>
        </p:spPr>
        <p:txBody>
          <a:bodyPr/>
          <a:lstStyle/>
          <a:p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đầy</a:t>
            </a:r>
            <a:r>
              <a:rPr lang="en-US" dirty="0" smtClean="0"/>
              <a:t> </a:t>
            </a:r>
            <a:r>
              <a:rPr lang="en-US" dirty="0" err="1" smtClean="0"/>
              <a:t>đủ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endParaRPr lang="en-US" dirty="0" smtClean="0"/>
          </a:p>
          <a:p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chú</a:t>
            </a:r>
            <a:r>
              <a:rPr lang="en-US" dirty="0" smtClean="0"/>
              <a:t> ý:</a:t>
            </a:r>
          </a:p>
          <a:p>
            <a:pPr lvl="1"/>
            <a:r>
              <a:rPr lang="en-US" dirty="0" smtClean="0"/>
              <a:t>Type: Maven</a:t>
            </a:r>
          </a:p>
          <a:p>
            <a:pPr lvl="1"/>
            <a:r>
              <a:rPr lang="en-US" dirty="0" smtClean="0"/>
              <a:t>Packaging</a:t>
            </a:r>
          </a:p>
          <a:p>
            <a:pPr lvl="2"/>
            <a:r>
              <a:rPr lang="en-US" dirty="0" smtClean="0"/>
              <a:t>War: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trển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Web Server (Tomcat)</a:t>
            </a:r>
          </a:p>
          <a:p>
            <a:pPr lvl="2"/>
            <a:r>
              <a:rPr lang="en-US" dirty="0" smtClean="0"/>
              <a:t>Jar: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1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độc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(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web server)</a:t>
            </a:r>
          </a:p>
          <a:p>
            <a:pPr lvl="1"/>
            <a:r>
              <a:rPr lang="en-US" dirty="0" smtClean="0"/>
              <a:t>Language: Java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6117"/>
            <a:ext cx="5696405" cy="57880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71800" y="6248400"/>
            <a:ext cx="1066800" cy="3048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701802" y="3200400"/>
            <a:ext cx="1879598" cy="3048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73602" y="3200400"/>
            <a:ext cx="1320796" cy="5334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9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(dependencies)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0" y="946597"/>
            <a:ext cx="5105400" cy="575900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mình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endParaRPr lang="en-US" dirty="0" smtClean="0"/>
          </a:p>
          <a:p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endParaRPr lang="en-US" dirty="0" smtClean="0"/>
          </a:p>
          <a:p>
            <a:pPr lvl="1"/>
            <a:r>
              <a:rPr lang="en-US" dirty="0" smtClean="0"/>
              <a:t>Developer Tools</a:t>
            </a:r>
          </a:p>
          <a:p>
            <a:pPr lvl="2"/>
            <a:r>
              <a:rPr lang="en-US" dirty="0" smtClean="0"/>
              <a:t>Spring Boot </a:t>
            </a:r>
            <a:r>
              <a:rPr lang="en-US" dirty="0" err="1" smtClean="0"/>
              <a:t>DevTools</a:t>
            </a:r>
            <a:endParaRPr lang="en-US" dirty="0" smtClean="0"/>
          </a:p>
          <a:p>
            <a:pPr lvl="2"/>
            <a:r>
              <a:rPr lang="en-US" dirty="0" smtClean="0"/>
              <a:t>Lombok</a:t>
            </a:r>
          </a:p>
          <a:p>
            <a:pPr lvl="1"/>
            <a:r>
              <a:rPr lang="en-US" dirty="0" smtClean="0"/>
              <a:t>Template</a:t>
            </a:r>
          </a:p>
          <a:p>
            <a:pPr lvl="2"/>
            <a:r>
              <a:rPr lang="en-US" dirty="0" err="1" smtClean="0"/>
              <a:t>Thymeleaf</a:t>
            </a:r>
            <a:endParaRPr lang="en-US" dirty="0" smtClean="0"/>
          </a:p>
          <a:p>
            <a:pPr lvl="1"/>
            <a:r>
              <a:rPr lang="en-US" dirty="0" smtClean="0"/>
              <a:t>Web</a:t>
            </a:r>
          </a:p>
          <a:p>
            <a:pPr lvl="2"/>
            <a:r>
              <a:rPr lang="en-US" dirty="0" smtClean="0"/>
              <a:t>Spring Web</a:t>
            </a:r>
          </a:p>
          <a:p>
            <a:r>
              <a:rPr lang="en-US" i="1" dirty="0" err="1" smtClean="0">
                <a:solidFill>
                  <a:srgbClr val="FF0000"/>
                </a:solidFill>
              </a:rPr>
              <a:t>Chú</a:t>
            </a:r>
            <a:r>
              <a:rPr lang="en-US" i="1" dirty="0" smtClean="0">
                <a:solidFill>
                  <a:srgbClr val="FF0000"/>
                </a:solidFill>
              </a:rPr>
              <a:t> ý: </a:t>
            </a:r>
            <a:r>
              <a:rPr lang="en-US" i="1" dirty="0" err="1" smtClean="0">
                <a:solidFill>
                  <a:srgbClr val="FF0000"/>
                </a:solidFill>
              </a:rPr>
              <a:t>Thư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viện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phụ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thuộc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được</a:t>
            </a:r>
            <a:r>
              <a:rPr lang="en-US" i="1" dirty="0" smtClean="0">
                <a:solidFill>
                  <a:srgbClr val="FF0000"/>
                </a:solidFill>
              </a:rPr>
              <a:t> STS4 </a:t>
            </a:r>
            <a:r>
              <a:rPr lang="en-US" i="1" dirty="0" err="1" smtClean="0">
                <a:solidFill>
                  <a:srgbClr val="FF0000"/>
                </a:solidFill>
              </a:rPr>
              <a:t>tự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động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tải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từ</a:t>
            </a:r>
            <a:r>
              <a:rPr lang="en-US" i="1" dirty="0" smtClean="0">
                <a:solidFill>
                  <a:srgbClr val="FF0000"/>
                </a:solidFill>
              </a:rPr>
              <a:t> Internet </a:t>
            </a:r>
            <a:r>
              <a:rPr lang="en-US" i="1" dirty="0" err="1" smtClean="0">
                <a:solidFill>
                  <a:srgbClr val="FF0000"/>
                </a:solidFill>
              </a:rPr>
              <a:t>nên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bạn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cần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có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kết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nối</a:t>
            </a:r>
            <a:r>
              <a:rPr lang="en-US" i="1" dirty="0" smtClean="0">
                <a:solidFill>
                  <a:srgbClr val="FF0000"/>
                </a:solidFill>
              </a:rPr>
              <a:t> Internet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5755010" cy="57213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52800" y="3810000"/>
            <a:ext cx="1752600" cy="838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038600" y="6172200"/>
            <a:ext cx="1143000" cy="381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8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946597"/>
            <a:ext cx="7315200" cy="575900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/</a:t>
            </a:r>
            <a:r>
              <a:rPr lang="en-US" dirty="0" err="1" smtClean="0"/>
              <a:t>src</a:t>
            </a:r>
            <a:r>
              <a:rPr lang="en-US" dirty="0" smtClean="0"/>
              <a:t>/main/java</a:t>
            </a:r>
          </a:p>
          <a:p>
            <a:pPr lvl="1"/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java.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mình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Type: War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package </a:t>
            </a:r>
            <a:r>
              <a:rPr lang="en-US" dirty="0" err="1" smtClean="0"/>
              <a:t>web.shop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2 file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,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Type: Jar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1 file</a:t>
            </a:r>
          </a:p>
          <a:p>
            <a:r>
              <a:rPr lang="en-US" dirty="0" smtClean="0"/>
              <a:t>/</a:t>
            </a:r>
            <a:r>
              <a:rPr lang="en-US" dirty="0" err="1" smtClean="0"/>
              <a:t>src</a:t>
            </a:r>
            <a:r>
              <a:rPr lang="en-US" dirty="0" smtClean="0"/>
              <a:t>/main/resources</a:t>
            </a:r>
          </a:p>
          <a:p>
            <a:pPr lvl="1"/>
            <a:r>
              <a:rPr lang="en-US" dirty="0" smtClean="0"/>
              <a:t>Static: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tĩnh</a:t>
            </a:r>
            <a:r>
              <a:rPr lang="en-US" dirty="0" smtClean="0"/>
              <a:t> (</a:t>
            </a:r>
            <a:r>
              <a:rPr lang="en-US" dirty="0" err="1" smtClean="0"/>
              <a:t>js</a:t>
            </a:r>
            <a:r>
              <a:rPr lang="en-US" dirty="0" smtClean="0"/>
              <a:t>, </a:t>
            </a:r>
            <a:r>
              <a:rPr lang="en-US" dirty="0" err="1" smtClean="0"/>
              <a:t>css</a:t>
            </a:r>
            <a:r>
              <a:rPr lang="en-US" dirty="0" smtClean="0"/>
              <a:t>, </a:t>
            </a:r>
            <a:r>
              <a:rPr lang="en-US" dirty="0" err="1" smtClean="0"/>
              <a:t>hình</a:t>
            </a:r>
            <a:r>
              <a:rPr lang="en-US" dirty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, file </a:t>
            </a:r>
            <a:r>
              <a:rPr lang="en-US" dirty="0" err="1" smtClean="0"/>
              <a:t>tải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…)</a:t>
            </a:r>
          </a:p>
          <a:p>
            <a:pPr lvl="1"/>
            <a:r>
              <a:rPr lang="en-US" dirty="0" smtClean="0"/>
              <a:t>Templates: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file template (</a:t>
            </a:r>
            <a:r>
              <a:rPr lang="en-US" dirty="0" err="1" smtClean="0"/>
              <a:t>thymeleaf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Application.properties</a:t>
            </a:r>
            <a:endParaRPr lang="en-US" dirty="0" smtClean="0"/>
          </a:p>
          <a:p>
            <a:pPr lvl="2"/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(CSDL, SMTP, upload file,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…)</a:t>
            </a:r>
          </a:p>
          <a:p>
            <a:r>
              <a:rPr lang="en-US" dirty="0"/>
              <a:t>p</a:t>
            </a:r>
            <a:r>
              <a:rPr lang="en-US" dirty="0" smtClean="0"/>
              <a:t>om.xml</a:t>
            </a:r>
          </a:p>
          <a:p>
            <a:pPr lvl="1"/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(dependencies)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Maven Dependencies</a:t>
            </a:r>
          </a:p>
          <a:p>
            <a:pPr lvl="1"/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61837"/>
            <a:ext cx="3657600" cy="558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8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Pom.xml –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&lt;dependency&gt;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8188" y="946597"/>
            <a:ext cx="3704211" cy="5759003"/>
          </a:xfrm>
        </p:spPr>
        <p:txBody>
          <a:bodyPr/>
          <a:lstStyle/>
          <a:p>
            <a:r>
              <a:rPr lang="en-US" dirty="0" smtClean="0"/>
              <a:t>&lt;dependency&gt;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78794"/>
            <a:ext cx="7268589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Bổ</a:t>
            </a:r>
            <a:r>
              <a:rPr lang="en-US" dirty="0" smtClean="0"/>
              <a:t> sung dependency </a:t>
            </a:r>
            <a:r>
              <a:rPr lang="en-US" dirty="0" err="1" smtClean="0"/>
              <a:t>vào</a:t>
            </a:r>
            <a:r>
              <a:rPr lang="en-US" dirty="0" smtClean="0"/>
              <a:t> pom.xml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Vào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https://start.spring.io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kiếm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chép</a:t>
            </a:r>
            <a:r>
              <a:rPr lang="en-US" dirty="0" smtClean="0"/>
              <a:t> dependency </a:t>
            </a:r>
            <a:r>
              <a:rPr lang="en-US" dirty="0" err="1" smtClean="0"/>
              <a:t>vào</a:t>
            </a:r>
            <a:r>
              <a:rPr lang="en-US" dirty="0" smtClean="0"/>
              <a:t> pom.xml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322" y="2139696"/>
            <a:ext cx="7811356" cy="45303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71800" y="4876800"/>
            <a:ext cx="914400" cy="3048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43400" y="4419600"/>
            <a:ext cx="914400" cy="3048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48480" y="5410200"/>
            <a:ext cx="914400" cy="3048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2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Bổ</a:t>
            </a:r>
            <a:r>
              <a:rPr lang="en-US" dirty="0" smtClean="0"/>
              <a:t> sung dependency </a:t>
            </a:r>
            <a:r>
              <a:rPr lang="en-US" dirty="0" err="1" smtClean="0"/>
              <a:t>vào</a:t>
            </a:r>
            <a:r>
              <a:rPr lang="en-US" dirty="0" smtClean="0"/>
              <a:t> pom.xml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Nhấp</a:t>
            </a:r>
            <a:r>
              <a:rPr lang="en-US" dirty="0" smtClean="0"/>
              <a:t> </a:t>
            </a:r>
            <a:r>
              <a:rPr lang="en-US" dirty="0" err="1" smtClean="0"/>
              <a:t>chuốt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nút</a:t>
            </a:r>
            <a:r>
              <a:rPr lang="en-US" dirty="0" smtClean="0"/>
              <a:t> [Add Dependencies]</a:t>
            </a:r>
          </a:p>
          <a:p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ô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kiếm</a:t>
            </a:r>
            <a:endParaRPr lang="en-US" dirty="0" smtClean="0"/>
          </a:p>
          <a:p>
            <a:r>
              <a:rPr lang="en-US" dirty="0" err="1" smtClean="0"/>
              <a:t>Nhấp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hộp</a:t>
            </a:r>
            <a:r>
              <a:rPr lang="en-US" dirty="0" smtClean="0"/>
              <a:t> </a:t>
            </a:r>
            <a:r>
              <a:rPr lang="en-US" dirty="0" err="1" smtClean="0"/>
              <a:t>màu</a:t>
            </a:r>
            <a:r>
              <a:rPr lang="en-US" dirty="0" smtClean="0"/>
              <a:t> </a:t>
            </a:r>
            <a:r>
              <a:rPr lang="en-US" dirty="0" err="1" smtClean="0"/>
              <a:t>xanh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endParaRPr lang="en-US" dirty="0" smtClean="0"/>
          </a:p>
          <a:p>
            <a:pPr lvl="1"/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endParaRPr lang="en-US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3048000"/>
            <a:ext cx="9945488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1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Bổ</a:t>
            </a:r>
            <a:r>
              <a:rPr lang="en-US" dirty="0" smtClean="0"/>
              <a:t> sung dependency </a:t>
            </a:r>
            <a:r>
              <a:rPr lang="en-US" dirty="0" err="1" smtClean="0"/>
              <a:t>vào</a:t>
            </a:r>
            <a:r>
              <a:rPr lang="en-US" dirty="0" smtClean="0"/>
              <a:t> pom.xml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Nhấp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nút</a:t>
            </a:r>
            <a:r>
              <a:rPr lang="en-US" dirty="0" smtClean="0"/>
              <a:t> [Explore]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chép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&lt;dependency&gt; </a:t>
            </a:r>
            <a:r>
              <a:rPr lang="en-US" dirty="0" err="1" smtClean="0"/>
              <a:t>vào</a:t>
            </a:r>
            <a:r>
              <a:rPr lang="en-US" dirty="0" smtClean="0"/>
              <a:t> pom.xml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487977"/>
            <a:ext cx="9259156" cy="53700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4572000"/>
            <a:ext cx="2895600" cy="1371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38800" y="6180180"/>
            <a:ext cx="2438400" cy="52542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1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dependency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10972800" cy="585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0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Xây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dựng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Hello 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World Page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811036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 World Page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638800" y="946597"/>
            <a:ext cx="5943600" cy="5759003"/>
          </a:xfrm>
        </p:spPr>
        <p:txBody>
          <a:bodyPr/>
          <a:lstStyle/>
          <a:p>
            <a:r>
              <a:rPr lang="en-US" dirty="0" smtClean="0"/>
              <a:t>HelloController.java</a:t>
            </a:r>
          </a:p>
          <a:p>
            <a:pPr lvl="1"/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request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endParaRPr lang="en-US" dirty="0" smtClean="0"/>
          </a:p>
          <a:p>
            <a:r>
              <a:rPr lang="en-US" dirty="0" smtClean="0"/>
              <a:t>/demo/hello.html</a:t>
            </a:r>
          </a:p>
          <a:p>
            <a:pPr lvl="1"/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response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endParaRPr lang="en-US" dirty="0" smtClean="0"/>
          </a:p>
          <a:p>
            <a:r>
              <a:rPr lang="en-US" dirty="0" err="1" smtClean="0"/>
              <a:t>Chú</a:t>
            </a:r>
            <a:r>
              <a:rPr lang="en-US" dirty="0" smtClean="0"/>
              <a:t> ý: Theo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endParaRPr lang="en-US" dirty="0" smtClean="0"/>
          </a:p>
          <a:p>
            <a:pPr lvl="1"/>
            <a:r>
              <a:rPr lang="en-US" dirty="0" smtClean="0"/>
              <a:t>Package </a:t>
            </a:r>
            <a:r>
              <a:rPr lang="en-US" dirty="0" err="1" smtClean="0"/>
              <a:t>của</a:t>
            </a:r>
            <a:r>
              <a:rPr lang="en-US" dirty="0" smtClean="0"/>
              <a:t> controller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package </a:t>
            </a:r>
            <a:r>
              <a:rPr lang="en-US" dirty="0" err="1" smtClean="0"/>
              <a:t>chứa</a:t>
            </a:r>
            <a:r>
              <a:rPr lang="en-US" dirty="0" smtClean="0"/>
              <a:t> file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(</a:t>
            </a:r>
            <a:r>
              <a:rPr lang="en-US" dirty="0" err="1" smtClean="0"/>
              <a:t>web.shop</a:t>
            </a:r>
            <a:r>
              <a:rPr lang="en-US" dirty="0" smtClean="0"/>
              <a:t>).</a:t>
            </a:r>
          </a:p>
          <a:p>
            <a:pPr lvl="1"/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template (file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thymeleaf</a:t>
            </a:r>
            <a:r>
              <a:rPr lang="en-US" dirty="0" smtClean="0"/>
              <a:t>)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templates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4827628" cy="522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0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Hello World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465674"/>
            <a:ext cx="10972800" cy="123992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2" y="946597"/>
            <a:ext cx="11793596" cy="43344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2887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Chạy</a:t>
            </a:r>
            <a:r>
              <a:rPr lang="en-US" dirty="0" smtClean="0"/>
              <a:t> Hello World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Bước</a:t>
            </a:r>
            <a:r>
              <a:rPr lang="en-US" dirty="0" smtClean="0"/>
              <a:t> 1: Start Web Server</a:t>
            </a:r>
          </a:p>
          <a:p>
            <a:pPr lvl="1"/>
            <a:r>
              <a:rPr lang="en-US" dirty="0" err="1" smtClean="0"/>
              <a:t>Nhấp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chuột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&gt;&gt; Run As &gt;&gt; Spring Boot App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Bước</a:t>
            </a:r>
            <a:r>
              <a:rPr lang="en-US" dirty="0" smtClean="0"/>
              <a:t> 2: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(request)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0" y="3962400"/>
            <a:ext cx="6430272" cy="26292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971450"/>
            <a:ext cx="10439400" cy="143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8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Page 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10972800" cy="572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3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1.2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Spring Boot </a:t>
            </a:r>
            <a:r>
              <a:rPr lang="en-US" dirty="0" smtClean="0"/>
              <a:t>MVC Introduction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7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HelloController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@Controller</a:t>
            </a:r>
          </a:p>
          <a:p>
            <a:pPr lvl="1"/>
            <a:r>
              <a:rPr lang="en-US" dirty="0" err="1" smtClean="0"/>
              <a:t>Chú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biết</a:t>
            </a:r>
            <a:r>
              <a:rPr lang="en-US" dirty="0" smtClean="0"/>
              <a:t> class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request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endParaRPr lang="en-US" dirty="0" smtClean="0"/>
          </a:p>
          <a:p>
            <a:r>
              <a:rPr lang="en-US" dirty="0" smtClean="0"/>
              <a:t>@</a:t>
            </a:r>
            <a:r>
              <a:rPr lang="en-US" dirty="0" err="1" smtClean="0"/>
              <a:t>RequestMapping</a:t>
            </a:r>
            <a:r>
              <a:rPr lang="en-US" dirty="0" smtClean="0"/>
              <a:t>(“URL”) -&gt; </a:t>
            </a:r>
            <a:r>
              <a:rPr lang="en-US" dirty="0" err="1" smtClean="0"/>
              <a:t>sayHello</a:t>
            </a:r>
            <a:r>
              <a:rPr lang="en-US" dirty="0" smtClean="0"/>
              <a:t>(){}</a:t>
            </a:r>
          </a:p>
          <a:p>
            <a:pPr lvl="1"/>
            <a:r>
              <a:rPr lang="en-US" dirty="0" err="1" smtClean="0"/>
              <a:t>Ánh</a:t>
            </a:r>
            <a:r>
              <a:rPr lang="en-US" dirty="0" smtClean="0"/>
              <a:t> </a:t>
            </a:r>
            <a:r>
              <a:rPr lang="en-US" dirty="0" err="1" smtClean="0"/>
              <a:t>xạ</a:t>
            </a:r>
            <a:r>
              <a:rPr lang="en-US" dirty="0" smtClean="0"/>
              <a:t> URL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,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request </a:t>
            </a:r>
            <a:r>
              <a:rPr lang="en-US" dirty="0" err="1" smtClean="0"/>
              <a:t>chứa</a:t>
            </a:r>
            <a:r>
              <a:rPr lang="en-US" dirty="0" smtClean="0"/>
              <a:t> URL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request </a:t>
            </a:r>
            <a:r>
              <a:rPr lang="en-US" dirty="0" err="1" smtClean="0"/>
              <a:t>đó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Lệnh</a:t>
            </a:r>
            <a:r>
              <a:rPr lang="en-US" dirty="0" smtClean="0"/>
              <a:t> return “/demo/hello</a:t>
            </a:r>
            <a:r>
              <a:rPr lang="en-US" strike="sngStrike" dirty="0" smtClean="0"/>
              <a:t>.html</a:t>
            </a:r>
            <a:r>
              <a:rPr lang="en-US" dirty="0" smtClean="0"/>
              <a:t>”</a:t>
            </a:r>
          </a:p>
          <a:p>
            <a:pPr lvl="1"/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sang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hello.html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templates/demo. </a:t>
            </a:r>
          </a:p>
          <a:p>
            <a:pPr lvl="1"/>
            <a:r>
              <a:rPr lang="en-US" dirty="0" smtClean="0"/>
              <a:t>Theo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bỏ</a:t>
            </a:r>
            <a:r>
              <a:rPr lang="en-US" dirty="0" smtClean="0"/>
              <a:t> </a:t>
            </a:r>
            <a:r>
              <a:rPr lang="en-US" strike="sngStrike" dirty="0" smtClean="0"/>
              <a:t>.html </a:t>
            </a:r>
            <a:r>
              <a:rPr lang="en-US" dirty="0" err="1" smtClean="0"/>
              <a:t>thành</a:t>
            </a:r>
            <a:r>
              <a:rPr lang="en-US" dirty="0" smtClean="0"/>
              <a:t> return “demo/hello”</a:t>
            </a:r>
          </a:p>
          <a:p>
            <a:r>
              <a:rPr lang="en-US" dirty="0" smtClean="0"/>
              <a:t>Model</a:t>
            </a:r>
          </a:p>
          <a:p>
            <a:pPr lvl="1"/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Controller chia </a:t>
            </a:r>
            <a:r>
              <a:rPr lang="en-US" dirty="0" err="1" smtClean="0"/>
              <a:t>sẻ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View (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Model.addAttribute</a:t>
            </a:r>
            <a:r>
              <a:rPr lang="en-US" dirty="0" smtClean="0"/>
              <a:t>(“subject”, “Spring Boot MVC”)</a:t>
            </a:r>
          </a:p>
          <a:p>
            <a:pPr lvl="1"/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45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hello.html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&lt;html </a:t>
            </a:r>
            <a:r>
              <a:rPr lang="en-US" dirty="0" err="1" smtClean="0"/>
              <a:t>xmlns: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dirty="0" smtClean="0"/>
              <a:t>=“http</a:t>
            </a:r>
            <a:r>
              <a:rPr lang="en-US" dirty="0"/>
              <a:t>://</a:t>
            </a:r>
            <a:r>
              <a:rPr lang="en-US" dirty="0" smtClean="0"/>
              <a:t>www.thymeleaf.org”&gt;</a:t>
            </a:r>
          </a:p>
          <a:p>
            <a:pPr lvl="1"/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namespace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Thymeleaf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th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, </a:t>
            </a:r>
            <a:r>
              <a:rPr lang="en-US" dirty="0" err="1" smtClean="0"/>
              <a:t>nghĩ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thymeleaf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r>
              <a:rPr lang="en-US" dirty="0"/>
              <a:t>&lt;h1 </a:t>
            </a:r>
            <a:r>
              <a:rPr lang="en-US" b="1" dirty="0" err="1">
                <a:solidFill>
                  <a:srgbClr val="FF0000"/>
                </a:solidFill>
              </a:rPr>
              <a:t>th</a:t>
            </a:r>
            <a:r>
              <a:rPr lang="en-US" dirty="0" err="1"/>
              <a:t>:</a:t>
            </a:r>
            <a:r>
              <a:rPr lang="en-US" b="1" dirty="0" err="1">
                <a:solidFill>
                  <a:srgbClr val="0000FF"/>
                </a:solidFill>
              </a:rPr>
              <a:t>text</a:t>
            </a:r>
            <a:r>
              <a:rPr lang="en-US" dirty="0"/>
              <a:t>="</a:t>
            </a:r>
            <a:r>
              <a:rPr lang="en-US" b="1" dirty="0">
                <a:solidFill>
                  <a:srgbClr val="FF0000"/>
                </a:solidFill>
              </a:rPr>
              <a:t>${</a:t>
            </a:r>
            <a:r>
              <a:rPr lang="en-US" b="1" i="1" dirty="0">
                <a:solidFill>
                  <a:srgbClr val="00B050"/>
                </a:solidFill>
              </a:rPr>
              <a:t>subject</a:t>
            </a:r>
            <a:r>
              <a:rPr lang="en-US" b="1" dirty="0">
                <a:solidFill>
                  <a:srgbClr val="FF0000"/>
                </a:solidFill>
              </a:rPr>
              <a:t>}</a:t>
            </a:r>
            <a:r>
              <a:rPr lang="en-US" dirty="0"/>
              <a:t>"&gt;Page Subject&lt;/h1</a:t>
            </a:r>
            <a:r>
              <a:rPr lang="en-US" dirty="0" smtClean="0"/>
              <a:t>&gt;</a:t>
            </a:r>
          </a:p>
          <a:p>
            <a:pPr lvl="1"/>
            <a:r>
              <a:rPr lang="en-US" dirty="0" err="1" smtClean="0"/>
              <a:t>th:text</a:t>
            </a:r>
            <a:r>
              <a:rPr lang="en-US" dirty="0" smtClean="0"/>
              <a:t>: </a:t>
            </a:r>
            <a:r>
              <a:rPr lang="en-US" dirty="0" err="1"/>
              <a:t>c</a:t>
            </a:r>
            <a:r>
              <a:rPr lang="en-US" dirty="0" err="1" smtClean="0"/>
              <a:t>hỉ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(directive)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endParaRPr lang="en-US" dirty="0" smtClean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${</a:t>
            </a:r>
            <a:r>
              <a:rPr lang="en-US" b="1" i="1" dirty="0">
                <a:solidFill>
                  <a:srgbClr val="00B050"/>
                </a:solidFill>
              </a:rPr>
              <a:t>subject</a:t>
            </a:r>
            <a:r>
              <a:rPr lang="en-US" b="1" dirty="0">
                <a:solidFill>
                  <a:srgbClr val="FF0000"/>
                </a:solidFill>
              </a:rPr>
              <a:t>}</a:t>
            </a:r>
            <a:endParaRPr lang="en-US" dirty="0" smtClean="0"/>
          </a:p>
          <a:p>
            <a:pPr lvl="2"/>
            <a:r>
              <a:rPr lang="en-US" dirty="0" smtClean="0"/>
              <a:t>${}: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(expression) </a:t>
            </a:r>
            <a:r>
              <a:rPr lang="en-US" dirty="0" err="1" smtClean="0"/>
              <a:t>này</a:t>
            </a:r>
            <a:r>
              <a:rPr lang="en-US" dirty="0" smtClean="0"/>
              <a:t> dung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Model </a:t>
            </a:r>
            <a:r>
              <a:rPr lang="en-US" dirty="0" err="1" smtClean="0"/>
              <a:t>được</a:t>
            </a:r>
            <a:r>
              <a:rPr lang="en-US" dirty="0" smtClean="0"/>
              <a:t> Controller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(title, subject)</a:t>
            </a:r>
          </a:p>
          <a:p>
            <a:pPr lvl="2"/>
            <a:r>
              <a:rPr lang="en-US" dirty="0"/>
              <a:t>s</a:t>
            </a:r>
            <a:r>
              <a:rPr lang="en-US" dirty="0" smtClean="0"/>
              <a:t>ubject: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29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Hello World Page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36" y="914400"/>
            <a:ext cx="11458597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75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Diagram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5826"/>
            <a:ext cx="11258274" cy="556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9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nghệ</a:t>
            </a:r>
            <a:r>
              <a:rPr lang="en-US" dirty="0" smtClean="0"/>
              <a:t> Spring Boot MVC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802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6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Request &amp; Response</a:t>
            </a:r>
          </a:p>
        </p:txBody>
      </p:sp>
      <p:pic>
        <p:nvPicPr>
          <p:cNvPr id="1026" name="Picture 2" descr="Follow Spring MVC architecture to turn static HTML into a Thymeleaf  template - Create Web Applications Efficiently With the Spring Boot MVC  Framework - OpenClassroo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909630"/>
            <a:ext cx="7391400" cy="593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72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Http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Spring Boot MVC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nền</a:t>
            </a:r>
            <a:r>
              <a:rPr lang="en-US" dirty="0" smtClean="0"/>
              <a:t> </a:t>
            </a:r>
            <a:r>
              <a:rPr lang="en-US" dirty="0" err="1" smtClean="0"/>
              <a:t>tảng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Servlet.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Servlet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ta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xuyền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/>
              <a:t>:</a:t>
            </a:r>
            <a:endParaRPr lang="en-US" dirty="0" smtClean="0"/>
          </a:p>
          <a:p>
            <a:pPr lvl="1"/>
            <a:r>
              <a:rPr lang="en-US" dirty="0" err="1" smtClean="0"/>
              <a:t>HttpServletRequest</a:t>
            </a:r>
            <a:endParaRPr lang="en-US" dirty="0" smtClean="0"/>
          </a:p>
          <a:p>
            <a:pPr lvl="1"/>
            <a:r>
              <a:rPr lang="en-US" dirty="0" err="1" smtClean="0"/>
              <a:t>HttpServletResponse</a:t>
            </a:r>
            <a:endParaRPr lang="en-US" dirty="0" smtClean="0"/>
          </a:p>
          <a:p>
            <a:pPr lvl="1"/>
            <a:r>
              <a:rPr lang="en-US" dirty="0" err="1" smtClean="0"/>
              <a:t>HttpSession</a:t>
            </a:r>
            <a:endParaRPr lang="en-US" dirty="0" smtClean="0"/>
          </a:p>
          <a:p>
            <a:pPr lvl="1"/>
            <a:r>
              <a:rPr lang="en-US" dirty="0" err="1" smtClean="0"/>
              <a:t>ServletContext</a:t>
            </a:r>
            <a:endParaRPr lang="en-US" dirty="0" smtClean="0"/>
          </a:p>
          <a:p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ở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Spring Boot MVC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“</a:t>
            </a:r>
            <a:r>
              <a:rPr lang="en-US" dirty="0" err="1" smtClean="0"/>
              <a:t>tiêm</a:t>
            </a:r>
            <a:r>
              <a:rPr lang="en-US" dirty="0" smtClean="0"/>
              <a:t>” (inject)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field </a:t>
            </a:r>
            <a:r>
              <a:rPr lang="en-US" dirty="0" err="1" smtClean="0"/>
              <a:t>của</a:t>
            </a:r>
            <a:r>
              <a:rPr lang="en-US" dirty="0" smtClean="0"/>
              <a:t> class </a:t>
            </a:r>
            <a:r>
              <a:rPr lang="en-US" dirty="0" err="1" smtClean="0"/>
              <a:t>hoặc</a:t>
            </a:r>
            <a:r>
              <a:rPr lang="en-US" dirty="0" smtClean="0"/>
              <a:t> argument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@</a:t>
            </a:r>
            <a:r>
              <a:rPr lang="en-US" dirty="0" err="1" smtClean="0"/>
              <a:t>Autowire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tiêm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field</a:t>
            </a:r>
          </a:p>
          <a:p>
            <a:pPr lvl="1"/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(mapping method)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tiêm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9618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</a:t>
            </a:r>
            <a:r>
              <a:rPr lang="en-US" dirty="0" err="1" smtClean="0"/>
              <a:t>HttpComponents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603521"/>
            <a:ext cx="10972800" cy="1102079"/>
          </a:xfrm>
        </p:spPr>
        <p:txBody>
          <a:bodyPr/>
          <a:lstStyle/>
          <a:p>
            <a:r>
              <a:rPr lang="en-US" dirty="0" err="1" smtClean="0"/>
              <a:t>Chú</a:t>
            </a:r>
            <a:r>
              <a:rPr lang="en-US" dirty="0" smtClean="0"/>
              <a:t> ý: </a:t>
            </a:r>
            <a:r>
              <a:rPr lang="en-US" dirty="0" err="1" smtClean="0"/>
              <a:t>ServletContext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tiêm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field,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tiêm</a:t>
            </a:r>
            <a:r>
              <a:rPr lang="en-US" dirty="0" smtClean="0"/>
              <a:t> qua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75452"/>
            <a:ext cx="5583456" cy="4414617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122" y="975452"/>
            <a:ext cx="6770278" cy="3083938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75407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44421"/>
            <a:ext cx="7585826" cy="60135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Spring, Spring MVC và Spring Boot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Cài đặt môi trường phát triển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 và khảo sát dự án Spring Boot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lý thư viện phụ thuộc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Hello World</a:t>
            </a:r>
          </a:p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II: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hình xủa lý request/response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Làm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việc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với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http Components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Spring Boot MVC</a:t>
            </a: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HttpServlet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HttpServlet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ServletContext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13093</TotalTime>
  <Words>1391</Words>
  <Application>Microsoft Office PowerPoint</Application>
  <PresentationFormat>Widescreen</PresentationFormat>
  <Paragraphs>172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Wingdings</vt:lpstr>
      <vt:lpstr>Custom Design</vt:lpstr>
      <vt:lpstr>Spring Boot MVC Introduction</vt:lpstr>
      <vt:lpstr>Agenda</vt:lpstr>
      <vt:lpstr>PowerPoint Presentation</vt:lpstr>
      <vt:lpstr>Spring Framework</vt:lpstr>
      <vt:lpstr>Spring Boot</vt:lpstr>
      <vt:lpstr>Spring Boot</vt:lpstr>
      <vt:lpstr>PowerPoint Presentation</vt:lpstr>
      <vt:lpstr>Development Tool</vt:lpstr>
      <vt:lpstr>Cài đặt STS4 (Spring Tool Suite 4)</vt:lpstr>
      <vt:lpstr>Cửa sổ làm việc của STS4</vt:lpstr>
      <vt:lpstr>PowerPoint Presentation</vt:lpstr>
      <vt:lpstr>PowerPoint Presentation</vt:lpstr>
      <vt:lpstr>Thông tin dự án</vt:lpstr>
      <vt:lpstr>Thư viện phụ thuộc (dependencies)</vt:lpstr>
      <vt:lpstr>Cấu trúc dự án</vt:lpstr>
      <vt:lpstr>Pom.xml – Khai báo &lt;dependency&gt;</vt:lpstr>
      <vt:lpstr>Bổ sung dependency vào pom.xml</vt:lpstr>
      <vt:lpstr>Bổ sung dependency vào pom.xml</vt:lpstr>
      <vt:lpstr>Bổ sung dependency vào pom.xml</vt:lpstr>
      <vt:lpstr>Quản lý dependency</vt:lpstr>
      <vt:lpstr>PowerPoint Presentation</vt:lpstr>
      <vt:lpstr>Hello World Page</vt:lpstr>
      <vt:lpstr>Tổ chức mã nguồn Hello World Page</vt:lpstr>
      <vt:lpstr>Chạy Hello World Page</vt:lpstr>
      <vt:lpstr>View Page Source</vt:lpstr>
      <vt:lpstr>Spring Boot MVC Introduction</vt:lpstr>
      <vt:lpstr>Tìm hiểu HelloController</vt:lpstr>
      <vt:lpstr>Tìm hiểu về hello.html</vt:lpstr>
      <vt:lpstr>Mô hình hoạt động Hello World Page</vt:lpstr>
      <vt:lpstr>Sequence Diagram</vt:lpstr>
      <vt:lpstr>Mô hình công nghệ Spring Boot MVC</vt:lpstr>
      <vt:lpstr>Quy trình xử lý Request &amp; Response</vt:lpstr>
      <vt:lpstr>Working with Http Components</vt:lpstr>
      <vt:lpstr>Working with HttpComponents</vt:lpstr>
      <vt:lpstr>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DELL</cp:lastModifiedBy>
  <cp:revision>1964</cp:revision>
  <dcterms:created xsi:type="dcterms:W3CDTF">2013-04-23T08:05:33Z</dcterms:created>
  <dcterms:modified xsi:type="dcterms:W3CDTF">2024-12-19T12:46:24Z</dcterms:modified>
</cp:coreProperties>
</file>
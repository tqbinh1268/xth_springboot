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34"/>
  </p:notesMasterIdLst>
  <p:sldIdLst>
    <p:sldId id="709" r:id="rId2"/>
    <p:sldId id="845" r:id="rId3"/>
    <p:sldId id="819" r:id="rId4"/>
    <p:sldId id="799" r:id="rId5"/>
    <p:sldId id="846" r:id="rId6"/>
    <p:sldId id="820" r:id="rId7"/>
    <p:sldId id="800" r:id="rId8"/>
    <p:sldId id="847" r:id="rId9"/>
    <p:sldId id="850" r:id="rId10"/>
    <p:sldId id="849" r:id="rId11"/>
    <p:sldId id="848" r:id="rId12"/>
    <p:sldId id="851" r:id="rId13"/>
    <p:sldId id="852" r:id="rId14"/>
    <p:sldId id="826" r:id="rId15"/>
    <p:sldId id="864" r:id="rId16"/>
    <p:sldId id="869" r:id="rId17"/>
    <p:sldId id="853" r:id="rId18"/>
    <p:sldId id="854" r:id="rId19"/>
    <p:sldId id="856" r:id="rId20"/>
    <p:sldId id="857" r:id="rId21"/>
    <p:sldId id="858" r:id="rId22"/>
    <p:sldId id="860" r:id="rId23"/>
    <p:sldId id="861" r:id="rId24"/>
    <p:sldId id="844" r:id="rId25"/>
    <p:sldId id="862" r:id="rId26"/>
    <p:sldId id="865" r:id="rId27"/>
    <p:sldId id="867" r:id="rId28"/>
    <p:sldId id="868" r:id="rId29"/>
    <p:sldId id="866" r:id="rId30"/>
    <p:sldId id="863" r:id="rId31"/>
    <p:sldId id="707" r:id="rId32"/>
    <p:sldId id="759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9BBB59"/>
    <a:srgbClr val="FF3300"/>
    <a:srgbClr val="F9F9F9"/>
    <a:srgbClr val="FF5A33"/>
    <a:srgbClr val="5C0000"/>
    <a:srgbClr val="FF9900"/>
    <a:srgbClr val="FFD1D1"/>
    <a:srgbClr val="FFB9B9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364" autoAdjust="0"/>
  </p:normalViewPr>
  <p:slideViewPr>
    <p:cSldViewPr>
      <p:cViewPr varScale="1">
        <p:scale>
          <a:sx n="88" d="100"/>
          <a:sy n="88" d="100"/>
        </p:scale>
        <p:origin x="696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522B80A-419E-4A25-A0FF-711AF4C34A54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6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EE1EE2F0-59E4-4602-AA67-BA6EBD73A1CB}"/>
              </a:ext>
            </a:extLst>
          </p:cNvPr>
          <p:cNvGrpSpPr/>
          <p:nvPr userDrawn="1"/>
        </p:nvGrpSpPr>
        <p:grpSpPr>
          <a:xfrm>
            <a:off x="675849" y="150019"/>
            <a:ext cx="4775200" cy="1828800"/>
            <a:chOff x="457200" y="457200"/>
            <a:chExt cx="3581400" cy="1371600"/>
          </a:xfrm>
        </p:grpSpPr>
        <p:sp>
          <p:nvSpPr>
            <p:cNvPr id="11" name="Rectangle 10">
              <a:extLst>
                <a:ext uri="{FF2B5EF4-FFF2-40B4-BE49-F238E27FC236}">
                  <a16:creationId xmlns="" xmlns:a16="http://schemas.microsoft.com/office/drawing/2014/main" id="{7EA993B7-8979-47E1-88DF-A0445F6965F8}"/>
                </a:ext>
              </a:extLst>
            </p:cNvPr>
            <p:cNvSpPr/>
            <p:nvPr userDrawn="1"/>
          </p:nvSpPr>
          <p:spPr>
            <a:xfrm>
              <a:off x="457200" y="609600"/>
              <a:ext cx="3581400" cy="1219200"/>
            </a:xfrm>
            <a:prstGeom prst="rect">
              <a:avLst/>
            </a:prstGeom>
            <a:solidFill>
              <a:srgbClr val="F26522"/>
            </a:solidFill>
            <a:ln>
              <a:solidFill>
                <a:srgbClr val="F2652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0FB16836-C66B-4FAD-9EE8-C898ADFFCA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000" y="457200"/>
              <a:ext cx="2787037" cy="121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5759003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61BFD7-1BFB-4165-B6C8-93BD150BB7E4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5.1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Spring Beans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053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9162"/>
            <a:ext cx="8991600" cy="57102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I: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thiệu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Spring Beans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Sử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dụng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Spring Beans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sẵn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hình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Spring 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Bean</a:t>
            </a:r>
          </a:p>
          <a:p>
            <a:pPr>
              <a:buFont typeface="Wingdings" panose="05000000000000000000" pitchFamily="2" charset="2"/>
              <a:buChar char="&amp;"/>
            </a:pPr>
            <a:r>
              <a:rPr lang="en-US" cap="small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</a:t>
            </a:r>
            <a:endParaRPr lang="en-US" cap="small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Tìm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hiểu Bean Scopes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Tìm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hiểu về DI and IoC</a:t>
            </a:r>
          </a:p>
          <a:p>
            <a:pPr lvl="1">
              <a:buFont typeface="Wingdings" panose="05000000000000000000" pitchFamily="2" charset="2"/>
              <a:buChar char="&amp;"/>
            </a:pPr>
            <a:r>
              <a:rPr lang="vi-VN" cap="small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 </a:t>
            </a: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 các bean tiện ích thường dùng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2" descr="D:\Pictures\PNG\present.png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9448800" y="1095849"/>
            <a:ext cx="2313580" cy="535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677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Spring Bean Introduction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482664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ounded Rectangle 31"/>
          <p:cNvSpPr/>
          <p:nvPr/>
        </p:nvSpPr>
        <p:spPr>
          <a:xfrm>
            <a:off x="3276600" y="990600"/>
            <a:ext cx="3352800" cy="2971800"/>
          </a:xfrm>
          <a:prstGeom prst="roundRect">
            <a:avLst>
              <a:gd name="adj" fmla="val 3576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429000" y="1143000"/>
            <a:ext cx="3047998" cy="2362200"/>
          </a:xfrm>
          <a:prstGeom prst="roundRect">
            <a:avLst>
              <a:gd name="adj" fmla="val 3576"/>
            </a:avLst>
          </a:prstGeom>
          <a:solidFill>
            <a:schemeClr val="bg1">
              <a:lumMod val="95000"/>
            </a:schemeClr>
          </a:solidFill>
          <a:ln w="317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Spring Bean Introduction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609600" y="4177284"/>
            <a:ext cx="10972800" cy="2528316"/>
          </a:xfrm>
        </p:spPr>
        <p:txBody>
          <a:bodyPr/>
          <a:lstStyle/>
          <a:p>
            <a:r>
              <a:rPr lang="en-US" dirty="0"/>
              <a:t>Spring Bean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smtClean="0"/>
              <a:t>bean (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) </a:t>
            </a:r>
            <a:r>
              <a:rPr lang="en-US" dirty="0" err="1"/>
              <a:t>được</a:t>
            </a:r>
            <a:r>
              <a:rPr lang="en-US" dirty="0"/>
              <a:t> Spring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. </a:t>
            </a:r>
            <a:r>
              <a:rPr lang="en-US" dirty="0" err="1" smtClean="0"/>
              <a:t>Các</a:t>
            </a:r>
            <a:r>
              <a:rPr lang="en-US" dirty="0" smtClean="0"/>
              <a:t> bean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gồm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bean do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sẵn</a:t>
            </a:r>
            <a:r>
              <a:rPr lang="en-US" dirty="0" smtClean="0"/>
              <a:t> (built-in) </a:t>
            </a:r>
            <a:r>
              <a:rPr lang="en-US" dirty="0" err="1" smtClean="0"/>
              <a:t>hoặc</a:t>
            </a:r>
            <a:r>
              <a:rPr lang="en-US" dirty="0" smtClean="0"/>
              <a:t> </a:t>
            </a:r>
            <a:r>
              <a:rPr lang="en-US" dirty="0"/>
              <a:t>do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smtClean="0"/>
              <a:t>dung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/>
              <a:t>nghĩa</a:t>
            </a:r>
            <a:r>
              <a:rPr lang="en-US" dirty="0"/>
              <a:t> (user-defined</a:t>
            </a:r>
            <a:r>
              <a:rPr lang="en-US" dirty="0" smtClean="0"/>
              <a:t>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bean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@</a:t>
            </a:r>
            <a:r>
              <a:rPr lang="en-US" dirty="0" err="1" smtClean="0"/>
              <a:t>Autowire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 smtClean="0"/>
              <a:t>kiếm</a:t>
            </a:r>
            <a:r>
              <a:rPr lang="en-US" dirty="0" smtClean="0"/>
              <a:t> bean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gán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endParaRPr lang="en-US" dirty="0"/>
          </a:p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3657600" y="1371600"/>
            <a:ext cx="1219200" cy="5334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Bean 1</a:t>
            </a:r>
          </a:p>
        </p:txBody>
      </p:sp>
      <p:sp>
        <p:nvSpPr>
          <p:cNvPr id="5" name="Oval 4"/>
          <p:cNvSpPr/>
          <p:nvPr/>
        </p:nvSpPr>
        <p:spPr>
          <a:xfrm>
            <a:off x="3659777" y="2057400"/>
            <a:ext cx="1219200" cy="5334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Bean 2</a:t>
            </a:r>
          </a:p>
        </p:txBody>
      </p:sp>
      <p:sp>
        <p:nvSpPr>
          <p:cNvPr id="6" name="Oval 5"/>
          <p:cNvSpPr/>
          <p:nvPr/>
        </p:nvSpPr>
        <p:spPr>
          <a:xfrm>
            <a:off x="3657600" y="2743200"/>
            <a:ext cx="1219200" cy="5334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Bean 3</a:t>
            </a:r>
          </a:p>
        </p:txBody>
      </p:sp>
      <p:sp>
        <p:nvSpPr>
          <p:cNvPr id="7" name="Oval 6"/>
          <p:cNvSpPr/>
          <p:nvPr/>
        </p:nvSpPr>
        <p:spPr>
          <a:xfrm>
            <a:off x="4953000" y="1701437"/>
            <a:ext cx="1219200" cy="5334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Bean 4</a:t>
            </a:r>
          </a:p>
        </p:txBody>
      </p:sp>
      <p:sp>
        <p:nvSpPr>
          <p:cNvPr id="8" name="Oval 7"/>
          <p:cNvSpPr/>
          <p:nvPr/>
        </p:nvSpPr>
        <p:spPr>
          <a:xfrm>
            <a:off x="4968240" y="2438400"/>
            <a:ext cx="1219200" cy="533400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Bean …</a:t>
            </a:r>
          </a:p>
        </p:txBody>
      </p:sp>
      <p:sp>
        <p:nvSpPr>
          <p:cNvPr id="10" name="Flowchart: Multidocument 9"/>
          <p:cNvSpPr/>
          <p:nvPr/>
        </p:nvSpPr>
        <p:spPr>
          <a:xfrm>
            <a:off x="7349381" y="990600"/>
            <a:ext cx="4198184" cy="2667000"/>
          </a:xfrm>
          <a:prstGeom prst="flowChartMultidocumen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/>
              <a:t>@</a:t>
            </a:r>
            <a:r>
              <a:rPr lang="en-US" b="1" dirty="0" err="1"/>
              <a:t>Autowired</a:t>
            </a:r>
            <a:endParaRPr lang="en-US" b="1" dirty="0"/>
          </a:p>
          <a:p>
            <a:r>
              <a:rPr lang="en-US" b="1" dirty="0"/>
              <a:t>@Qualifier(id)</a:t>
            </a:r>
          </a:p>
          <a:p>
            <a:r>
              <a:rPr lang="en-US" dirty="0" smtClean="0"/>
              <a:t>Type </a:t>
            </a:r>
            <a:r>
              <a:rPr lang="en-US" dirty="0" err="1"/>
              <a:t>var</a:t>
            </a:r>
            <a:r>
              <a:rPr lang="en-US" dirty="0"/>
              <a:t>;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476999" y="1905000"/>
            <a:ext cx="872381" cy="734568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96400" y="1495961"/>
            <a:ext cx="16650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@Component</a:t>
            </a:r>
          </a:p>
          <a:p>
            <a:r>
              <a:rPr lang="en-US" sz="2000" b="1" dirty="0">
                <a:solidFill>
                  <a:srgbClr val="FFFF00"/>
                </a:solidFill>
              </a:rPr>
              <a:t>@Controller</a:t>
            </a:r>
          </a:p>
          <a:p>
            <a:r>
              <a:rPr lang="en-US" sz="2000" b="1" dirty="0">
                <a:solidFill>
                  <a:srgbClr val="FFFF00"/>
                </a:solidFill>
              </a:rPr>
              <a:t>@Service</a:t>
            </a:r>
          </a:p>
          <a:p>
            <a:r>
              <a:rPr lang="en-US" sz="2000" b="1" dirty="0">
                <a:solidFill>
                  <a:srgbClr val="FFFF00"/>
                </a:solidFill>
              </a:rPr>
              <a:t>@Repository</a:t>
            </a:r>
          </a:p>
        </p:txBody>
      </p:sp>
      <p:sp>
        <p:nvSpPr>
          <p:cNvPr id="13" name="Flowchart: Document 12"/>
          <p:cNvSpPr/>
          <p:nvPr/>
        </p:nvSpPr>
        <p:spPr>
          <a:xfrm>
            <a:off x="632028" y="1219200"/>
            <a:ext cx="2157106" cy="1039368"/>
          </a:xfrm>
          <a:prstGeom prst="flowChartDocumen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Bean Classes</a:t>
            </a:r>
          </a:p>
        </p:txBody>
      </p:sp>
      <p:sp>
        <p:nvSpPr>
          <p:cNvPr id="14" name="Folded Corner 13"/>
          <p:cNvSpPr/>
          <p:nvPr/>
        </p:nvSpPr>
        <p:spPr>
          <a:xfrm>
            <a:off x="632028" y="2438400"/>
            <a:ext cx="2157106" cy="914400"/>
          </a:xfrm>
          <a:prstGeom prst="foldedCorne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Bean </a:t>
            </a:r>
            <a:r>
              <a:rPr lang="en-US" dirty="0" err="1"/>
              <a:t>MetaData</a:t>
            </a:r>
            <a:endParaRPr lang="en-US" dirty="0"/>
          </a:p>
          <a:p>
            <a:pPr algn="ctr"/>
            <a:r>
              <a:rPr lang="en-US" dirty="0"/>
              <a:t>(@</a:t>
            </a:r>
            <a:r>
              <a:rPr lang="en-US" dirty="0" err="1"/>
              <a:t>Configaration</a:t>
            </a:r>
            <a:r>
              <a:rPr lang="en-US" dirty="0"/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34525" y="1154668"/>
            <a:ext cx="141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Spring Beans</a:t>
            </a:r>
          </a:p>
        </p:txBody>
      </p:sp>
      <p:cxnSp>
        <p:nvCxnSpPr>
          <p:cNvPr id="17" name="Elbow Connector 16"/>
          <p:cNvCxnSpPr>
            <a:stCxn id="13" idx="3"/>
            <a:endCxn id="9" idx="1"/>
          </p:cNvCxnSpPr>
          <p:nvPr/>
        </p:nvCxnSpPr>
        <p:spPr>
          <a:xfrm>
            <a:off x="2789134" y="1738884"/>
            <a:ext cx="639866" cy="58521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>
            <a:stCxn id="14" idx="3"/>
            <a:endCxn id="9" idx="1"/>
          </p:cNvCxnSpPr>
          <p:nvPr/>
        </p:nvCxnSpPr>
        <p:spPr>
          <a:xfrm flipV="1">
            <a:off x="2789134" y="2324100"/>
            <a:ext cx="639866" cy="5715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213630" y="3549134"/>
            <a:ext cx="1478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chemeClr val="bg1">
                    <a:lumMod val="50000"/>
                  </a:schemeClr>
                </a:solidFill>
              </a:rPr>
              <a:t>IoC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 Container</a:t>
            </a:r>
          </a:p>
        </p:txBody>
      </p:sp>
    </p:spTree>
    <p:extLst>
      <p:ext uri="{BB962C8B-B14F-4D97-AF65-F5344CB8AC3E}">
        <p14:creationId xmlns:p14="http://schemas.microsoft.com/office/powerpoint/2010/main" val="1874149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built-in Bean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7772400" cy="43869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Folded Corner 4"/>
          <p:cNvSpPr/>
          <p:nvPr/>
        </p:nvSpPr>
        <p:spPr>
          <a:xfrm>
            <a:off x="5486400" y="1066800"/>
            <a:ext cx="6096000" cy="2667000"/>
          </a:xfrm>
          <a:prstGeom prst="foldedCorner">
            <a:avLst>
              <a:gd name="adj" fmla="val 8096"/>
            </a:avLst>
          </a:prstGeom>
          <a:ln w="3175">
            <a:solidFill>
              <a:schemeClr val="accent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Tại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sao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request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null?</a:t>
            </a:r>
          </a:p>
          <a:p>
            <a:pPr algn="just"/>
            <a:endParaRPr lang="en-US" sz="2400" i="1" dirty="0" smtClean="0">
              <a:solidFill>
                <a:schemeClr val="tx1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@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Autowire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yêu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cầu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Spring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tìm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kiếm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tượng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(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bean)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trong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môi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trường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của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nó</a:t>
            </a:r>
            <a:r>
              <a:rPr lang="en-US" sz="2400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có</a:t>
            </a:r>
            <a:r>
              <a:rPr lang="en-US" sz="2400" b="1" i="1" dirty="0" smtClean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kiểu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tương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thích</a:t>
            </a:r>
            <a:r>
              <a:rPr lang="en-US" sz="2400" b="1" i="1" dirty="0" smtClean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 smtClean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b="1" i="1" dirty="0" smtClean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liến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kết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biến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đối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tượng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tìm</a:t>
            </a:r>
            <a:r>
              <a:rPr lang="en-US" sz="2400" b="1" i="1" dirty="0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0000CC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thấy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hoặc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báo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lỗi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nếu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không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tìm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thấy</a:t>
            </a:r>
            <a:r>
              <a:rPr lang="en-US" sz="2400" i="1" dirty="0">
                <a:solidFill>
                  <a:schemeClr val="tx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5029200" y="2400300"/>
            <a:ext cx="457200" cy="647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196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User-defined Spring Beans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217895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User-defined Spring Bean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IoC</a:t>
            </a:r>
            <a:r>
              <a:rPr lang="en-US" dirty="0"/>
              <a:t> Container </a:t>
            </a:r>
            <a:r>
              <a:rPr lang="en-US" dirty="0" err="1"/>
              <a:t>nạp</a:t>
            </a:r>
            <a:r>
              <a:rPr lang="en-US" dirty="0"/>
              <a:t> bean </a:t>
            </a:r>
            <a:r>
              <a:rPr lang="en-US" dirty="0" err="1"/>
              <a:t>bằng</a:t>
            </a:r>
            <a:r>
              <a:rPr lang="en-US" dirty="0"/>
              <a:t> 2 </a:t>
            </a:r>
            <a:r>
              <a:rPr lang="en-US" dirty="0" err="1"/>
              <a:t>cách</a:t>
            </a:r>
            <a:endParaRPr lang="en-US" dirty="0"/>
          </a:p>
          <a:p>
            <a:pPr lvl="1"/>
            <a:r>
              <a:rPr lang="en-US" dirty="0" err="1"/>
              <a:t>Cách</a:t>
            </a:r>
            <a:r>
              <a:rPr lang="en-US" dirty="0"/>
              <a:t> 1: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smtClean="0"/>
              <a:t>bean class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chú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annotation </a:t>
            </a:r>
            <a:r>
              <a:rPr lang="en-US" dirty="0" err="1" smtClean="0"/>
              <a:t>sau</a:t>
            </a:r>
            <a:endParaRPr lang="en-US" dirty="0"/>
          </a:p>
          <a:p>
            <a:pPr lvl="2"/>
            <a:r>
              <a:rPr lang="en-US" dirty="0"/>
              <a:t>@</a:t>
            </a:r>
            <a:r>
              <a:rPr lang="en-US" dirty="0" smtClean="0"/>
              <a:t>Controller </a:t>
            </a:r>
          </a:p>
          <a:p>
            <a:pPr lvl="2"/>
            <a:r>
              <a:rPr lang="en-US" dirty="0" smtClean="0"/>
              <a:t>@</a:t>
            </a:r>
            <a:r>
              <a:rPr lang="en-US" dirty="0"/>
              <a:t>Component </a:t>
            </a:r>
            <a:endParaRPr lang="en-US" dirty="0" smtClean="0"/>
          </a:p>
          <a:p>
            <a:pPr lvl="2"/>
            <a:r>
              <a:rPr lang="en-US" dirty="0" smtClean="0"/>
              <a:t>@Service</a:t>
            </a:r>
          </a:p>
          <a:p>
            <a:pPr lvl="1"/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/>
              <a:t>2: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@Bean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file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@Configuration</a:t>
            </a:r>
          </a:p>
          <a:p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, Spring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tìm</a:t>
            </a:r>
            <a:r>
              <a:rPr lang="en-US" dirty="0" smtClean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2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đối</a:t>
            </a:r>
            <a:r>
              <a:rPr lang="en-US" dirty="0" smtClean="0"/>
              <a:t> </a:t>
            </a:r>
            <a:r>
              <a:rPr lang="en-US" dirty="0" err="1" smtClean="0"/>
              <a:t>tượng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79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Cách</a:t>
            </a:r>
            <a:r>
              <a:rPr lang="en-US" dirty="0" smtClean="0"/>
              <a:t> 1: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Spring bean </a:t>
            </a:r>
            <a:r>
              <a:rPr lang="en-US" dirty="0" err="1" smtClean="0"/>
              <a:t>với</a:t>
            </a:r>
            <a:r>
              <a:rPr lang="en-US" dirty="0" smtClean="0"/>
              <a:t> Annotation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230" y="1143000"/>
            <a:ext cx="9421540" cy="4782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132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Cách</a:t>
            </a:r>
            <a:r>
              <a:rPr lang="en-US" dirty="0" smtClean="0"/>
              <a:t> 2: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Spring bean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71998"/>
            <a:ext cx="8899644" cy="405838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422" y="3817040"/>
            <a:ext cx="6497010" cy="288856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84436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Spring bean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8049748" cy="4725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36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Xung</a:t>
            </a:r>
            <a:r>
              <a:rPr lang="en-US" dirty="0" smtClean="0"/>
              <a:t> </a:t>
            </a:r>
            <a:r>
              <a:rPr lang="en-US" dirty="0" err="1" smtClean="0"/>
              <a:t>đột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smtClean="0"/>
              <a:t>bean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46597"/>
            <a:ext cx="10972800" cy="1034603"/>
          </a:xfrm>
        </p:spPr>
        <p:txBody>
          <a:bodyPr/>
          <a:lstStyle/>
          <a:p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bean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lỗi</a:t>
            </a:r>
            <a:r>
              <a:rPr lang="en-US" dirty="0" smtClean="0"/>
              <a:t>. </a:t>
            </a:r>
            <a:r>
              <a:rPr lang="en-US" dirty="0" err="1" smtClean="0"/>
              <a:t>Trường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2 bean </a:t>
            </a:r>
            <a:r>
              <a:rPr lang="en-US" dirty="0" err="1" smtClean="0"/>
              <a:t>cùng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CookieService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981200"/>
            <a:ext cx="6629400" cy="446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62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Xung</a:t>
            </a:r>
            <a:r>
              <a:rPr lang="en-US" dirty="0" smtClean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bean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 smtClean="0"/>
              <a:t>kiểu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6486471" cy="43243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3974454"/>
            <a:ext cx="4648200" cy="273114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4114800" y="4038600"/>
            <a:ext cx="3733800" cy="1676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315201" y="1768062"/>
            <a:ext cx="4267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sz="2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bean id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bean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cùng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kiểu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36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16" y="990600"/>
            <a:ext cx="6278094" cy="460561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805" y="4453217"/>
            <a:ext cx="4563595" cy="2286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Xung</a:t>
            </a:r>
            <a:r>
              <a:rPr lang="en-US" dirty="0" smtClean="0"/>
              <a:t> </a:t>
            </a:r>
            <a:r>
              <a:rPr lang="en-US" dirty="0" err="1"/>
              <a:t>đột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bean </a:t>
            </a:r>
            <a:r>
              <a:rPr lang="en-US" dirty="0" err="1"/>
              <a:t>cùng</a:t>
            </a:r>
            <a:r>
              <a:rPr lang="en-US" dirty="0"/>
              <a:t> </a:t>
            </a:r>
            <a:r>
              <a:rPr lang="en-US" dirty="0" err="1" smtClean="0"/>
              <a:t>kiểu</a:t>
            </a:r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962400" y="4343400"/>
            <a:ext cx="3886200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239000" y="2133600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sz="2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bean </a:t>
            </a:r>
            <a:r>
              <a:rPr lang="en-US" sz="2400" b="1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@Primary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24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bean </a:t>
            </a:r>
            <a:r>
              <a:rPr lang="en-US" sz="24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endParaRPr lang="en-US" sz="24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239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Bean injection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90600"/>
            <a:ext cx="9829800" cy="5816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05400" y="1447800"/>
            <a:ext cx="2496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 bean to field</a:t>
            </a:r>
            <a:endParaRPr lang="en-US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39000" y="2057400"/>
            <a:ext cx="3369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 bean to constructor</a:t>
            </a:r>
            <a:endParaRPr lang="en-US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0" y="4127643"/>
            <a:ext cx="31195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 bean to argument</a:t>
            </a:r>
            <a:endParaRPr lang="en-US" sz="2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H="1">
            <a:off x="3276600" y="1678632"/>
            <a:ext cx="1828800" cy="37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1"/>
          </p:cNvCxnSpPr>
          <p:nvPr/>
        </p:nvCxnSpPr>
        <p:spPr>
          <a:xfrm flipH="1">
            <a:off x="6248400" y="2288233"/>
            <a:ext cx="990600" cy="733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8" idx="1"/>
          </p:cNvCxnSpPr>
          <p:nvPr/>
        </p:nvCxnSpPr>
        <p:spPr>
          <a:xfrm flipH="1">
            <a:off x="6353498" y="4358476"/>
            <a:ext cx="961702" cy="7469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65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bean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Thymeleaf</a:t>
            </a:r>
            <a:endParaRPr lang="en-US" dirty="0"/>
          </a:p>
        </p:txBody>
      </p:sp>
      <p:sp>
        <p:nvSpPr>
          <p:cNvPr id="6" name="Flowchart: Document 5"/>
          <p:cNvSpPr/>
          <p:nvPr/>
        </p:nvSpPr>
        <p:spPr>
          <a:xfrm>
            <a:off x="7239000" y="1066800"/>
            <a:ext cx="4343400" cy="24384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${@</a:t>
            </a:r>
            <a:r>
              <a:rPr lang="en-US" dirty="0" err="1"/>
              <a:t>cartService.getItems</a:t>
            </a:r>
            <a:r>
              <a:rPr lang="en-US" dirty="0"/>
              <a:t>()}</a:t>
            </a:r>
          </a:p>
          <a:p>
            <a:pPr algn="ctr"/>
            <a:r>
              <a:rPr lang="en-US" dirty="0" err="1"/>
              <a:t>h</a:t>
            </a:r>
            <a:r>
              <a:rPr lang="en-US" dirty="0" err="1" smtClean="0"/>
              <a:t>oặc</a:t>
            </a:r>
            <a:endParaRPr lang="en-US" dirty="0" smtClean="0"/>
          </a:p>
          <a:p>
            <a:pPr algn="ctr"/>
            <a:r>
              <a:rPr lang="en-US" dirty="0" smtClean="0"/>
              <a:t>${@</a:t>
            </a:r>
            <a:r>
              <a:rPr lang="en-US" dirty="0" err="1" smtClean="0"/>
              <a:t>cartService.items</a:t>
            </a:r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7" name="Flowchart: Internal Storage 6"/>
          <p:cNvSpPr/>
          <p:nvPr/>
        </p:nvSpPr>
        <p:spPr>
          <a:xfrm>
            <a:off x="609600" y="1066800"/>
            <a:ext cx="3657600" cy="243840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@Service</a:t>
            </a:r>
          </a:p>
          <a:p>
            <a:r>
              <a:rPr lang="en-US" dirty="0"/>
              <a:t>p</a:t>
            </a:r>
            <a:r>
              <a:rPr lang="en-US" dirty="0" smtClean="0"/>
              <a:t>ublic class </a:t>
            </a:r>
            <a:r>
              <a:rPr lang="en-US" dirty="0" err="1" smtClean="0"/>
              <a:t>CartService</a:t>
            </a:r>
            <a:r>
              <a:rPr lang="en-US" dirty="0" smtClean="0"/>
              <a:t>{</a:t>
            </a:r>
          </a:p>
          <a:p>
            <a:pPr lvl="1"/>
            <a:r>
              <a:rPr lang="en-US" dirty="0" smtClean="0"/>
              <a:t>List&lt;</a:t>
            </a:r>
            <a:r>
              <a:rPr lang="en-US" dirty="0" err="1" smtClean="0"/>
              <a:t>CartItem</a:t>
            </a:r>
            <a:r>
              <a:rPr lang="en-US" dirty="0" smtClean="0"/>
              <a:t>&gt; </a:t>
            </a:r>
            <a:r>
              <a:rPr lang="en-US" dirty="0" err="1" smtClean="0"/>
              <a:t>getItems</a:t>
            </a:r>
            <a:r>
              <a:rPr lang="en-US" dirty="0" smtClean="0"/>
              <a:t>(){</a:t>
            </a:r>
          </a:p>
          <a:p>
            <a:pPr lvl="2"/>
            <a:r>
              <a:rPr lang="en-US" dirty="0"/>
              <a:t>r</a:t>
            </a:r>
            <a:r>
              <a:rPr lang="en-US" dirty="0" smtClean="0"/>
              <a:t>eturn null;</a:t>
            </a:r>
          </a:p>
          <a:p>
            <a:pPr lvl="1"/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…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8" name="Flowchart: Internal Storage 7"/>
          <p:cNvSpPr/>
          <p:nvPr/>
        </p:nvSpPr>
        <p:spPr>
          <a:xfrm>
            <a:off x="609600" y="4223197"/>
            <a:ext cx="3657600" cy="2438400"/>
          </a:xfrm>
          <a:prstGeom prst="flowChartInternalStora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 smtClean="0"/>
              <a:t>@Service(“cart”)</a:t>
            </a:r>
          </a:p>
          <a:p>
            <a:r>
              <a:rPr lang="en-US" dirty="0"/>
              <a:t>p</a:t>
            </a:r>
            <a:r>
              <a:rPr lang="en-US" dirty="0" smtClean="0"/>
              <a:t>ublic class </a:t>
            </a:r>
            <a:r>
              <a:rPr lang="en-US" dirty="0" err="1" smtClean="0"/>
              <a:t>CartService</a:t>
            </a:r>
            <a:r>
              <a:rPr lang="en-US" dirty="0" smtClean="0"/>
              <a:t>{</a:t>
            </a:r>
          </a:p>
          <a:p>
            <a:pPr lvl="1"/>
            <a:r>
              <a:rPr lang="en-US" dirty="0" smtClean="0"/>
              <a:t>List&lt;</a:t>
            </a:r>
            <a:r>
              <a:rPr lang="en-US" dirty="0" err="1" smtClean="0"/>
              <a:t>CartItem</a:t>
            </a:r>
            <a:r>
              <a:rPr lang="en-US" dirty="0" smtClean="0"/>
              <a:t>&gt; </a:t>
            </a:r>
            <a:r>
              <a:rPr lang="en-US" dirty="0" err="1" smtClean="0"/>
              <a:t>getItems</a:t>
            </a:r>
            <a:r>
              <a:rPr lang="en-US" dirty="0" smtClean="0"/>
              <a:t>(){</a:t>
            </a:r>
          </a:p>
          <a:p>
            <a:pPr lvl="2"/>
            <a:r>
              <a:rPr lang="en-US" dirty="0"/>
              <a:t>r</a:t>
            </a:r>
            <a:r>
              <a:rPr lang="en-US" dirty="0" smtClean="0"/>
              <a:t>eturn null;</a:t>
            </a:r>
          </a:p>
          <a:p>
            <a:pPr lvl="1"/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…</a:t>
            </a:r>
          </a:p>
          <a:p>
            <a:r>
              <a:rPr lang="en-US" dirty="0" smtClean="0"/>
              <a:t>}</a:t>
            </a:r>
            <a:endParaRPr lang="en-US" dirty="0"/>
          </a:p>
        </p:txBody>
      </p:sp>
      <p:sp>
        <p:nvSpPr>
          <p:cNvPr id="9" name="Flowchart: Document 8"/>
          <p:cNvSpPr/>
          <p:nvPr/>
        </p:nvSpPr>
        <p:spPr>
          <a:xfrm>
            <a:off x="7239000" y="4223197"/>
            <a:ext cx="4343400" cy="243840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${@</a:t>
            </a:r>
            <a:r>
              <a:rPr lang="en-US" dirty="0" err="1" smtClean="0"/>
              <a:t>cart.getItems</a:t>
            </a:r>
            <a:r>
              <a:rPr lang="en-US" dirty="0"/>
              <a:t>()}</a:t>
            </a:r>
          </a:p>
          <a:p>
            <a:pPr algn="ctr"/>
            <a:r>
              <a:rPr lang="en-US" dirty="0" err="1"/>
              <a:t>hoặc</a:t>
            </a:r>
            <a:endParaRPr lang="en-US" dirty="0"/>
          </a:p>
          <a:p>
            <a:pPr algn="ctr"/>
            <a:r>
              <a:rPr lang="en-US" dirty="0"/>
              <a:t>${@</a:t>
            </a:r>
            <a:r>
              <a:rPr lang="en-US" dirty="0" err="1" smtClean="0"/>
              <a:t>cart.items</a:t>
            </a:r>
            <a:r>
              <a:rPr lang="en-US" dirty="0"/>
              <a:t>}</a:t>
            </a:r>
          </a:p>
          <a:p>
            <a:pPr algn="ctr"/>
            <a:endParaRPr lang="en-US" dirty="0"/>
          </a:p>
        </p:txBody>
      </p:sp>
      <p:cxnSp>
        <p:nvCxnSpPr>
          <p:cNvPr id="11" name="Straight Arrow Connector 10"/>
          <p:cNvCxnSpPr>
            <a:stCxn id="6" idx="1"/>
            <a:endCxn id="7" idx="3"/>
          </p:cNvCxnSpPr>
          <p:nvPr/>
        </p:nvCxnSpPr>
        <p:spPr>
          <a:xfrm flipH="1">
            <a:off x="4267200" y="2286000"/>
            <a:ext cx="2971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1"/>
            <a:endCxn id="8" idx="3"/>
          </p:cNvCxnSpPr>
          <p:nvPr/>
        </p:nvCxnSpPr>
        <p:spPr>
          <a:xfrm flipH="1">
            <a:off x="4267200" y="5442397"/>
            <a:ext cx="29718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5887" y="1916668"/>
            <a:ext cx="294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bean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class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596373" y="5073064"/>
            <a:ext cx="23124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bean </a:t>
            </a:r>
            <a:r>
              <a:rPr lang="en-US" dirty="0" err="1" smtClean="0"/>
              <a:t>bằng</a:t>
            </a:r>
            <a:r>
              <a:rPr lang="en-US" dirty="0" smtClean="0"/>
              <a:t> 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239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Slide </a:t>
            </a:r>
            <a:r>
              <a:rPr lang="en-US" dirty="0" smtClean="0"/>
              <a:t>5.2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Spring Beans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7534" y="685800"/>
            <a:ext cx="2571750" cy="1619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81161" y="1957992"/>
            <a:ext cx="3631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Arial Narrow" panose="020B0606020202030204" pitchFamily="34" charset="0"/>
              </a:rPr>
              <a:t>Conceive Design Implement Operate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890932" y="2406165"/>
            <a:ext cx="1693935" cy="251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542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Bean </a:t>
            </a:r>
            <a:r>
              <a:rPr lang="en-US" sz="5400" b="1" cap="small" dirty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Scopes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9771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Spring Bean Scopes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Mặc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bean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annotation </a:t>
            </a:r>
            <a:r>
              <a:rPr lang="en-US" dirty="0" err="1"/>
              <a:t>thì</a:t>
            </a:r>
            <a:r>
              <a:rPr lang="en-US" dirty="0"/>
              <a:t> bean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(singleton)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toàn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</a:t>
            </a:r>
          </a:p>
          <a:p>
            <a:r>
              <a:rPr lang="en-US" dirty="0"/>
              <a:t>Spring </a:t>
            </a:r>
            <a:r>
              <a:rPr lang="en-US" dirty="0" err="1"/>
              <a:t>cung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annotation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phép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 </a:t>
            </a:r>
            <a:r>
              <a:rPr lang="en-US" dirty="0" err="1"/>
              <a:t>báo</a:t>
            </a:r>
            <a:r>
              <a:rPr lang="en-US" dirty="0"/>
              <a:t> bean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yêu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thống</a:t>
            </a:r>
            <a:r>
              <a:rPr lang="en-US" dirty="0"/>
              <a:t> </a:t>
            </a:r>
            <a:r>
              <a:rPr lang="en-US" dirty="0" err="1"/>
              <a:t>nạp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@</a:t>
            </a:r>
            <a:r>
              <a:rPr lang="en-US" dirty="0" err="1"/>
              <a:t>ApplicationScope</a:t>
            </a:r>
            <a:endParaRPr lang="en-US" dirty="0"/>
          </a:p>
          <a:p>
            <a:pPr lvl="2"/>
            <a:r>
              <a:rPr lang="en-US" dirty="0" err="1"/>
              <a:t>Tạo</a:t>
            </a:r>
            <a:r>
              <a:rPr lang="en-US" dirty="0"/>
              <a:t> bean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,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application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endParaRPr lang="en-US" dirty="0"/>
          </a:p>
          <a:p>
            <a:pPr lvl="1"/>
            <a:r>
              <a:rPr lang="en-US" dirty="0"/>
              <a:t>@</a:t>
            </a:r>
            <a:r>
              <a:rPr lang="en-US" dirty="0" err="1"/>
              <a:t>SessionScope</a:t>
            </a:r>
            <a:endParaRPr lang="en-US" dirty="0"/>
          </a:p>
          <a:p>
            <a:pPr lvl="2"/>
            <a:r>
              <a:rPr lang="en-US" dirty="0" err="1"/>
              <a:t>Tạo</a:t>
            </a:r>
            <a:r>
              <a:rPr lang="en-US" dirty="0"/>
              <a:t> bean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phiên</a:t>
            </a:r>
            <a:r>
              <a:rPr lang="en-US" dirty="0"/>
              <a:t>,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session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session timeout</a:t>
            </a:r>
          </a:p>
          <a:p>
            <a:pPr lvl="1"/>
            <a:r>
              <a:rPr lang="en-US" dirty="0"/>
              <a:t>@</a:t>
            </a:r>
            <a:r>
              <a:rPr lang="en-US" dirty="0" err="1"/>
              <a:t>RequestScope</a:t>
            </a:r>
            <a:endParaRPr lang="en-US" dirty="0"/>
          </a:p>
          <a:p>
            <a:pPr lvl="2"/>
            <a:r>
              <a:rPr lang="en-US" dirty="0" err="1"/>
              <a:t>Tạo</a:t>
            </a:r>
            <a:r>
              <a:rPr lang="en-US" dirty="0"/>
              <a:t> bean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lúc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request, chia </a:t>
            </a:r>
            <a:r>
              <a:rPr lang="en-US" dirty="0" err="1"/>
              <a:t>sẻ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phạm</a:t>
            </a:r>
            <a:r>
              <a:rPr lang="en-US" dirty="0"/>
              <a:t> vi request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phóng</a:t>
            </a:r>
            <a:r>
              <a:rPr lang="en-US" dirty="0"/>
              <a:t>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request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thúc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5047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@</a:t>
            </a:r>
            <a:r>
              <a:rPr lang="en-US" dirty="0" err="1" smtClean="0"/>
              <a:t>SessionScope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>
          <a:xfrm>
            <a:off x="609600" y="5562600"/>
            <a:ext cx="10972800" cy="1143000"/>
          </a:xfrm>
        </p:spPr>
        <p:txBody>
          <a:bodyPr/>
          <a:lstStyle/>
          <a:p>
            <a:r>
              <a:rPr lang="en-US" dirty="0" smtClean="0"/>
              <a:t>Bean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r>
              <a:rPr lang="en-US" dirty="0" smtClean="0"/>
              <a:t> </a:t>
            </a:r>
            <a:r>
              <a:rPr lang="en-US" dirty="0" err="1" smtClean="0"/>
              <a:t>điểm</a:t>
            </a:r>
            <a:r>
              <a:rPr lang="en-US" dirty="0" smtClean="0"/>
              <a:t> </a:t>
            </a:r>
            <a:r>
              <a:rPr lang="en-US" dirty="0" err="1" smtClean="0"/>
              <a:t>mỗi</a:t>
            </a:r>
            <a:r>
              <a:rPr lang="en-US" dirty="0" smtClean="0"/>
              <a:t> session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phóng</a:t>
            </a:r>
            <a:r>
              <a:rPr lang="en-US" dirty="0"/>
              <a:t> </a:t>
            </a:r>
            <a:r>
              <a:rPr lang="en-US" dirty="0" err="1" smtClean="0"/>
              <a:t>khỏi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smtClean="0"/>
              <a:t>session </a:t>
            </a:r>
            <a:r>
              <a:rPr lang="en-US" dirty="0" err="1" smtClean="0"/>
              <a:t>hết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(timeout)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92332"/>
            <a:ext cx="3570578" cy="19608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4559" y="1692332"/>
            <a:ext cx="6207841" cy="3870268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876800" y="946597"/>
            <a:ext cx="0" cy="4616003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09600" y="946597"/>
            <a:ext cx="4191000" cy="5774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cap="small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16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cap="small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6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cap="small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@Service </a:t>
            </a:r>
            <a:r>
              <a:rPr lang="en-US" sz="1600" b="1" cap="small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1600" b="1" cap="small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cap="small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@Component</a:t>
            </a:r>
            <a:endParaRPr lang="en-US" sz="1600" b="1" cap="small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978400" y="946596"/>
            <a:ext cx="6603999" cy="5774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cap="sm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16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cap="sm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cap="sm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16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cap="sm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6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cap="smal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US" sz="1600" b="1" cap="sm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Spring bean</a:t>
            </a:r>
          </a:p>
        </p:txBody>
      </p:sp>
    </p:spTree>
    <p:extLst>
      <p:ext uri="{BB962C8B-B14F-4D97-AF65-F5344CB8AC3E}">
        <p14:creationId xmlns:p14="http://schemas.microsoft.com/office/powerpoint/2010/main" val="3190568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Inversion of Control (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IoC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)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889315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IoC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gì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Đảo</a:t>
            </a:r>
            <a:r>
              <a:rPr lang="en-US" dirty="0" smtClean="0"/>
              <a:t> </a:t>
            </a:r>
            <a:r>
              <a:rPr lang="en-US" dirty="0" err="1" smtClean="0"/>
              <a:t>ngược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(</a:t>
            </a:r>
            <a:r>
              <a:rPr lang="en-US" dirty="0" err="1" smtClean="0"/>
              <a:t>Ioc</a:t>
            </a:r>
            <a:r>
              <a:rPr lang="en-US" dirty="0" smtClean="0"/>
              <a:t>)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vài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xây</a:t>
            </a:r>
            <a:r>
              <a:rPr lang="en-US" dirty="0" smtClean="0"/>
              <a:t> </a:t>
            </a:r>
            <a:r>
              <a:rPr lang="en-US" dirty="0" err="1" smtClean="0"/>
              <a:t>dựng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smtClean="0"/>
              <a:t>Spring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interface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class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chiếu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bean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tiêm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,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vậy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tránh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phụ</a:t>
            </a:r>
            <a:r>
              <a:rPr lang="en-US" dirty="0" smtClean="0"/>
              <a:t> </a:t>
            </a:r>
            <a:r>
              <a:rPr lang="en-US" dirty="0" err="1" smtClean="0"/>
              <a:t>thuộc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bean class.</a:t>
            </a:r>
          </a:p>
          <a:p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bean class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bean class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chúng</a:t>
            </a:r>
            <a:r>
              <a:rPr lang="en-US" dirty="0" smtClean="0"/>
              <a:t> ta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nạp</a:t>
            </a:r>
            <a:r>
              <a:rPr lang="en-US" dirty="0" smtClean="0"/>
              <a:t> </a:t>
            </a:r>
            <a:r>
              <a:rPr lang="en-US" dirty="0" err="1" smtClean="0"/>
              <a:t>thay</a:t>
            </a:r>
            <a:r>
              <a:rPr lang="en-US" dirty="0" smtClean="0"/>
              <a:t> </a:t>
            </a:r>
            <a:r>
              <a:rPr lang="en-US" dirty="0" err="1" smtClean="0"/>
              <a:t>thế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dễ</a:t>
            </a:r>
            <a:r>
              <a:rPr lang="en-US" dirty="0" smtClean="0"/>
              <a:t> </a:t>
            </a:r>
            <a:r>
              <a:rPr lang="en-US" dirty="0" err="1" smtClean="0"/>
              <a:t>dàng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3326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IoC</a:t>
            </a:r>
            <a:r>
              <a:rPr lang="en-US" dirty="0" smtClean="0"/>
              <a:t> </a:t>
            </a:r>
            <a:r>
              <a:rPr lang="en-US" dirty="0" smtClean="0"/>
              <a:t>Example – </a:t>
            </a:r>
            <a:r>
              <a:rPr lang="en-US" dirty="0" err="1" smtClean="0"/>
              <a:t>Tiêm</a:t>
            </a:r>
            <a:r>
              <a:rPr lang="en-US" dirty="0" smtClean="0"/>
              <a:t> (</a:t>
            </a:r>
            <a:r>
              <a:rPr lang="en-US" dirty="0" err="1" smtClean="0"/>
              <a:t>tham</a:t>
            </a:r>
            <a:r>
              <a:rPr lang="en-US" dirty="0" smtClean="0"/>
              <a:t> </a:t>
            </a:r>
            <a:r>
              <a:rPr lang="en-US" dirty="0" err="1" smtClean="0"/>
              <a:t>chiếu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) bean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6030167" cy="468695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973" y="1219200"/>
            <a:ext cx="4315427" cy="134321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" name="Straight Arrow Connector 5"/>
          <p:cNvCxnSpPr>
            <a:endCxn id="5" idx="1"/>
          </p:cNvCxnSpPr>
          <p:nvPr/>
        </p:nvCxnSpPr>
        <p:spPr>
          <a:xfrm flipV="1">
            <a:off x="5181600" y="1890806"/>
            <a:ext cx="2085373" cy="776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70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IoC</a:t>
            </a:r>
            <a:r>
              <a:rPr lang="en-US" dirty="0" smtClean="0"/>
              <a:t> </a:t>
            </a:r>
            <a:r>
              <a:rPr lang="en-US" dirty="0" smtClean="0"/>
              <a:t>Example – </a:t>
            </a:r>
            <a:r>
              <a:rPr lang="en-US" dirty="0" err="1" smtClean="0"/>
              <a:t>Nạp</a:t>
            </a:r>
            <a:r>
              <a:rPr lang="en-US" dirty="0" smtClean="0"/>
              <a:t> bean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hệ</a:t>
            </a:r>
            <a:r>
              <a:rPr lang="en-US" dirty="0" smtClean="0"/>
              <a:t> </a:t>
            </a:r>
            <a:r>
              <a:rPr lang="en-US" dirty="0" err="1" smtClean="0"/>
              <a:t>thống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46598"/>
            <a:ext cx="7155364" cy="272792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28339"/>
            <a:ext cx="8305800" cy="272792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3962400"/>
            <a:ext cx="8686800" cy="2743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" y="946596"/>
            <a:ext cx="8686800" cy="27432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841164" y="1295400"/>
            <a:ext cx="3741236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 bean class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controller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viết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Nghĩa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file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FileCrudService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CSDL Oracle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thì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nạp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OracleCrudService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cứ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bạn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trường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endParaRPr lang="en-US" sz="2000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153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74997" y="2967335"/>
            <a:ext cx="8931203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Thiết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kế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các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Spring bean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tiện</a:t>
            </a:r>
            <a:r>
              <a:rPr lang="en-US" sz="5400" b="1" cap="small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 </a:t>
            </a:r>
            <a:r>
              <a:rPr lang="en-US" sz="5400" b="1" cap="small" dirty="0" err="1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ích</a:t>
            </a:r>
            <a:endParaRPr lang="en-US" sz="5400" b="1" cap="small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48937" y="1194997"/>
            <a:ext cx="1826060" cy="271515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486293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bean </a:t>
            </a:r>
            <a:r>
              <a:rPr lang="en-US" dirty="0" err="1" smtClean="0"/>
              <a:t>tiện</a:t>
            </a:r>
            <a:r>
              <a:rPr lang="en-US" dirty="0" smtClean="0"/>
              <a:t> </a:t>
            </a:r>
            <a:r>
              <a:rPr lang="en-US" dirty="0" err="1" smtClean="0"/>
              <a:t>ích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FileService</a:t>
            </a:r>
            <a:endParaRPr lang="en-US" dirty="0"/>
          </a:p>
          <a:p>
            <a:pPr lvl="1"/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file upload</a:t>
            </a:r>
          </a:p>
          <a:p>
            <a:r>
              <a:rPr lang="en-US" dirty="0" err="1" smtClean="0"/>
              <a:t>CookieService</a:t>
            </a:r>
            <a:endParaRPr lang="en-US" dirty="0" smtClean="0"/>
          </a:p>
          <a:p>
            <a:pPr lvl="1"/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cookie</a:t>
            </a:r>
          </a:p>
          <a:p>
            <a:r>
              <a:rPr lang="en-US" dirty="0" err="1" smtClean="0"/>
              <a:t>MailService</a:t>
            </a:r>
            <a:endParaRPr lang="en-US" dirty="0" smtClean="0"/>
          </a:p>
          <a:p>
            <a:pPr lvl="1"/>
            <a:r>
              <a:rPr lang="en-US" dirty="0" err="1" smtClean="0"/>
              <a:t>Gửi</a:t>
            </a:r>
            <a:r>
              <a:rPr lang="en-US" dirty="0" smtClean="0"/>
              <a:t> email</a:t>
            </a:r>
          </a:p>
          <a:p>
            <a:r>
              <a:rPr lang="en-US" dirty="0" err="1" smtClean="0"/>
              <a:t>AuthService</a:t>
            </a:r>
            <a:endParaRPr lang="en-US" dirty="0" smtClean="0"/>
          </a:p>
          <a:p>
            <a:pPr lvl="1"/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đăng</a:t>
            </a:r>
            <a:r>
              <a:rPr lang="en-US" dirty="0"/>
              <a:t> </a:t>
            </a:r>
            <a:r>
              <a:rPr lang="en-US" dirty="0" err="1" smtClean="0"/>
              <a:t>nhập</a:t>
            </a:r>
            <a:endParaRPr lang="en-US" dirty="0" smtClean="0"/>
          </a:p>
          <a:p>
            <a:r>
              <a:rPr lang="en-US" dirty="0" err="1" smtClean="0"/>
              <a:t>CartService</a:t>
            </a:r>
            <a:endParaRPr lang="en-US" dirty="0"/>
          </a:p>
          <a:p>
            <a:pPr lvl="1"/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giỏ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điện</a:t>
            </a:r>
            <a:r>
              <a:rPr lang="en-US" dirty="0" smtClean="0"/>
              <a:t> </a:t>
            </a:r>
            <a:r>
              <a:rPr lang="en-US" dirty="0" err="1" smtClean="0"/>
              <a:t>tử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962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CookieService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609600" y="4153331"/>
            <a:ext cx="10972800" cy="2552269"/>
          </a:xfrm>
        </p:spPr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CookieServiceImpl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interface </a:t>
            </a:r>
            <a:r>
              <a:rPr lang="en-US" dirty="0" err="1" smtClean="0"/>
              <a:t>CookieService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Tiêm</a:t>
            </a:r>
            <a:r>
              <a:rPr lang="en-US" dirty="0" smtClean="0"/>
              <a:t> </a:t>
            </a:r>
            <a:r>
              <a:rPr lang="en-US" dirty="0" err="1" smtClean="0"/>
              <a:t>HttpServletRequest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HttpServletRessponse</a:t>
            </a:r>
            <a:endParaRPr lang="en-US" dirty="0" smtClean="0"/>
          </a:p>
          <a:p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thức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914400"/>
            <a:ext cx="5973009" cy="308653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190596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FileService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2971800"/>
            <a:ext cx="10972800" cy="3733800"/>
          </a:xfrm>
        </p:spPr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 smtClean="0"/>
              <a:t>FileServiceImpl</a:t>
            </a:r>
            <a:r>
              <a:rPr lang="en-US" dirty="0" smtClean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interface </a:t>
            </a:r>
            <a:r>
              <a:rPr lang="en-US" dirty="0" err="1" smtClean="0"/>
              <a:t>FileService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err="1"/>
              <a:t>Tiêm</a:t>
            </a:r>
            <a:r>
              <a:rPr lang="en-US" dirty="0"/>
              <a:t> </a:t>
            </a:r>
            <a:r>
              <a:rPr lang="en-US" dirty="0" err="1" smtClean="0"/>
              <a:t>ServletContext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làm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ảo</a:t>
            </a:r>
            <a:r>
              <a:rPr lang="en-US" dirty="0" smtClean="0"/>
              <a:t> (virtual path) folder</a:t>
            </a:r>
            <a:endParaRPr lang="en-US" dirty="0"/>
          </a:p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990600"/>
            <a:ext cx="5401429" cy="184810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6694668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AuthService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4267200"/>
            <a:ext cx="10972800" cy="2438400"/>
          </a:xfrm>
        </p:spPr>
        <p:txBody>
          <a:bodyPr/>
          <a:lstStyle/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 smtClean="0"/>
              <a:t>AuthServiceImpl</a:t>
            </a:r>
            <a:r>
              <a:rPr lang="en-US" dirty="0" smtClean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interface </a:t>
            </a:r>
            <a:r>
              <a:rPr lang="en-US" dirty="0" err="1" smtClean="0"/>
              <a:t>AuthService</a:t>
            </a:r>
            <a:r>
              <a:rPr lang="en-US" dirty="0"/>
              <a:t>.</a:t>
            </a:r>
          </a:p>
          <a:p>
            <a:r>
              <a:rPr lang="en-US" dirty="0" err="1"/>
              <a:t>Tiêm</a:t>
            </a:r>
            <a:r>
              <a:rPr lang="en-US" dirty="0"/>
              <a:t> </a:t>
            </a:r>
            <a:r>
              <a:rPr lang="en-US" dirty="0" err="1" smtClean="0"/>
              <a:t>HttpSession</a:t>
            </a:r>
            <a:r>
              <a:rPr lang="en-US" dirty="0" smtClean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User </a:t>
            </a:r>
            <a:r>
              <a:rPr lang="en-US" dirty="0" err="1" smtClean="0"/>
              <a:t>đăng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session</a:t>
            </a:r>
            <a:endParaRPr lang="en-US" dirty="0"/>
          </a:p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990600"/>
            <a:ext cx="5106113" cy="311511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7586435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MailService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609600" y="5658501"/>
            <a:ext cx="10972800" cy="1047099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/>
              <a:t>lớp</a:t>
            </a:r>
            <a:r>
              <a:rPr lang="en-US" dirty="0"/>
              <a:t> </a:t>
            </a:r>
            <a:r>
              <a:rPr lang="en-US" dirty="0" err="1" smtClean="0"/>
              <a:t>MailServiceImpl</a:t>
            </a:r>
            <a:r>
              <a:rPr lang="en-US" dirty="0" smtClean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interface </a:t>
            </a:r>
            <a:r>
              <a:rPr lang="en-US" dirty="0" err="1" smtClean="0"/>
              <a:t>MailService</a:t>
            </a:r>
            <a:r>
              <a:rPr lang="en-US" dirty="0"/>
              <a:t>.</a:t>
            </a:r>
          </a:p>
          <a:p>
            <a:r>
              <a:rPr lang="en-US" dirty="0" err="1"/>
              <a:t>Tiêm</a:t>
            </a:r>
            <a:r>
              <a:rPr lang="en-US" dirty="0"/>
              <a:t> </a:t>
            </a:r>
            <a:r>
              <a:rPr lang="en-US" dirty="0" err="1" smtClean="0"/>
              <a:t>JavaMailSender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email</a:t>
            </a:r>
            <a:endParaRPr lang="en-US" dirty="0"/>
          </a:p>
          <a:p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 smtClean="0"/>
              <a:t>thức</a:t>
            </a:r>
            <a:r>
              <a:rPr lang="en-US" dirty="0" smtClean="0"/>
              <a:t> send(</a:t>
            </a:r>
            <a:r>
              <a:rPr lang="en-US" dirty="0" err="1" smtClean="0"/>
              <a:t>MailMesssage</a:t>
            </a:r>
            <a:r>
              <a:rPr lang="en-US" dirty="0" smtClean="0"/>
              <a:t>)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964474"/>
            <a:ext cx="8649907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04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ippl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CartService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46597"/>
            <a:ext cx="6786569" cy="560703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24400" y="3171177"/>
            <a:ext cx="4005144" cy="358183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Content Placeholder 5"/>
          <p:cNvSpPr txBox="1">
            <a:spLocks/>
          </p:cNvSpPr>
          <p:nvPr/>
        </p:nvSpPr>
        <p:spPr>
          <a:xfrm>
            <a:off x="4724400" y="1219200"/>
            <a:ext cx="6858000" cy="129540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vert="horz" lIns="91440" tIns="45720" rIns="91440" bIns="45720" rtlCol="0">
            <a:normAutofit fontScale="850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q"/>
              <a:defRPr sz="2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v"/>
              <a:defRPr sz="24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Ø"/>
              <a:defRPr sz="20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ü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FF5A33"/>
              </a:buClr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Segoe UI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lớp</a:t>
            </a:r>
            <a:r>
              <a:rPr lang="en-US" dirty="0" smtClean="0"/>
              <a:t> </a:t>
            </a:r>
            <a:r>
              <a:rPr lang="en-US" dirty="0" err="1" smtClean="0"/>
              <a:t>CartServiceImpl</a:t>
            </a:r>
            <a:r>
              <a:rPr lang="en-US" dirty="0" smtClean="0"/>
              <a:t>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thi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interface </a:t>
            </a:r>
            <a:r>
              <a:rPr lang="en-US" dirty="0" err="1" smtClean="0"/>
              <a:t>CartService</a:t>
            </a:r>
            <a:r>
              <a:rPr lang="en-US" dirty="0"/>
              <a:t> </a:t>
            </a:r>
            <a:r>
              <a:rPr lang="en-US" dirty="0" err="1" smtClean="0"/>
              <a:t>chú</a:t>
            </a:r>
            <a:r>
              <a:rPr lang="en-US" dirty="0" smtClean="0"/>
              <a:t> </a:t>
            </a:r>
            <a:r>
              <a:rPr lang="en-US" dirty="0" err="1" smtClean="0"/>
              <a:t>thích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@</a:t>
            </a:r>
            <a:r>
              <a:rPr lang="en-US" b="1" dirty="0" err="1" smtClean="0">
                <a:solidFill>
                  <a:srgbClr val="FF0000"/>
                </a:solidFill>
              </a:rPr>
              <a:t>SessionScope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 err="1" smtClean="0"/>
              <a:t>Cài</a:t>
            </a:r>
            <a:r>
              <a:rPr lang="en-US" dirty="0" smtClean="0"/>
              <a:t> </a:t>
            </a: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mã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7823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:\Compressed\PSD Collection 2011\WP-201 copy.pn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195426" y="844420"/>
            <a:ext cx="3386974" cy="5702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7585826" cy="5257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I: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thiệu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Spring Beans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Sử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dụng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Spring Beans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sẵn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dựng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cấu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hình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Spring Bean</a:t>
            </a:r>
          </a:p>
          <a:p>
            <a:pPr>
              <a:buFont typeface="Wingdings" panose="05000000000000000000" pitchFamily="2" charset="2"/>
              <a:buChar char="þ"/>
            </a:pPr>
            <a:r>
              <a:rPr lang="en-US" cap="small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II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Tìm hiểu Bean Scopes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Tìm hiểu về DI and IoC</a:t>
            </a:r>
          </a:p>
          <a:p>
            <a:pPr lvl="1">
              <a:buFont typeface="Wingdings" panose="05000000000000000000" pitchFamily="2" charset="2"/>
              <a:buChar char="þ"/>
            </a:pPr>
            <a:r>
              <a:rPr lang="vi-VN" cap="small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Xây dựng các bean tiện ích thường dùng</a:t>
            </a:r>
            <a:endParaRPr lang="en-US" cap="small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73464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" y="0"/>
            <a:ext cx="1219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5742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13212</TotalTime>
  <Words>1096</Words>
  <Application>Microsoft Office PowerPoint</Application>
  <PresentationFormat>Widescreen</PresentationFormat>
  <Paragraphs>149</Paragraphs>
  <Slides>32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Arial</vt:lpstr>
      <vt:lpstr>Arial Narrow</vt:lpstr>
      <vt:lpstr>Calibri</vt:lpstr>
      <vt:lpstr>Cambria</vt:lpstr>
      <vt:lpstr>Courier New</vt:lpstr>
      <vt:lpstr>Roboto</vt:lpstr>
      <vt:lpstr>Roboto Lt</vt:lpstr>
      <vt:lpstr>Segoe UI</vt:lpstr>
      <vt:lpstr>Times New Roman</vt:lpstr>
      <vt:lpstr>Wingdings</vt:lpstr>
      <vt:lpstr>Custom Design</vt:lpstr>
      <vt:lpstr>Spring Beans</vt:lpstr>
      <vt:lpstr>Agenda</vt:lpstr>
      <vt:lpstr>PowerPoint Presentation</vt:lpstr>
      <vt:lpstr>Spring Bean Introduction</vt:lpstr>
      <vt:lpstr>Sử dụng built-in Bean</vt:lpstr>
      <vt:lpstr>PowerPoint Presentation</vt:lpstr>
      <vt:lpstr>User-defined Spring Bean</vt:lpstr>
      <vt:lpstr>Cách 1: Tạo và nạp Spring bean với Annotation</vt:lpstr>
      <vt:lpstr>Cách 2: Tạo và cấu hình nạp Spring bean</vt:lpstr>
      <vt:lpstr>Sử dụng Spring bean</vt:lpstr>
      <vt:lpstr>Xung đột nhiều bean cùng kiểu</vt:lpstr>
      <vt:lpstr>Xung đột nhiều bean cùng kiểu</vt:lpstr>
      <vt:lpstr>Xung đột nhiều bean cùng kiểu</vt:lpstr>
      <vt:lpstr>Bean injection</vt:lpstr>
      <vt:lpstr>Sử dụng bean trong Thymeleaf</vt:lpstr>
      <vt:lpstr>Spring Beans</vt:lpstr>
      <vt:lpstr>PowerPoint Presentation</vt:lpstr>
      <vt:lpstr>Spring Bean Scopes</vt:lpstr>
      <vt:lpstr>Sử dụng @SessionScope</vt:lpstr>
      <vt:lpstr>PowerPoint Presentation</vt:lpstr>
      <vt:lpstr>IoC là gì?</vt:lpstr>
      <vt:lpstr>IoC Example – Tiêm (tham chiếu đến) bean</vt:lpstr>
      <vt:lpstr>IoC Example – Nạp bean vào hệ thống</vt:lpstr>
      <vt:lpstr>PowerPoint Presentation</vt:lpstr>
      <vt:lpstr>Giới thiệu các bean tiện ích</vt:lpstr>
      <vt:lpstr>Thiết kế CookieService</vt:lpstr>
      <vt:lpstr>Thiết kế FileService</vt:lpstr>
      <vt:lpstr>Thiết kế AuthService</vt:lpstr>
      <vt:lpstr>Thiết kế MailService</vt:lpstr>
      <vt:lpstr>Thiết kế CartService</vt:lpstr>
      <vt:lpstr>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DELL</cp:lastModifiedBy>
  <cp:revision>2010</cp:revision>
  <dcterms:created xsi:type="dcterms:W3CDTF">2013-04-23T08:05:33Z</dcterms:created>
  <dcterms:modified xsi:type="dcterms:W3CDTF">2024-12-19T12:42:35Z</dcterms:modified>
</cp:coreProperties>
</file>
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29"/>
  </p:notesMasterIdLst>
  <p:sldIdLst>
    <p:sldId id="709" r:id="rId2"/>
    <p:sldId id="852" r:id="rId3"/>
    <p:sldId id="837" r:id="rId4"/>
    <p:sldId id="842" r:id="rId5"/>
    <p:sldId id="854" r:id="rId6"/>
    <p:sldId id="853" r:id="rId7"/>
    <p:sldId id="855" r:id="rId8"/>
    <p:sldId id="856" r:id="rId9"/>
    <p:sldId id="857" r:id="rId10"/>
    <p:sldId id="858" r:id="rId11"/>
    <p:sldId id="833" r:id="rId12"/>
    <p:sldId id="839" r:id="rId13"/>
    <p:sldId id="840" r:id="rId14"/>
    <p:sldId id="841" r:id="rId15"/>
    <p:sldId id="865" r:id="rId16"/>
    <p:sldId id="866" r:id="rId17"/>
    <p:sldId id="867" r:id="rId18"/>
    <p:sldId id="846" r:id="rId19"/>
    <p:sldId id="863" r:id="rId20"/>
    <p:sldId id="864" r:id="rId21"/>
    <p:sldId id="862" r:id="rId22"/>
    <p:sldId id="850" r:id="rId23"/>
    <p:sldId id="851" r:id="rId24"/>
    <p:sldId id="817" r:id="rId25"/>
    <p:sldId id="818" r:id="rId26"/>
    <p:sldId id="707" r:id="rId27"/>
    <p:sldId id="7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0000FF"/>
    <a:srgbClr val="FF3300"/>
    <a:srgbClr val="F9F9F9"/>
    <a:srgbClr val="FF5A33"/>
    <a:srgbClr val="5C0000"/>
    <a:srgbClr val="FF9900"/>
    <a:srgbClr val="FFD1D1"/>
    <a:srgbClr val="FFB9B9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364" autoAdjust="0"/>
  </p:normalViewPr>
  <p:slideViewPr>
    <p:cSldViewPr>
      <p:cViewPr varScale="1">
        <p:scale>
          <a:sx n="88" d="100"/>
          <a:sy n="88" d="100"/>
        </p:scale>
        <p:origin x="69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EE1EE2F0-59E4-4602-AA67-BA6EBD73A1CB}"/>
              </a:ext>
            </a:extLst>
          </p:cNvPr>
          <p:cNvGrpSpPr/>
          <p:nvPr userDrawn="1"/>
        </p:nvGrpSpPr>
        <p:grpSpPr>
          <a:xfrm>
            <a:off x="381000" y="117025"/>
            <a:ext cx="4775200" cy="1828800"/>
            <a:chOff x="457200" y="457200"/>
            <a:chExt cx="3581400" cy="137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7EA993B7-8979-47E1-88DF-A0445F6965F8}"/>
                </a:ext>
              </a:extLst>
            </p:cNvPr>
            <p:cNvSpPr/>
            <p:nvPr userDrawn="1"/>
          </p:nvSpPr>
          <p:spPr>
            <a:xfrm>
              <a:off x="457200" y="609600"/>
              <a:ext cx="3581400" cy="1219200"/>
            </a:xfrm>
            <a:prstGeom prst="rect">
              <a:avLst/>
            </a:prstGeom>
            <a:solidFill>
              <a:srgbClr val="F26522"/>
            </a:solidFill>
            <a:ln>
              <a:solidFill>
                <a:srgbClr val="F265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0FB16836-C66B-4FAD-9EE8-C898ADFF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457200"/>
              <a:ext cx="2787037" cy="121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5759003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7.1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err="1"/>
              <a:t>JpaRepository</a:t>
            </a:r>
            <a:r>
              <a:rPr lang="en-US" dirty="0"/>
              <a:t> API - @Query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  <p:sp>
        <p:nvSpPr>
          <p:cNvPr id="9" name="Oval Callout 8"/>
          <p:cNvSpPr/>
          <p:nvPr/>
        </p:nvSpPr>
        <p:spPr>
          <a:xfrm>
            <a:off x="3584867" y="1686082"/>
            <a:ext cx="1066234" cy="943930"/>
          </a:xfrm>
          <a:prstGeom prst="wedgeEllipseCallout">
            <a:avLst>
              <a:gd name="adj1" fmla="val -51859"/>
              <a:gd name="adj2" fmla="val 67085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400" b="1" dirty="0">
                <a:ln/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140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9162"/>
            <a:ext cx="8991600" cy="57102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I: T</a:t>
            </a: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ruy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 tùy biến với @</a:t>
            </a: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thiệu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@Query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Tham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truy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Tùy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biến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Sắp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xếp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Truy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tổng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hợp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II: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NamedQuery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Truy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thù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với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SQL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Ngôn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ngữ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DSL 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(Domain Specific Language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pic>
        <p:nvPicPr>
          <p:cNvPr id="5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095849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828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@</a:t>
            </a:r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Query Introduction</a:t>
            </a:r>
            <a:endParaRPr lang="en-US" sz="48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300590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nâng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JpaRepository</a:t>
            </a:r>
            <a:r>
              <a:rPr lang="en-US" dirty="0"/>
              <a:t> </a:t>
            </a:r>
            <a:r>
              <a:rPr lang="en-US" dirty="0" smtClean="0"/>
              <a:t>API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thao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phong</a:t>
            </a:r>
            <a:r>
              <a:rPr lang="en-US" dirty="0" smtClean="0"/>
              <a:t> </a:t>
            </a:r>
            <a:r>
              <a:rPr lang="en-US" dirty="0" err="1" smtClean="0"/>
              <a:t>phú</a:t>
            </a:r>
            <a:r>
              <a:rPr lang="en-US" dirty="0" smtClean="0"/>
              <a:t>. </a:t>
            </a:r>
            <a:r>
              <a:rPr lang="en-US" dirty="0" err="1" smtClean="0"/>
              <a:t>Tuy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tế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phạm</a:t>
            </a:r>
            <a:r>
              <a:rPr lang="en-US" dirty="0" smtClean="0"/>
              <a:t> vi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(</a:t>
            </a:r>
            <a:r>
              <a:rPr lang="en-US" dirty="0" err="1" smtClean="0"/>
              <a:t>từ</a:t>
            </a:r>
            <a:r>
              <a:rPr lang="en-US" dirty="0" smtClean="0"/>
              <a:t> min </a:t>
            </a:r>
            <a:r>
              <a:rPr lang="en-US" dirty="0" err="1" smtClean="0"/>
              <a:t>đến</a:t>
            </a:r>
            <a:r>
              <a:rPr lang="en-US" dirty="0" smtClean="0"/>
              <a:t> max).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JpaRepository</a:t>
            </a:r>
            <a:r>
              <a:rPr lang="en-US" dirty="0" smtClean="0"/>
              <a:t>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Để</a:t>
            </a:r>
            <a:r>
              <a:rPr lang="en-US" dirty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cường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, </a:t>
            </a:r>
            <a:r>
              <a:rPr lang="en-US" dirty="0" err="1" smtClean="0"/>
              <a:t>JpaRepository</a:t>
            </a:r>
            <a:r>
              <a:rPr lang="en-US" dirty="0" smtClean="0"/>
              <a:t>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2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endParaRPr lang="en-US" dirty="0" smtClean="0"/>
          </a:p>
          <a:p>
            <a:pPr lvl="1"/>
            <a:r>
              <a:rPr lang="en-US" dirty="0" smtClean="0"/>
              <a:t>@Query</a:t>
            </a:r>
          </a:p>
          <a:p>
            <a:pPr lvl="1"/>
            <a:r>
              <a:rPr lang="en-US" dirty="0" smtClean="0"/>
              <a:t>DSL (Domain Specific Language)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4877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@Query </a:t>
            </a:r>
            <a:r>
              <a:rPr lang="en-US" dirty="0" err="1" smtClean="0"/>
              <a:t>và</a:t>
            </a:r>
            <a:r>
              <a:rPr lang="en-US" dirty="0" smtClean="0"/>
              <a:t> DSL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1110803"/>
          </a:xfrm>
        </p:spPr>
        <p:txBody>
          <a:bodyPr/>
          <a:lstStyle/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@Query </a:t>
            </a:r>
            <a:r>
              <a:rPr lang="en-US" dirty="0" err="1" smtClean="0"/>
              <a:t>và</a:t>
            </a:r>
            <a:r>
              <a:rPr lang="en-US" dirty="0" smtClean="0"/>
              <a:t> DSL qua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“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khoản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min </a:t>
            </a:r>
            <a:r>
              <a:rPr lang="en-US" dirty="0" err="1" smtClean="0"/>
              <a:t>đến</a:t>
            </a:r>
            <a:r>
              <a:rPr lang="en-US" dirty="0" smtClean="0"/>
              <a:t> max”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49" y="2037806"/>
            <a:ext cx="10535194" cy="24809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4518760"/>
            <a:ext cx="10972800" cy="1926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Cả</a:t>
            </a:r>
            <a:r>
              <a:rPr lang="en-US" dirty="0" smtClean="0"/>
              <a:t> 2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vào</a:t>
            </a:r>
            <a:r>
              <a:rPr lang="en-US" dirty="0" smtClean="0"/>
              <a:t> DAO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1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ở </a:t>
            </a:r>
            <a:r>
              <a:rPr lang="en-US" dirty="0" err="1" smtClean="0"/>
              <a:t>trên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findByUnitPrice</a:t>
            </a:r>
            <a:r>
              <a:rPr lang="en-US" dirty="0" smtClean="0"/>
              <a:t>()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JPQL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b="1" i="1" dirty="0" smtClean="0"/>
              <a:t>@Query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pPr lvl="1"/>
            <a:r>
              <a:rPr lang="en-US" dirty="0" err="1" smtClean="0"/>
              <a:t>findBy</a:t>
            </a:r>
            <a:r>
              <a:rPr lang="en-US" b="1" i="1" dirty="0" err="1" smtClean="0">
                <a:solidFill>
                  <a:srgbClr val="FF0000"/>
                </a:solidFill>
              </a:rPr>
              <a:t>UnitPriceBetween</a:t>
            </a:r>
            <a:r>
              <a:rPr lang="en-US" dirty="0" smtClean="0"/>
              <a:t>()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70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@Query(value, name, nativeQuery)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3473003"/>
          </a:xfrm>
        </p:spPr>
        <p:txBody>
          <a:bodyPr>
            <a:normAutofit/>
          </a:bodyPr>
          <a:lstStyle/>
          <a:p>
            <a:r>
              <a:rPr lang="en-US" dirty="0" smtClean="0"/>
              <a:t>@Query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chú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1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Value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JPQL </a:t>
            </a:r>
            <a:r>
              <a:rPr lang="en-US" dirty="0" err="1" smtClean="0"/>
              <a:t>hoặc</a:t>
            </a:r>
            <a:r>
              <a:rPr lang="en-US" dirty="0" smtClean="0"/>
              <a:t> SQL (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nativeQuery</a:t>
            </a:r>
            <a:r>
              <a:rPr lang="en-US" dirty="0" smtClean="0"/>
              <a:t>=true)</a:t>
            </a:r>
          </a:p>
          <a:p>
            <a:pPr lvl="1"/>
            <a:r>
              <a:rPr lang="en-US" dirty="0" smtClean="0"/>
              <a:t>Name: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@</a:t>
            </a:r>
            <a:r>
              <a:rPr lang="en-US" dirty="0" err="1" smtClean="0"/>
              <a:t>NamedQuery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entity</a:t>
            </a:r>
          </a:p>
          <a:p>
            <a:pPr lvl="1"/>
            <a:r>
              <a:rPr lang="en-US" i="1" dirty="0" err="1" smtClean="0">
                <a:solidFill>
                  <a:srgbClr val="FF0000"/>
                </a:solidFill>
              </a:rPr>
              <a:t>Chú</a:t>
            </a:r>
            <a:r>
              <a:rPr lang="en-US" i="1" dirty="0" smtClean="0">
                <a:solidFill>
                  <a:srgbClr val="FF0000"/>
                </a:solidFill>
              </a:rPr>
              <a:t> ý: value </a:t>
            </a:r>
            <a:r>
              <a:rPr lang="en-US" i="1" dirty="0" err="1" smtClean="0">
                <a:solidFill>
                  <a:srgbClr val="FF0000"/>
                </a:solidFill>
              </a:rPr>
              <a:t>và</a:t>
            </a:r>
            <a:r>
              <a:rPr lang="en-US" i="1" dirty="0" smtClean="0">
                <a:solidFill>
                  <a:srgbClr val="FF0000"/>
                </a:solidFill>
              </a:rPr>
              <a:t> name </a:t>
            </a:r>
            <a:r>
              <a:rPr lang="en-US" i="1" dirty="0" err="1" smtClean="0">
                <a:solidFill>
                  <a:srgbClr val="FF0000"/>
                </a:solidFill>
              </a:rPr>
              <a:t>không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thể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xuất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hiện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đồng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thời</a:t>
            </a:r>
            <a:endParaRPr lang="en-US" i="1" dirty="0" smtClean="0">
              <a:solidFill>
                <a:srgbClr val="FF0000"/>
              </a:solidFill>
            </a:endParaRPr>
          </a:p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&gt; 5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93" y="4419600"/>
            <a:ext cx="10563308" cy="19656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60393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@Query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577403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@Query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JpaRepository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523999"/>
            <a:ext cx="10972801" cy="487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94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@Query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90600"/>
            <a:ext cx="8995067" cy="11680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09800"/>
            <a:ext cx="8128934" cy="35757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3400" y="990599"/>
            <a:ext cx="8995066" cy="116808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42109" y="2209799"/>
            <a:ext cx="8995066" cy="357577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749" y="5212049"/>
            <a:ext cx="9087651" cy="15020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94748" y="5212049"/>
            <a:ext cx="9087651" cy="15020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49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JPQL Parameters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113062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JPQL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2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lvl="1"/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: </a:t>
            </a:r>
            <a:r>
              <a:rPr lang="en-US" dirty="0"/>
              <a:t>FROM Product o WHERE </a:t>
            </a:r>
            <a:r>
              <a:rPr lang="en-US" dirty="0" err="1"/>
              <a:t>o.unitPrice</a:t>
            </a:r>
            <a:r>
              <a:rPr lang="en-US" dirty="0"/>
              <a:t> BETWEEN </a:t>
            </a:r>
            <a:r>
              <a:rPr lang="en-US" dirty="0">
                <a:solidFill>
                  <a:srgbClr val="FF0000"/>
                </a:solidFill>
              </a:rPr>
              <a:t>?1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?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</a:p>
          <a:p>
            <a:pPr lvl="1"/>
            <a:r>
              <a:rPr lang="en-US" dirty="0" err="1" smtClean="0"/>
              <a:t>Tên</a:t>
            </a:r>
            <a:r>
              <a:rPr lang="en-US" dirty="0" smtClean="0"/>
              <a:t>: </a:t>
            </a:r>
            <a:r>
              <a:rPr lang="en-US" dirty="0"/>
              <a:t>FROM Product o WHERE </a:t>
            </a:r>
            <a:r>
              <a:rPr lang="en-US" dirty="0" err="1"/>
              <a:t>o.unitPrice</a:t>
            </a:r>
            <a:r>
              <a:rPr lang="en-US" dirty="0"/>
              <a:t> BETWEEN </a:t>
            </a:r>
            <a:r>
              <a:rPr lang="en-US" dirty="0" smtClean="0">
                <a:solidFill>
                  <a:srgbClr val="FF0000"/>
                </a:solidFill>
              </a:rPr>
              <a:t>:min </a:t>
            </a:r>
            <a:r>
              <a:rPr lang="en-US" dirty="0"/>
              <a:t>AND </a:t>
            </a:r>
            <a:r>
              <a:rPr lang="en-US" dirty="0" smtClean="0">
                <a:solidFill>
                  <a:srgbClr val="FF0000"/>
                </a:solidFill>
              </a:rPr>
              <a:t>:max</a:t>
            </a:r>
          </a:p>
          <a:p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77" y="3047999"/>
            <a:ext cx="10970623" cy="275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27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cs typeface="Calibri" panose="020F0502020204030204" pitchFamily="34" charset="0"/>
              </a:rPr>
              <a:t>FROM </a:t>
            </a:r>
            <a:r>
              <a:rPr lang="en-US" dirty="0">
                <a:cs typeface="Calibri" panose="020F0502020204030204" pitchFamily="34" charset="0"/>
              </a:rPr>
              <a:t>Product p WHERE p.name LIKE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?1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cs typeface="Calibri" panose="020F0502020204030204" pitchFamily="34" charset="0"/>
              </a:rPr>
              <a:t>List&lt;Product&gt;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findByKeyword</a:t>
            </a:r>
            <a:r>
              <a:rPr lang="en-US" dirty="0">
                <a:cs typeface="Calibri" panose="020F0502020204030204" pitchFamily="34" charset="0"/>
              </a:rPr>
              <a:t>(String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keyword</a:t>
            </a:r>
            <a:r>
              <a:rPr lang="en-US" dirty="0">
                <a:cs typeface="Calibri" panose="020F0502020204030204" pitchFamily="34" charset="0"/>
              </a:rPr>
              <a:t>)</a:t>
            </a:r>
          </a:p>
          <a:p>
            <a:r>
              <a:rPr lang="en-US" dirty="0" smtClean="0">
                <a:cs typeface="Calibri" panose="020F0502020204030204" pitchFamily="34" charset="0"/>
              </a:rPr>
              <a:t>FROM </a:t>
            </a:r>
            <a:r>
              <a:rPr lang="en-US" dirty="0">
                <a:cs typeface="Calibri" panose="020F0502020204030204" pitchFamily="34" charset="0"/>
              </a:rPr>
              <a:t>Product p WHERE p.name LIKE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:keyword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cs typeface="Calibri" panose="020F0502020204030204" pitchFamily="34" charset="0"/>
              </a:rPr>
              <a:t>List&lt;Product&gt; </a:t>
            </a:r>
            <a:r>
              <a:rPr lang="en-US" dirty="0" err="1">
                <a:cs typeface="Calibri" panose="020F0502020204030204" pitchFamily="34" charset="0"/>
              </a:rPr>
              <a:t>findByKeyword</a:t>
            </a:r>
            <a:r>
              <a:rPr lang="en-US" dirty="0">
                <a:cs typeface="Calibri" panose="020F0502020204030204" pitchFamily="34" charset="0"/>
              </a:rPr>
              <a:t>(@</a:t>
            </a:r>
            <a:r>
              <a:rPr lang="en-US" dirty="0" err="1">
                <a:cs typeface="Calibri" panose="020F0502020204030204" pitchFamily="34" charset="0"/>
              </a:rPr>
              <a:t>Param</a:t>
            </a:r>
            <a:r>
              <a:rPr lang="en-US" dirty="0">
                <a:cs typeface="Calibri" panose="020F0502020204030204" pitchFamily="34" charset="0"/>
              </a:rPr>
              <a:t>(“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keyword</a:t>
            </a:r>
            <a:r>
              <a:rPr lang="en-US" dirty="0">
                <a:cs typeface="Calibri" panose="020F0502020204030204" pitchFamily="34" charset="0"/>
              </a:rPr>
              <a:t>”) String keyword)</a:t>
            </a:r>
          </a:p>
          <a:p>
            <a:r>
              <a:rPr lang="en-US" dirty="0" smtClean="0">
                <a:cs typeface="Calibri" panose="020F0502020204030204" pitchFamily="34" charset="0"/>
              </a:rPr>
              <a:t>FROM </a:t>
            </a:r>
            <a:r>
              <a:rPr lang="en-US" dirty="0">
                <a:cs typeface="Calibri" panose="020F0502020204030204" pitchFamily="34" charset="0"/>
              </a:rPr>
              <a:t>Product p WHERE </a:t>
            </a:r>
            <a:r>
              <a:rPr lang="en-US" dirty="0" err="1">
                <a:cs typeface="Calibri" panose="020F0502020204030204" pitchFamily="34" charset="0"/>
              </a:rPr>
              <a:t>p.price</a:t>
            </a:r>
            <a:r>
              <a:rPr lang="en-US" dirty="0">
                <a:cs typeface="Calibri" panose="020F0502020204030204" pitchFamily="34" charset="0"/>
              </a:rPr>
              <a:t> BETWEEN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?1 </a:t>
            </a:r>
            <a:r>
              <a:rPr lang="en-US" dirty="0">
                <a:cs typeface="Calibri" panose="020F0502020204030204" pitchFamily="34" charset="0"/>
              </a:rPr>
              <a:t>AND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?2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cs typeface="Calibri" panose="020F0502020204030204" pitchFamily="34" charset="0"/>
              </a:rPr>
              <a:t>List&lt;Product&gt; </a:t>
            </a:r>
            <a:r>
              <a:rPr lang="en-US" dirty="0" err="1">
                <a:cs typeface="Calibri" panose="020F0502020204030204" pitchFamily="34" charset="0"/>
              </a:rPr>
              <a:t>findByPrice</a:t>
            </a:r>
            <a:r>
              <a:rPr lang="en-US" dirty="0">
                <a:cs typeface="Calibri" panose="020F0502020204030204" pitchFamily="34" charset="0"/>
              </a:rPr>
              <a:t>(double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min</a:t>
            </a:r>
            <a:r>
              <a:rPr lang="en-US" dirty="0">
                <a:cs typeface="Calibri" panose="020F0502020204030204" pitchFamily="34" charset="0"/>
              </a:rPr>
              <a:t>, double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max</a:t>
            </a:r>
            <a:r>
              <a:rPr lang="en-US" dirty="0">
                <a:cs typeface="Calibri" panose="020F0502020204030204" pitchFamily="34" charset="0"/>
              </a:rPr>
              <a:t>)</a:t>
            </a:r>
          </a:p>
          <a:p>
            <a:r>
              <a:rPr lang="en-US" dirty="0" smtClean="0">
                <a:cs typeface="Calibri" panose="020F0502020204030204" pitchFamily="34" charset="0"/>
              </a:rPr>
              <a:t>FROM </a:t>
            </a:r>
            <a:r>
              <a:rPr lang="en-US" dirty="0">
                <a:cs typeface="Calibri" panose="020F0502020204030204" pitchFamily="34" charset="0"/>
              </a:rPr>
              <a:t>Product p WHERE </a:t>
            </a:r>
            <a:r>
              <a:rPr lang="en-US" dirty="0" err="1">
                <a:cs typeface="Calibri" panose="020F0502020204030204" pitchFamily="34" charset="0"/>
              </a:rPr>
              <a:t>p.price</a:t>
            </a:r>
            <a:r>
              <a:rPr lang="en-US" dirty="0">
                <a:cs typeface="Calibri" panose="020F0502020204030204" pitchFamily="34" charset="0"/>
              </a:rPr>
              <a:t> BETWEEN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:min </a:t>
            </a:r>
            <a:r>
              <a:rPr lang="en-US" dirty="0">
                <a:cs typeface="Calibri" panose="020F0502020204030204" pitchFamily="34" charset="0"/>
              </a:rPr>
              <a:t>AND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:max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cs typeface="Calibri" panose="020F0502020204030204" pitchFamily="34" charset="0"/>
              </a:rPr>
              <a:t>List&lt;Product&gt; </a:t>
            </a:r>
            <a:r>
              <a:rPr lang="en-US" dirty="0" err="1">
                <a:cs typeface="Calibri" panose="020F0502020204030204" pitchFamily="34" charset="0"/>
              </a:rPr>
              <a:t>findByPrice</a:t>
            </a:r>
            <a:r>
              <a:rPr lang="en-US" dirty="0">
                <a:cs typeface="Calibri" panose="020F0502020204030204" pitchFamily="34" charset="0"/>
              </a:rPr>
              <a:t>(@</a:t>
            </a:r>
            <a:r>
              <a:rPr lang="en-US" dirty="0" err="1">
                <a:cs typeface="Calibri" panose="020F0502020204030204" pitchFamily="34" charset="0"/>
              </a:rPr>
              <a:t>Param</a:t>
            </a:r>
            <a:r>
              <a:rPr lang="en-US" dirty="0">
                <a:cs typeface="Calibri" panose="020F0502020204030204" pitchFamily="34" charset="0"/>
              </a:rPr>
              <a:t>(“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min</a:t>
            </a:r>
            <a:r>
              <a:rPr lang="en-US" dirty="0">
                <a:cs typeface="Calibri" panose="020F0502020204030204" pitchFamily="34" charset="0"/>
              </a:rPr>
              <a:t>”)double min, @</a:t>
            </a:r>
            <a:r>
              <a:rPr lang="en-US" dirty="0" err="1">
                <a:cs typeface="Calibri" panose="020F0502020204030204" pitchFamily="34" charset="0"/>
              </a:rPr>
              <a:t>Param</a:t>
            </a:r>
            <a:r>
              <a:rPr lang="en-US" dirty="0">
                <a:cs typeface="Calibri" panose="020F0502020204030204" pitchFamily="34" charset="0"/>
              </a:rPr>
              <a:t>(“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max</a:t>
            </a:r>
            <a:r>
              <a:rPr lang="en-US" dirty="0">
                <a:cs typeface="Calibri" panose="020F0502020204030204" pitchFamily="34" charset="0"/>
              </a:rPr>
              <a:t>”)double max)</a:t>
            </a:r>
          </a:p>
          <a:p>
            <a:r>
              <a:rPr lang="en-US" dirty="0" smtClean="0">
                <a:cs typeface="Calibri" panose="020F0502020204030204" pitchFamily="34" charset="0"/>
              </a:rPr>
              <a:t>SELECT p.name </a:t>
            </a:r>
            <a:r>
              <a:rPr lang="en-US" dirty="0">
                <a:cs typeface="Calibri" panose="020F0502020204030204" pitchFamily="34" charset="0"/>
              </a:rPr>
              <a:t>FROM Product p WHERE </a:t>
            </a:r>
            <a:r>
              <a:rPr lang="en-US" dirty="0" err="1">
                <a:cs typeface="Calibri" panose="020F0502020204030204" pitchFamily="34" charset="0"/>
              </a:rPr>
              <a:t>p.price</a:t>
            </a:r>
            <a:r>
              <a:rPr lang="en-US" dirty="0">
                <a:cs typeface="Calibri" panose="020F0502020204030204" pitchFamily="34" charset="0"/>
              </a:rPr>
              <a:t> BETWEEN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?1 </a:t>
            </a:r>
            <a:r>
              <a:rPr lang="en-US" dirty="0">
                <a:cs typeface="Calibri" panose="020F0502020204030204" pitchFamily="34" charset="0"/>
              </a:rPr>
              <a:t>AND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?2</a:t>
            </a:r>
          </a:p>
          <a:p>
            <a:pPr lvl="1"/>
            <a:r>
              <a:rPr lang="en-US" b="1" dirty="0">
                <a:solidFill>
                  <a:srgbClr val="C00000"/>
                </a:solidFill>
                <a:cs typeface="Calibri" panose="020F0502020204030204" pitchFamily="34" charset="0"/>
              </a:rPr>
              <a:t>List&lt;String&gt; </a:t>
            </a:r>
            <a:r>
              <a:rPr lang="en-US" dirty="0" err="1">
                <a:cs typeface="Calibri" panose="020F0502020204030204" pitchFamily="34" charset="0"/>
              </a:rPr>
              <a:t>findNamesByPrice</a:t>
            </a:r>
            <a:r>
              <a:rPr lang="en-US" dirty="0">
                <a:cs typeface="Calibri" panose="020F0502020204030204" pitchFamily="34" charset="0"/>
              </a:rPr>
              <a:t>(double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min</a:t>
            </a:r>
            <a:r>
              <a:rPr lang="en-US" dirty="0">
                <a:cs typeface="Calibri" panose="020F0502020204030204" pitchFamily="34" charset="0"/>
              </a:rPr>
              <a:t>, double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max</a:t>
            </a:r>
            <a:r>
              <a:rPr lang="en-US" dirty="0">
                <a:cs typeface="Calibri" panose="020F0502020204030204" pitchFamily="34" charset="0"/>
              </a:rPr>
              <a:t>)</a:t>
            </a:r>
          </a:p>
          <a:p>
            <a:r>
              <a:rPr lang="en-US" dirty="0">
                <a:cs typeface="Calibri" panose="020F0502020204030204" pitchFamily="34" charset="0"/>
              </a:rPr>
              <a:t>SELECT </a:t>
            </a:r>
            <a:r>
              <a:rPr lang="en-US" dirty="0" smtClean="0">
                <a:cs typeface="Calibri" panose="020F0502020204030204" pitchFamily="34" charset="0"/>
              </a:rPr>
              <a:t>min(</a:t>
            </a:r>
            <a:r>
              <a:rPr lang="en-US" dirty="0" err="1" smtClean="0">
                <a:cs typeface="Calibri" panose="020F0502020204030204" pitchFamily="34" charset="0"/>
              </a:rPr>
              <a:t>p.price</a:t>
            </a:r>
            <a:r>
              <a:rPr lang="en-US" dirty="0" smtClean="0">
                <a:cs typeface="Calibri" panose="020F0502020204030204" pitchFamily="34" charset="0"/>
              </a:rPr>
              <a:t>) </a:t>
            </a:r>
            <a:r>
              <a:rPr lang="en-US" dirty="0">
                <a:cs typeface="Calibri" panose="020F0502020204030204" pitchFamily="34" charset="0"/>
              </a:rPr>
              <a:t>FROM Product p WHERE </a:t>
            </a:r>
            <a:r>
              <a:rPr lang="en-US" dirty="0" err="1">
                <a:cs typeface="Calibri" panose="020F0502020204030204" pitchFamily="34" charset="0"/>
              </a:rPr>
              <a:t>p.price</a:t>
            </a:r>
            <a:r>
              <a:rPr lang="en-US" dirty="0">
                <a:cs typeface="Calibri" panose="020F0502020204030204" pitchFamily="34" charset="0"/>
              </a:rPr>
              <a:t> BETWEEN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?1 </a:t>
            </a:r>
            <a:r>
              <a:rPr lang="en-US" dirty="0">
                <a:cs typeface="Calibri" panose="020F0502020204030204" pitchFamily="34" charset="0"/>
              </a:rPr>
              <a:t>AND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?2</a:t>
            </a:r>
          </a:p>
          <a:p>
            <a:pPr lvl="1"/>
            <a:r>
              <a:rPr lang="en-US" b="1" dirty="0">
                <a:solidFill>
                  <a:srgbClr val="C00000"/>
                </a:solidFill>
                <a:cs typeface="Calibri" panose="020F0502020204030204" pitchFamily="34" charset="0"/>
              </a:rPr>
              <a:t>double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findMin</a:t>
            </a:r>
            <a:r>
              <a:rPr lang="en-US" dirty="0">
                <a:cs typeface="Calibri" panose="020F0502020204030204" pitchFamily="34" charset="0"/>
              </a:rPr>
              <a:t>(double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min</a:t>
            </a:r>
            <a:r>
              <a:rPr lang="en-US" dirty="0">
                <a:cs typeface="Calibri" panose="020F0502020204030204" pitchFamily="34" charset="0"/>
              </a:rPr>
              <a:t>, double </a:t>
            </a:r>
            <a:r>
              <a:rPr lang="en-US" b="1" dirty="0">
                <a:solidFill>
                  <a:srgbClr val="0000FF"/>
                </a:solidFill>
                <a:cs typeface="Calibri" panose="020F0502020204030204" pitchFamily="34" charset="0"/>
              </a:rPr>
              <a:t>max</a:t>
            </a:r>
            <a:r>
              <a:rPr lang="en-US" dirty="0">
                <a:cs typeface="Calibri" panose="020F0502020204030204" pitchFamily="34" charset="0"/>
              </a:rPr>
              <a:t>)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pPr lvl="1"/>
            <a:endParaRPr lang="en-US" dirty="0">
              <a:cs typeface="Calibri" panose="020F0502020204030204" pitchFamily="34" charset="0"/>
            </a:endParaRPr>
          </a:p>
          <a:p>
            <a:endParaRPr lang="en-US" dirty="0">
              <a:cs typeface="Calibri" panose="020F0502020204030204" pitchFamily="34" charset="0"/>
            </a:endParaRPr>
          </a:p>
          <a:p>
            <a:endParaRPr lang="en-US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25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Tùy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biến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sắp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xếp</a:t>
            </a:r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và</a:t>
            </a:r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phân</a:t>
            </a:r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trang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03388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có sắp xếp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JPQL </a:t>
            </a:r>
            <a:r>
              <a:rPr lang="en-US" dirty="0" err="1" smtClean="0"/>
              <a:t>hỗ</a:t>
            </a:r>
            <a:r>
              <a:rPr lang="en-US" dirty="0" smtClean="0"/>
              <a:t> </a:t>
            </a:r>
            <a:r>
              <a:rPr lang="en-US" dirty="0" err="1" smtClean="0"/>
              <a:t>trợ</a:t>
            </a:r>
            <a:r>
              <a:rPr lang="en-US" dirty="0" smtClean="0"/>
              <a:t> </a:t>
            </a:r>
            <a:r>
              <a:rPr lang="en-US" dirty="0" err="1" smtClean="0"/>
              <a:t>mệnh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ORDER BY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endParaRPr lang="en-US" dirty="0" smtClean="0"/>
          </a:p>
          <a:p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ý </a:t>
            </a:r>
            <a:r>
              <a:rPr lang="en-US" dirty="0" err="1" smtClean="0"/>
              <a:t>riêng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Sort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2961564"/>
            <a:ext cx="10708043" cy="199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9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có phân trang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endParaRPr lang="en-US" dirty="0" smtClean="0"/>
          </a:p>
          <a:p>
            <a:pPr lvl="1"/>
            <a:r>
              <a:rPr lang="en-US" dirty="0" smtClean="0"/>
              <a:t>1. </a:t>
            </a:r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Pageable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endParaRPr lang="en-US" dirty="0"/>
          </a:p>
          <a:p>
            <a:pPr lvl="1"/>
            <a:r>
              <a:rPr lang="en-US" dirty="0" smtClean="0"/>
              <a:t>2.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Page&lt;T&gt;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r>
              <a:rPr lang="en-US" dirty="0" err="1" smtClean="0"/>
              <a:t>Tiêm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Spring Bean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 lvl="1"/>
            <a:r>
              <a:rPr lang="en-US" dirty="0" smtClean="0"/>
              <a:t>Page&lt;Product&gt; page = </a:t>
            </a:r>
            <a:r>
              <a:rPr lang="en-US" dirty="0" err="1" smtClean="0"/>
              <a:t>dao.findByUnitPrice</a:t>
            </a:r>
            <a:r>
              <a:rPr lang="en-US" dirty="0" smtClean="0"/>
              <a:t>(5.0, 9.5, </a:t>
            </a:r>
            <a:r>
              <a:rPr lang="en-US" dirty="0" err="1" smtClean="0"/>
              <a:t>PageRequest.of</a:t>
            </a:r>
            <a:r>
              <a:rPr lang="en-US" dirty="0" smtClean="0"/>
              <a:t>(1, 8));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38400"/>
            <a:ext cx="10972800" cy="9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7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Truy</a:t>
            </a:r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vấn</a:t>
            </a:r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tổng</a:t>
            </a:r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hợp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283771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OrderDetail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 err="1" smtClean="0"/>
              <a:t>Chúng</a:t>
            </a:r>
            <a:r>
              <a:rPr lang="en-US" dirty="0" smtClean="0"/>
              <a:t> </a:t>
            </a:r>
            <a:r>
              <a:rPr lang="en-US" dirty="0"/>
              <a:t>ta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JPQL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SELECT </a:t>
            </a:r>
            <a:r>
              <a:rPr lang="en-US" dirty="0" err="1">
                <a:solidFill>
                  <a:srgbClr val="FF0000"/>
                </a:solidFill>
              </a:rPr>
              <a:t>d.product.category</a:t>
            </a:r>
            <a:r>
              <a:rPr lang="en-US" dirty="0">
                <a:solidFill>
                  <a:srgbClr val="FF0000"/>
                </a:solidFill>
              </a:rPr>
              <a:t>,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sum(</a:t>
            </a:r>
            <a:r>
              <a:rPr lang="en-US" dirty="0" err="1" smtClean="0">
                <a:solidFill>
                  <a:srgbClr val="FF0000"/>
                </a:solidFill>
              </a:rPr>
              <a:t>d.unitPrice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* </a:t>
            </a:r>
            <a:r>
              <a:rPr lang="en-US" dirty="0" err="1">
                <a:solidFill>
                  <a:srgbClr val="FF0000"/>
                </a:solidFill>
              </a:rPr>
              <a:t>d.quantity</a:t>
            </a:r>
            <a:r>
              <a:rPr lang="en-US" dirty="0">
                <a:solidFill>
                  <a:srgbClr val="FF0000"/>
                </a:solidFill>
              </a:rPr>
              <a:t>),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sum(</a:t>
            </a:r>
            <a:r>
              <a:rPr lang="en-US" dirty="0" err="1" smtClean="0">
                <a:solidFill>
                  <a:srgbClr val="FF0000"/>
                </a:solidFill>
              </a:rPr>
              <a:t>d.quantity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FROM </a:t>
            </a:r>
            <a:r>
              <a:rPr lang="en-US" dirty="0" err="1">
                <a:solidFill>
                  <a:srgbClr val="FF0000"/>
                </a:solidFill>
              </a:rPr>
              <a:t>OrderDetail</a:t>
            </a:r>
            <a:r>
              <a:rPr lang="en-US" dirty="0">
                <a:solidFill>
                  <a:srgbClr val="FF0000"/>
                </a:solidFill>
              </a:rPr>
              <a:t> d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GROUP BY </a:t>
            </a:r>
            <a:r>
              <a:rPr lang="en-US" dirty="0" err="1">
                <a:solidFill>
                  <a:srgbClr val="FF0000"/>
                </a:solidFill>
              </a:rPr>
              <a:t>d.product.category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List&lt;Object[]&gt;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List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[Category, Double, Long]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428508" y="1905000"/>
          <a:ext cx="812799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xmlns="" val="16399610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24649664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3970531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cap="small" dirty="0" err="1">
                          <a:latin typeface="Cambria" panose="02040503050406030204" pitchFamily="18" charset="0"/>
                        </a:rPr>
                        <a:t>Loại</a:t>
                      </a:r>
                      <a:r>
                        <a:rPr lang="en-US" sz="2000" cap="small" baseline="0" dirty="0"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sz="2000" cap="small" baseline="0" dirty="0" err="1">
                          <a:latin typeface="Cambria" panose="02040503050406030204" pitchFamily="18" charset="0"/>
                        </a:rPr>
                        <a:t>hàng</a:t>
                      </a:r>
                      <a:endParaRPr lang="en-US" sz="2000" cap="small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cap="small" dirty="0" err="1">
                          <a:latin typeface="Cambria" panose="02040503050406030204" pitchFamily="18" charset="0"/>
                        </a:rPr>
                        <a:t>Doanh</a:t>
                      </a:r>
                      <a:r>
                        <a:rPr lang="en-US" sz="2000" cap="small" dirty="0"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sz="2000" cap="small" dirty="0" err="1">
                          <a:latin typeface="Cambria" panose="02040503050406030204" pitchFamily="18" charset="0"/>
                        </a:rPr>
                        <a:t>thu</a:t>
                      </a:r>
                      <a:endParaRPr lang="en-US" sz="2000" cap="small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cap="small" dirty="0" err="1">
                          <a:latin typeface="Cambria" panose="02040503050406030204" pitchFamily="18" charset="0"/>
                        </a:rPr>
                        <a:t>Số</a:t>
                      </a:r>
                      <a:r>
                        <a:rPr lang="en-US" sz="2000" cap="small" baseline="0" dirty="0"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sz="2000" cap="small" baseline="0" dirty="0" err="1">
                          <a:latin typeface="Cambria" panose="02040503050406030204" pitchFamily="18" charset="0"/>
                        </a:rPr>
                        <a:t>lượng</a:t>
                      </a:r>
                      <a:r>
                        <a:rPr lang="en-US" sz="2000" cap="small" baseline="0" dirty="0"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sz="2000" cap="small" baseline="0" dirty="0" err="1">
                          <a:latin typeface="Cambria" panose="02040503050406030204" pitchFamily="18" charset="0"/>
                        </a:rPr>
                        <a:t>bán</a:t>
                      </a:r>
                      <a:endParaRPr lang="en-US" sz="2000" cap="small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0842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62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840" y="914400"/>
            <a:ext cx="5792999" cy="23957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391390"/>
            <a:ext cx="7467600" cy="2323610"/>
          </a:xfrm>
          <a:prstGeom prst="rect">
            <a:avLst/>
          </a:prstGeom>
          <a:ln>
            <a:solidFill>
              <a:srgbClr val="9BBB59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501" y="4341890"/>
            <a:ext cx="3797899" cy="1930999"/>
          </a:xfrm>
          <a:prstGeom prst="rect">
            <a:avLst/>
          </a:prstGeom>
          <a:ln>
            <a:solidFill>
              <a:srgbClr val="9BBB5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33400" y="990600"/>
            <a:ext cx="50292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(Category, Amount, Quantity) =&gt;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ẩn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>
            <a:endCxn id="7" idx="2"/>
          </p:cNvCxnSpPr>
          <p:nvPr/>
        </p:nvCxnSpPr>
        <p:spPr>
          <a:xfrm flipH="1" flipV="1">
            <a:off x="3048000" y="2006263"/>
            <a:ext cx="2745840" cy="1029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3400" y="5950803"/>
            <a:ext cx="7086600" cy="707886"/>
          </a:xfrm>
          <a:prstGeom prst="rect">
            <a:avLst/>
          </a:prstGeom>
          <a:noFill/>
          <a:ln>
            <a:solidFill>
              <a:srgbClr val="9BBB59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ReportItem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lang="en-US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endParaRPr lang="en-US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752600" y="5638800"/>
            <a:ext cx="0" cy="312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39400" y="3125456"/>
            <a:ext cx="9396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CÁCH 1: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930255" y="5463570"/>
            <a:ext cx="945002" cy="369332"/>
          </a:xfrm>
          <a:prstGeom prst="rect">
            <a:avLst/>
          </a:prstGeom>
          <a:solidFill>
            <a:schemeClr val="bg1"/>
          </a:solidFill>
          <a:ln>
            <a:solidFill>
              <a:srgbClr val="9BBB59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CÁCH 2: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815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7.2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err="1"/>
              <a:t>JpaRepository</a:t>
            </a:r>
            <a:r>
              <a:rPr lang="en-US" dirty="0"/>
              <a:t> API - DSL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3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71800"/>
            <a:ext cx="10998598" cy="3568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@</a:t>
            </a:r>
            <a:r>
              <a:rPr lang="en-US" dirty="0" err="1"/>
              <a:t>NamedQuery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998598" cy="14478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2971800"/>
            <a:ext cx="10998598" cy="356843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79114"/>
            <a:ext cx="7401958" cy="103837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638800" y="1703293"/>
            <a:ext cx="457200" cy="2487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89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SQL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thù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JpaRepository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SQL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JPQL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: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thêm</a:t>
            </a:r>
            <a:r>
              <a:rPr lang="en-US" dirty="0" smtClean="0"/>
              <a:t> JPQL, </a:t>
            </a:r>
            <a:r>
              <a:rPr lang="en-US" dirty="0" err="1" smtClean="0"/>
              <a:t>tận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sẵn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CSDL</a:t>
            </a:r>
          </a:p>
          <a:p>
            <a:pPr lvl="1"/>
            <a:r>
              <a:rPr lang="en-US" dirty="0" err="1" smtClean="0"/>
              <a:t>Nhược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: </a:t>
            </a:r>
            <a:r>
              <a:rPr lang="en-US" dirty="0" err="1" smtClean="0"/>
              <a:t>Khó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,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SQL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CSDL</a:t>
            </a:r>
          </a:p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 smtClean="0"/>
          </a:p>
          <a:p>
            <a:pPr lvl="1"/>
            <a:r>
              <a:rPr lang="en-US" dirty="0" smtClean="0"/>
              <a:t>@</a:t>
            </a:r>
            <a:r>
              <a:rPr lang="en-US" dirty="0"/>
              <a:t>Query(</a:t>
            </a:r>
            <a:r>
              <a:rPr lang="en-US" b="1" dirty="0"/>
              <a:t>value</a:t>
            </a:r>
            <a:r>
              <a:rPr lang="en-US" dirty="0"/>
              <a:t> = "</a:t>
            </a:r>
            <a:r>
              <a:rPr lang="en-US" dirty="0">
                <a:solidFill>
                  <a:srgbClr val="0000FF"/>
                </a:solidFill>
              </a:rPr>
              <a:t>SELECT * FROM Products WHERE Name LIKE ?1</a:t>
            </a:r>
            <a:r>
              <a:rPr lang="en-US" dirty="0"/>
              <a:t>", </a:t>
            </a:r>
            <a:r>
              <a:rPr lang="en-US" b="1" dirty="0" err="1">
                <a:solidFill>
                  <a:srgbClr val="FF0000"/>
                </a:solidFill>
              </a:rPr>
              <a:t>nativeQuery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true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List&lt;Product&gt; </a:t>
            </a:r>
            <a:r>
              <a:rPr lang="en-US" dirty="0" err="1"/>
              <a:t>findByKeyword</a:t>
            </a:r>
            <a:r>
              <a:rPr lang="en-US" dirty="0"/>
              <a:t>(String keyword);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@Query(value = "</a:t>
            </a:r>
            <a:r>
              <a:rPr lang="en-US" dirty="0">
                <a:solidFill>
                  <a:srgbClr val="0000FF"/>
                </a:solidFill>
              </a:rPr>
              <a:t>SELECT * FROM Products WHERE Price BETWEEN ?1 AND </a:t>
            </a:r>
            <a:r>
              <a:rPr lang="en-US" dirty="0" smtClean="0">
                <a:solidFill>
                  <a:srgbClr val="0000FF"/>
                </a:solidFill>
              </a:rPr>
              <a:t>?2</a:t>
            </a:r>
            <a:r>
              <a:rPr lang="en-US" dirty="0"/>
              <a:t>", </a:t>
            </a:r>
            <a:r>
              <a:rPr lang="en-US" b="1" dirty="0" err="1">
                <a:solidFill>
                  <a:srgbClr val="FF0000"/>
                </a:solidFill>
              </a:rPr>
              <a:t>nativeQuery</a:t>
            </a:r>
            <a:r>
              <a:rPr lang="en-US" b="1" dirty="0">
                <a:solidFill>
                  <a:srgbClr val="FF0000"/>
                </a:solidFill>
              </a:rPr>
              <a:t> = true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List&lt;Product&gt; </a:t>
            </a:r>
            <a:r>
              <a:rPr lang="en-US" dirty="0" err="1"/>
              <a:t>findByPrice</a:t>
            </a:r>
            <a:r>
              <a:rPr lang="en-US" dirty="0"/>
              <a:t>(double min, double max);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@Query(value = "</a:t>
            </a:r>
            <a:r>
              <a:rPr lang="en-US" dirty="0">
                <a:solidFill>
                  <a:srgbClr val="0000FF"/>
                </a:solidFill>
              </a:rPr>
              <a:t>SELECT COUNT(*) FROM Products WHERE Price BETWEEN ?1 AND ? 2</a:t>
            </a:r>
            <a:r>
              <a:rPr lang="en-US" dirty="0"/>
              <a:t>", </a:t>
            </a:r>
            <a:r>
              <a:rPr lang="en-US" b="1" dirty="0" err="1">
                <a:solidFill>
                  <a:srgbClr val="FF0000"/>
                </a:solidFill>
              </a:rPr>
              <a:t>nativeQuery</a:t>
            </a:r>
            <a:r>
              <a:rPr lang="en-US" b="1" dirty="0">
                <a:solidFill>
                  <a:srgbClr val="FF0000"/>
                </a:solidFill>
              </a:rPr>
              <a:t> = true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Long </a:t>
            </a:r>
            <a:r>
              <a:rPr lang="en-US" dirty="0" err="1"/>
              <a:t>countByPrice</a:t>
            </a:r>
            <a:r>
              <a:rPr lang="en-US" dirty="0"/>
              <a:t>(double min, double max);</a:t>
            </a:r>
          </a:p>
        </p:txBody>
      </p:sp>
    </p:spTree>
    <p:extLst>
      <p:ext uri="{BB962C8B-B14F-4D97-AF65-F5344CB8AC3E}">
        <p14:creationId xmlns:p14="http://schemas.microsoft.com/office/powerpoint/2010/main" val="254925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DSL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74731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DSL (Domain Specific Language)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Ngoài</a:t>
            </a:r>
            <a:r>
              <a:rPr lang="en-US" dirty="0"/>
              <a:t> @Query(), </a:t>
            </a:r>
            <a:r>
              <a:rPr lang="en-US" dirty="0" err="1"/>
              <a:t>JpaRepository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JPQL.</a:t>
            </a:r>
          </a:p>
          <a:p>
            <a:r>
              <a:rPr lang="en-US" dirty="0" err="1"/>
              <a:t>JpaRepository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JPQL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.</a:t>
            </a:r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miền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nói</a:t>
            </a:r>
            <a:r>
              <a:rPr lang="en-US" dirty="0" smtClean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DSL.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Với</a:t>
            </a:r>
            <a:r>
              <a:rPr lang="en-US" dirty="0"/>
              <a:t> @Query</a:t>
            </a:r>
          </a:p>
          <a:p>
            <a:pPr marL="914400" lvl="2" indent="0">
              <a:buNone/>
            </a:pPr>
            <a:r>
              <a:rPr lang="en-US" dirty="0"/>
              <a:t>@Query</a:t>
            </a:r>
            <a:r>
              <a:rPr lang="en-US" dirty="0" smtClean="0"/>
              <a:t>(“FROM </a:t>
            </a:r>
            <a:r>
              <a:rPr lang="en-US" dirty="0"/>
              <a:t>Product p WHERE p</a:t>
            </a:r>
            <a:r>
              <a:rPr lang="en-US" b="1" dirty="0">
                <a:solidFill>
                  <a:srgbClr val="0000FF"/>
                </a:solidFill>
              </a:rPr>
              <a:t>.name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LIKE</a:t>
            </a:r>
            <a:r>
              <a:rPr lang="en-US" dirty="0"/>
              <a:t> ?1”)</a:t>
            </a:r>
          </a:p>
          <a:p>
            <a:pPr marL="914400" lvl="2" indent="0">
              <a:buNone/>
            </a:pPr>
            <a:r>
              <a:rPr lang="en-US" dirty="0"/>
              <a:t>List&lt;Product&gt; </a:t>
            </a:r>
            <a:r>
              <a:rPr lang="en-US" dirty="0" err="1"/>
              <a:t>searchProduct</a:t>
            </a:r>
            <a:r>
              <a:rPr lang="en-US" dirty="0"/>
              <a:t>(String name)</a:t>
            </a:r>
          </a:p>
          <a:p>
            <a:pPr lvl="1"/>
            <a:r>
              <a:rPr lang="en-US" dirty="0"/>
              <a:t>DSL</a:t>
            </a:r>
          </a:p>
          <a:p>
            <a:pPr marL="914400" lvl="2" indent="0">
              <a:buNone/>
            </a:pPr>
            <a:r>
              <a:rPr lang="en-US" dirty="0"/>
              <a:t>List&lt;Product&gt; </a:t>
            </a:r>
            <a:r>
              <a:rPr lang="en-US" b="1" dirty="0" err="1">
                <a:solidFill>
                  <a:srgbClr val="FF0000"/>
                </a:solidFill>
              </a:rPr>
              <a:t>findBy</a:t>
            </a:r>
            <a:r>
              <a:rPr lang="en-US" b="1" dirty="0" err="1">
                <a:solidFill>
                  <a:srgbClr val="0000FF"/>
                </a:solidFill>
              </a:rPr>
              <a:t>Name</a:t>
            </a:r>
            <a:r>
              <a:rPr lang="en-US" b="1" dirty="0" err="1">
                <a:solidFill>
                  <a:srgbClr val="00B050"/>
                </a:solidFill>
              </a:rPr>
              <a:t>Like</a:t>
            </a:r>
            <a:r>
              <a:rPr lang="en-US" dirty="0"/>
              <a:t>(String name)</a:t>
            </a:r>
          </a:p>
        </p:txBody>
      </p:sp>
    </p:spTree>
    <p:extLst>
      <p:ext uri="{BB962C8B-B14F-4D97-AF65-F5344CB8AC3E}">
        <p14:creationId xmlns:p14="http://schemas.microsoft.com/office/powerpoint/2010/main" val="36085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Cú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JpaRepository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T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interface </a:t>
            </a:r>
            <a:r>
              <a:rPr lang="en-US" dirty="0" err="1"/>
              <a:t>JpaRepository</a:t>
            </a:r>
            <a:r>
              <a:rPr lang="en-US" dirty="0"/>
              <a:t>&lt;</a:t>
            </a:r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dirty="0"/>
              <a:t>, ID&gt;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findBy</a:t>
            </a:r>
            <a:r>
              <a:rPr lang="en-US" b="1" dirty="0" err="1">
                <a:solidFill>
                  <a:srgbClr val="0000FF"/>
                </a:solidFill>
              </a:rPr>
              <a:t>Name</a:t>
            </a:r>
            <a:r>
              <a:rPr lang="en-US" b="1" dirty="0" err="1">
                <a:solidFill>
                  <a:srgbClr val="00B050"/>
                </a:solidFill>
              </a:rPr>
              <a:t>Like</a:t>
            </a:r>
            <a:r>
              <a:rPr lang="en-US" dirty="0"/>
              <a:t>(x)</a:t>
            </a:r>
          </a:p>
          <a:p>
            <a:pPr lvl="1"/>
            <a:r>
              <a:rPr lang="en-US" b="1" dirty="0" err="1">
                <a:solidFill>
                  <a:srgbClr val="FF0000"/>
                </a:solidFill>
              </a:rPr>
              <a:t>findBy</a:t>
            </a:r>
            <a:r>
              <a:rPr lang="en-US" dirty="0"/>
              <a:t>_, </a:t>
            </a:r>
            <a:r>
              <a:rPr lang="en-US" b="1" dirty="0" err="1">
                <a:solidFill>
                  <a:srgbClr val="FF0000"/>
                </a:solidFill>
              </a:rPr>
              <a:t>getBy</a:t>
            </a:r>
            <a:r>
              <a:rPr lang="en-US" b="1" dirty="0">
                <a:solidFill>
                  <a:srgbClr val="FF0000"/>
                </a:solidFill>
              </a:rPr>
              <a:t>_, </a:t>
            </a:r>
            <a:r>
              <a:rPr lang="en-US" b="1" dirty="0" err="1">
                <a:solidFill>
                  <a:srgbClr val="FF0000"/>
                </a:solidFill>
              </a:rPr>
              <a:t>countBy</a:t>
            </a:r>
            <a:r>
              <a:rPr lang="en-US" b="1" dirty="0">
                <a:solidFill>
                  <a:srgbClr val="FF0000"/>
                </a:solidFill>
              </a:rPr>
              <a:t>_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JpaRepository</a:t>
            </a:r>
            <a:endParaRPr lang="en-US" dirty="0"/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Name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Like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trước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pPr lvl="1"/>
            <a:r>
              <a:rPr lang="en-US" dirty="0" err="1"/>
              <a:t>findBy</a:t>
            </a:r>
            <a:r>
              <a:rPr lang="en-US" b="1" dirty="0" err="1">
                <a:solidFill>
                  <a:srgbClr val="0000FF"/>
                </a:solidFill>
              </a:rPr>
              <a:t>Price</a:t>
            </a:r>
            <a:r>
              <a:rPr lang="en-US" b="1" dirty="0" err="1">
                <a:solidFill>
                  <a:srgbClr val="00B050"/>
                </a:solidFill>
              </a:rPr>
              <a:t>IsNull</a:t>
            </a:r>
            <a:r>
              <a:rPr lang="en-US" dirty="0"/>
              <a:t>() ~ </a:t>
            </a:r>
            <a:r>
              <a:rPr lang="en-US" dirty="0" err="1"/>
              <a:t>findBy</a:t>
            </a:r>
            <a:r>
              <a:rPr lang="en-US" b="1" dirty="0" err="1">
                <a:solidFill>
                  <a:srgbClr val="0000FF"/>
                </a:solidFill>
              </a:rPr>
              <a:t>Price</a:t>
            </a:r>
            <a:r>
              <a:rPr lang="en-US" b="1" dirty="0" err="1">
                <a:solidFill>
                  <a:srgbClr val="00B050"/>
                </a:solidFill>
              </a:rPr>
              <a:t>Null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findBy</a:t>
            </a:r>
            <a:r>
              <a:rPr lang="en-US" b="1" dirty="0" err="1">
                <a:solidFill>
                  <a:srgbClr val="0000FF"/>
                </a:solidFill>
              </a:rPr>
              <a:t>Price</a:t>
            </a:r>
            <a:r>
              <a:rPr lang="en-US" b="1" dirty="0" err="1">
                <a:solidFill>
                  <a:srgbClr val="00B050"/>
                </a:solidFill>
              </a:rPr>
              <a:t>Equal</a:t>
            </a:r>
            <a:r>
              <a:rPr lang="en-US" dirty="0"/>
              <a:t>(double max) ~ </a:t>
            </a:r>
            <a:r>
              <a:rPr lang="en-US" dirty="0" err="1"/>
              <a:t>findBy</a:t>
            </a:r>
            <a:r>
              <a:rPr lang="en-US" b="1" dirty="0" err="1">
                <a:solidFill>
                  <a:srgbClr val="0000FF"/>
                </a:solidFill>
              </a:rPr>
              <a:t>Price</a:t>
            </a:r>
            <a:r>
              <a:rPr lang="en-US" dirty="0"/>
              <a:t>(double max)</a:t>
            </a:r>
          </a:p>
          <a:p>
            <a:pPr lvl="1"/>
            <a:r>
              <a:rPr lang="en-US" dirty="0" err="1"/>
              <a:t>findBy</a:t>
            </a:r>
            <a:r>
              <a:rPr lang="en-US" b="1" dirty="0" err="1">
                <a:solidFill>
                  <a:srgbClr val="0000FF"/>
                </a:solidFill>
              </a:rPr>
              <a:t>Price</a:t>
            </a:r>
            <a:r>
              <a:rPr lang="en-US" b="1" dirty="0" err="1">
                <a:solidFill>
                  <a:srgbClr val="00B050"/>
                </a:solidFill>
              </a:rPr>
              <a:t>LessThan</a:t>
            </a:r>
            <a:r>
              <a:rPr lang="en-US" dirty="0"/>
              <a:t>(double max)</a:t>
            </a:r>
          </a:p>
          <a:p>
            <a:pPr lvl="1"/>
            <a:r>
              <a:rPr lang="en-US" dirty="0" err="1"/>
              <a:t>findBy</a:t>
            </a:r>
            <a:r>
              <a:rPr lang="en-US" b="1" dirty="0" err="1">
                <a:solidFill>
                  <a:srgbClr val="0000FF"/>
                </a:solidFill>
              </a:rPr>
              <a:t>Price</a:t>
            </a:r>
            <a:r>
              <a:rPr lang="en-US" b="1" dirty="0" err="1">
                <a:solidFill>
                  <a:srgbClr val="00B050"/>
                </a:solidFill>
              </a:rPr>
              <a:t>Between</a:t>
            </a:r>
            <a:r>
              <a:rPr lang="en-US" dirty="0"/>
              <a:t>(double min, double max)</a:t>
            </a:r>
          </a:p>
          <a:p>
            <a:pPr lvl="1"/>
            <a:r>
              <a:rPr lang="en-US" dirty="0" err="1"/>
              <a:t>findBy</a:t>
            </a:r>
            <a:r>
              <a:rPr lang="en-US" b="1" dirty="0" err="1">
                <a:solidFill>
                  <a:srgbClr val="0000FF"/>
                </a:solidFill>
              </a:rPr>
              <a:t>Price</a:t>
            </a:r>
            <a:r>
              <a:rPr lang="en-US" b="1" dirty="0" err="1">
                <a:solidFill>
                  <a:srgbClr val="00B050"/>
                </a:solidFill>
              </a:rPr>
              <a:t>LessThanEqual</a:t>
            </a:r>
            <a:r>
              <a:rPr lang="en-US" b="1" dirty="0" err="1">
                <a:solidFill>
                  <a:srgbClr val="C00000"/>
                </a:solidFill>
              </a:rPr>
              <a:t>And</a:t>
            </a:r>
            <a:r>
              <a:rPr lang="en-US" b="1" dirty="0" err="1">
                <a:solidFill>
                  <a:srgbClr val="0000FF"/>
                </a:solidFill>
              </a:rPr>
              <a:t>Name</a:t>
            </a:r>
            <a:r>
              <a:rPr lang="en-US" b="1" dirty="0" err="1">
                <a:solidFill>
                  <a:srgbClr val="00B050"/>
                </a:solidFill>
              </a:rPr>
              <a:t>Like</a:t>
            </a:r>
            <a:r>
              <a:rPr lang="en-US" dirty="0"/>
              <a:t>(double max, String name)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4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quy ước của DSL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52718"/>
            <a:ext cx="10985500" cy="552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06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quy ước của DSL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97" y="914400"/>
            <a:ext cx="10950902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8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585826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I: T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ruy vấn tùy biến với @Query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thiệu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@Query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Tham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truy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Tùy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biến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Sắp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xếp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Truy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tổng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hợp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II: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NamedQuery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Truy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thù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với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SQL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Ngôn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ngữ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DSL (Domain Specific Language)</a:t>
            </a:r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7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13101</TotalTime>
  <Words>1234</Words>
  <Application>Microsoft Office PowerPoint</Application>
  <PresentationFormat>Widescreen</PresentationFormat>
  <Paragraphs>142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Times New Roman</vt:lpstr>
      <vt:lpstr>Wingdings</vt:lpstr>
      <vt:lpstr>Custom Design</vt:lpstr>
      <vt:lpstr>JpaRepository API - @Query</vt:lpstr>
      <vt:lpstr>Agenda</vt:lpstr>
      <vt:lpstr>PowerPoint Presentation</vt:lpstr>
      <vt:lpstr>Truy vấn nâng cao</vt:lpstr>
      <vt:lpstr>Giới thiệu @Query và DSL</vt:lpstr>
      <vt:lpstr>@Query(value, name, nativeQuery)</vt:lpstr>
      <vt:lpstr>@Query</vt:lpstr>
      <vt:lpstr>Sử dụng phương thức truy vấn tùy biến với @Query</vt:lpstr>
      <vt:lpstr>PowerPoint Presentation</vt:lpstr>
      <vt:lpstr>Tham số và truyền tham số cho câu lệnh truy vấn</vt:lpstr>
      <vt:lpstr>Một số truy vấn khác</vt:lpstr>
      <vt:lpstr>PowerPoint Presentation</vt:lpstr>
      <vt:lpstr>Truy vấn có sắp xếp</vt:lpstr>
      <vt:lpstr>Truy vấn có phân trang</vt:lpstr>
      <vt:lpstr>PowerPoint Presentation</vt:lpstr>
      <vt:lpstr>Case Study</vt:lpstr>
      <vt:lpstr>Truy vấn tổng hợp</vt:lpstr>
      <vt:lpstr>JpaRepository API - DSL</vt:lpstr>
      <vt:lpstr>Truy vấn sử dụng @NamedQuery</vt:lpstr>
      <vt:lpstr>Truy vấn với câu lệnh SQL đặc thù</vt:lpstr>
      <vt:lpstr>PowerPoint Presentation</vt:lpstr>
      <vt:lpstr>Query DSL (Domain Specific Language)</vt:lpstr>
      <vt:lpstr>Cú pháp đặt tên phương thức truy vấn</vt:lpstr>
      <vt:lpstr>Các quy ước của DSL</vt:lpstr>
      <vt:lpstr>Các quy ước của DSL</vt:lpstr>
      <vt:lpstr>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DELL</cp:lastModifiedBy>
  <cp:revision>2000</cp:revision>
  <dcterms:created xsi:type="dcterms:W3CDTF">2013-04-23T08:05:33Z</dcterms:created>
  <dcterms:modified xsi:type="dcterms:W3CDTF">2024-12-21T11:00:58Z</dcterms:modified>
</cp:coreProperties>
</file>
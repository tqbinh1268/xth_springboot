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7"/>
  </p:notesMasterIdLst>
  <p:sldIdLst>
    <p:sldId id="541" r:id="rId2"/>
    <p:sldId id="721" r:id="rId3"/>
    <p:sldId id="762" r:id="rId4"/>
    <p:sldId id="757" r:id="rId5"/>
    <p:sldId id="758" r:id="rId6"/>
    <p:sldId id="761" r:id="rId7"/>
    <p:sldId id="760" r:id="rId8"/>
    <p:sldId id="723" r:id="rId9"/>
    <p:sldId id="763" r:id="rId10"/>
    <p:sldId id="765" r:id="rId11"/>
    <p:sldId id="764" r:id="rId12"/>
    <p:sldId id="766" r:id="rId13"/>
    <p:sldId id="767" r:id="rId14"/>
    <p:sldId id="728" r:id="rId15"/>
    <p:sldId id="792" r:id="rId16"/>
    <p:sldId id="769" r:id="rId17"/>
    <p:sldId id="768" r:id="rId18"/>
    <p:sldId id="770" r:id="rId19"/>
    <p:sldId id="771" r:id="rId20"/>
    <p:sldId id="773" r:id="rId21"/>
    <p:sldId id="783" r:id="rId22"/>
    <p:sldId id="772" r:id="rId23"/>
    <p:sldId id="784" r:id="rId24"/>
    <p:sldId id="785" r:id="rId25"/>
    <p:sldId id="775" r:id="rId26"/>
    <p:sldId id="786" r:id="rId27"/>
    <p:sldId id="776" r:id="rId28"/>
    <p:sldId id="787" r:id="rId29"/>
    <p:sldId id="778" r:id="rId30"/>
    <p:sldId id="788" r:id="rId31"/>
    <p:sldId id="789" r:id="rId32"/>
    <p:sldId id="790" r:id="rId33"/>
    <p:sldId id="791" r:id="rId34"/>
    <p:sldId id="707" r:id="rId35"/>
    <p:sldId id="74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9900"/>
    <a:srgbClr val="F9F9F9"/>
    <a:srgbClr val="FF5A33"/>
    <a:srgbClr val="5C00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5343" autoAdjust="0"/>
  </p:normalViewPr>
  <p:slideViewPr>
    <p:cSldViewPr>
      <p:cViewPr varScale="1">
        <p:scale>
          <a:sx n="84" d="100"/>
          <a:sy n="84" d="100"/>
        </p:scale>
        <p:origin x="58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95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4.1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Thymeleaf</a:t>
            </a:r>
            <a:r>
              <a:rPr lang="en-US" dirty="0" smtClean="0"/>
              <a:t> 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066800"/>
            <a:ext cx="8839200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hnschrift Condensed" panose="020B0502040204020203" pitchFamily="34" charset="0"/>
              </a:rPr>
              <a:t>Phần</a:t>
            </a:r>
            <a:r>
              <a:rPr lang="en-US" cap="small" dirty="0" smtClean="0">
                <a:latin typeface="Bahnschrift Condensed" panose="020B0502040204020203" pitchFamily="34" charset="0"/>
              </a:rPr>
              <a:t> I</a:t>
            </a:r>
            <a:r>
              <a:rPr lang="en-US" cap="small" dirty="0" smtClean="0">
                <a:latin typeface="Bahnschrift Condensed" panose="020B0502040204020203" pitchFamily="34" charset="0"/>
              </a:rPr>
              <a:t>: Form</a:t>
            </a:r>
            <a:endParaRPr lang="en-US" cap="small" dirty="0" smtClean="0">
              <a:latin typeface="Bahnschrift Condensed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hnschrift Condensed" panose="020B0502040204020203" pitchFamily="34" charset="0"/>
              </a:rPr>
              <a:t>Ràng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buộc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dữ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liệu</a:t>
            </a:r>
            <a:r>
              <a:rPr lang="en-US" cap="small" dirty="0" smtClean="0">
                <a:latin typeface="Bahnschrift Condensed" panose="020B0502040204020203" pitchFamily="34" charset="0"/>
              </a:rPr>
              <a:t> (Data Binding)</a:t>
            </a:r>
            <a:endParaRPr lang="en-US" cap="small" dirty="0">
              <a:latin typeface="Bahnschrift Condensed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hnschrift Condensed" panose="020B0502040204020203" pitchFamily="34" charset="0"/>
              </a:rPr>
              <a:t>Kiểm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tra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dữ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liệu</a:t>
            </a:r>
            <a:r>
              <a:rPr lang="en-US" cap="small" dirty="0" smtClean="0">
                <a:latin typeface="Bahnschrift Condensed" panose="020B0502040204020203" pitchFamily="34" charset="0"/>
              </a:rPr>
              <a:t> (Data Validation)</a:t>
            </a: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hnschrift Condensed" panose="020B0502040204020203" pitchFamily="34" charset="0"/>
              </a:rPr>
              <a:t>Phần</a:t>
            </a:r>
            <a:r>
              <a:rPr lang="en-US" cap="small" dirty="0" smtClean="0">
                <a:latin typeface="Bahnschrift Condensed" panose="020B0502040204020203" pitchFamily="34" charset="0"/>
              </a:rPr>
              <a:t> II</a:t>
            </a:r>
            <a:r>
              <a:rPr lang="en-US" cap="small" dirty="0" smtClean="0">
                <a:latin typeface="Bahnschrift Condensed" panose="020B0502040204020203" pitchFamily="34" charset="0"/>
              </a:rPr>
              <a:t>: Layout </a:t>
            </a:r>
            <a:r>
              <a:rPr lang="en-US" cap="small" smtClean="0">
                <a:latin typeface="Bahnschrift Condensed" panose="020B0502040204020203" pitchFamily="34" charset="0"/>
              </a:rPr>
              <a:t>&amp; i18n</a:t>
            </a:r>
            <a:endParaRPr lang="en-US" cap="small" dirty="0" smtClean="0">
              <a:latin typeface="Bahnschrift Condensed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hnschrift Condensed" panose="020B0502040204020203" pitchFamily="34" charset="0"/>
              </a:rPr>
              <a:t>Tổ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chức</a:t>
            </a:r>
            <a:r>
              <a:rPr lang="en-US" cap="small" dirty="0" smtClean="0">
                <a:latin typeface="Bahnschrift Condensed" panose="020B0502040204020203" pitchFamily="34" charset="0"/>
              </a:rPr>
              <a:t> layout (Layout Organization)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hnschrift Condensed" panose="020B0502040204020203" pitchFamily="34" charset="0"/>
              </a:rPr>
              <a:t>Tổ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chức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tài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nguyên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đa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ngôn</a:t>
            </a:r>
            <a:r>
              <a:rPr lang="en-US" cap="small" dirty="0" smtClean="0">
                <a:latin typeface="Bahnschrift Condensed" panose="020B0502040204020203" pitchFamily="34" charset="0"/>
              </a:rPr>
              <a:t> </a:t>
            </a:r>
            <a:r>
              <a:rPr lang="en-US" cap="small" dirty="0" err="1" smtClean="0">
                <a:latin typeface="Bahnschrift Condensed" panose="020B0502040204020203" pitchFamily="34" charset="0"/>
              </a:rPr>
              <a:t>ngữ</a:t>
            </a:r>
            <a:r>
              <a:rPr lang="en-US" cap="small" dirty="0" smtClean="0">
                <a:latin typeface="Bahnschrift Condensed" panose="020B0502040204020203" pitchFamily="34" charset="0"/>
              </a:rPr>
              <a:t> (Message Source &amp; Internationalization)</a:t>
            </a:r>
            <a:endParaRPr lang="en-US" cap="small" dirty="0">
              <a:latin typeface="Bahnschrift Condensed" panose="020B0502040204020203" pitchFamily="34" charset="0"/>
            </a:endParaRPr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43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3800" y="2967335"/>
            <a:ext cx="334072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Data Binding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50730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Binding là gì?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2057400"/>
          </a:xfrm>
        </p:spPr>
        <p:txBody>
          <a:bodyPr/>
          <a:lstStyle/>
          <a:p>
            <a:r>
              <a:rPr lang="en-US" dirty="0" smtClean="0"/>
              <a:t>Data binding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buộc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1 bean </a:t>
            </a:r>
            <a:r>
              <a:rPr lang="en-US" dirty="0" err="1" smtClean="0"/>
              <a:t>với</a:t>
            </a:r>
            <a:r>
              <a:rPr lang="en-US" dirty="0" smtClean="0"/>
              <a:t> form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GET: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bean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form</a:t>
            </a:r>
          </a:p>
          <a:p>
            <a:pPr lvl="1"/>
            <a:r>
              <a:rPr lang="en-US" dirty="0" smtClean="0"/>
              <a:t>POST: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form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bean</a:t>
            </a:r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01" y="3360784"/>
            <a:ext cx="3471626" cy="29699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1" name="Left-Right Arrow 70"/>
          <p:cNvSpPr/>
          <p:nvPr/>
        </p:nvSpPr>
        <p:spPr>
          <a:xfrm>
            <a:off x="4419600" y="4495800"/>
            <a:ext cx="2514600" cy="699960"/>
          </a:xfrm>
          <a:prstGeom prst="left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Binding</a:t>
            </a:r>
            <a:endParaRPr lang="en-US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01" y="3062160"/>
            <a:ext cx="2738699" cy="348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1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Bean &amp; Form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90600"/>
            <a:ext cx="6782300" cy="54795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1" y="2209800"/>
            <a:ext cx="4940746" cy="42603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9682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Controller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5172658"/>
            <a:ext cx="10972800" cy="153294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ModelAttribute</a:t>
            </a:r>
            <a:r>
              <a:rPr lang="en-US" dirty="0" smtClean="0"/>
              <a:t>(“student”) Student </a:t>
            </a:r>
            <a:r>
              <a:rPr lang="en-US" dirty="0" err="1" smtClean="0"/>
              <a:t>student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Tạo</a:t>
            </a:r>
            <a:r>
              <a:rPr lang="en-US" dirty="0" smtClean="0"/>
              <a:t> bean (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student)</a:t>
            </a:r>
          </a:p>
          <a:p>
            <a:pPr lvl="1"/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bean (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Bổ</a:t>
            </a:r>
            <a:r>
              <a:rPr lang="en-US" dirty="0" smtClean="0"/>
              <a:t> sung bean </a:t>
            </a:r>
            <a:r>
              <a:rPr lang="en-US" dirty="0" err="1" smtClean="0"/>
              <a:t>vào</a:t>
            </a:r>
            <a:r>
              <a:rPr lang="en-US" dirty="0" smtClean="0"/>
              <a:t> Model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student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34" y="990600"/>
            <a:ext cx="9431066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3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12" name="Flowchart: Process 11"/>
          <p:cNvSpPr/>
          <p:nvPr/>
        </p:nvSpPr>
        <p:spPr>
          <a:xfrm>
            <a:off x="5385697" y="1681187"/>
            <a:ext cx="1831848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&lt;Controller&gt;</a:t>
            </a:r>
          </a:p>
          <a:p>
            <a:pPr algn="ctr"/>
            <a:r>
              <a:rPr lang="en-US" dirty="0" smtClean="0"/>
              <a:t>@/student/form</a:t>
            </a:r>
            <a:endParaRPr lang="en-US" dirty="0"/>
          </a:p>
        </p:txBody>
      </p:sp>
      <p:sp>
        <p:nvSpPr>
          <p:cNvPr id="13" name="Flowchart: Process 12"/>
          <p:cNvSpPr/>
          <p:nvPr/>
        </p:nvSpPr>
        <p:spPr>
          <a:xfrm>
            <a:off x="9982200" y="3283887"/>
            <a:ext cx="1524000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14" name="Flowchart: Process 13"/>
          <p:cNvSpPr/>
          <p:nvPr/>
        </p:nvSpPr>
        <p:spPr>
          <a:xfrm>
            <a:off x="5386296" y="3283887"/>
            <a:ext cx="1831848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15" name="Flowchart: Process 14"/>
          <p:cNvSpPr/>
          <p:nvPr/>
        </p:nvSpPr>
        <p:spPr>
          <a:xfrm>
            <a:off x="676656" y="3283887"/>
            <a:ext cx="1524000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</a:t>
            </a:r>
            <a:endParaRPr lang="en-US" dirty="0"/>
          </a:p>
        </p:txBody>
      </p:sp>
      <p:sp>
        <p:nvSpPr>
          <p:cNvPr id="16" name="Flowchart: Process 15"/>
          <p:cNvSpPr/>
          <p:nvPr/>
        </p:nvSpPr>
        <p:spPr>
          <a:xfrm>
            <a:off x="5385697" y="4866347"/>
            <a:ext cx="1831848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&lt;Controller&gt;</a:t>
            </a:r>
          </a:p>
          <a:p>
            <a:pPr algn="ctr"/>
            <a:r>
              <a:rPr lang="en-US" dirty="0" smtClean="0"/>
              <a:t>@/student/save</a:t>
            </a:r>
            <a:endParaRPr lang="en-US" dirty="0"/>
          </a:p>
        </p:txBody>
      </p:sp>
      <p:cxnSp>
        <p:nvCxnSpPr>
          <p:cNvPr id="29" name="Elbow Connector 28"/>
          <p:cNvCxnSpPr>
            <a:stCxn id="15" idx="0"/>
            <a:endCxn id="12" idx="1"/>
          </p:cNvCxnSpPr>
          <p:nvPr/>
        </p:nvCxnSpPr>
        <p:spPr>
          <a:xfrm rot="5400000" flipH="1" flipV="1">
            <a:off x="2763988" y="662179"/>
            <a:ext cx="1296376" cy="39470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2" idx="3"/>
            <a:endCxn id="13" idx="0"/>
          </p:cNvCxnSpPr>
          <p:nvPr/>
        </p:nvCxnSpPr>
        <p:spPr>
          <a:xfrm>
            <a:off x="7217545" y="1987511"/>
            <a:ext cx="3526655" cy="1296376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15" idx="2"/>
            <a:endCxn id="16" idx="1"/>
          </p:cNvCxnSpPr>
          <p:nvPr/>
        </p:nvCxnSpPr>
        <p:spPr>
          <a:xfrm rot="16200000" flipH="1">
            <a:off x="2774108" y="2561082"/>
            <a:ext cx="1276136" cy="39470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4" idx="3"/>
            <a:endCxn id="13" idx="1"/>
          </p:cNvCxnSpPr>
          <p:nvPr/>
        </p:nvCxnSpPr>
        <p:spPr>
          <a:xfrm>
            <a:off x="7218144" y="3590211"/>
            <a:ext cx="276405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16" idx="3"/>
            <a:endCxn id="13" idx="2"/>
          </p:cNvCxnSpPr>
          <p:nvPr/>
        </p:nvCxnSpPr>
        <p:spPr>
          <a:xfrm flipV="1">
            <a:off x="7217545" y="3896535"/>
            <a:ext cx="3526655" cy="1276136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2" idx="2"/>
            <a:endCxn id="14" idx="0"/>
          </p:cNvCxnSpPr>
          <p:nvPr/>
        </p:nvCxnSpPr>
        <p:spPr>
          <a:xfrm>
            <a:off x="6301621" y="2293835"/>
            <a:ext cx="599" cy="990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6" idx="0"/>
            <a:endCxn id="14" idx="2"/>
          </p:cNvCxnSpPr>
          <p:nvPr/>
        </p:nvCxnSpPr>
        <p:spPr>
          <a:xfrm flipV="1">
            <a:off x="6301621" y="3896535"/>
            <a:ext cx="599" cy="969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4" idx="1"/>
            <a:endCxn id="15" idx="3"/>
          </p:cNvCxnSpPr>
          <p:nvPr/>
        </p:nvCxnSpPr>
        <p:spPr>
          <a:xfrm flipH="1">
            <a:off x="2200656" y="3590211"/>
            <a:ext cx="3185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444153" y="1567386"/>
            <a:ext cx="311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 1 (GET, /student/form)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1378657" y="5229560"/>
            <a:ext cx="399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 2 (POST, /student/save, </a:t>
            </a:r>
            <a:r>
              <a:rPr lang="en-US" dirty="0" err="1" smtClean="0"/>
              <a:t>params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7260058" y="3252383"/>
            <a:ext cx="256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Getting bean from Model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7260058" y="1361420"/>
            <a:ext cx="2340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1.1 Create new bean</a:t>
            </a:r>
          </a:p>
          <a:p>
            <a:r>
              <a:rPr lang="en-US" dirty="0" smtClean="0"/>
              <a:t>1.2 Add bean to Model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7260058" y="5172670"/>
            <a:ext cx="3825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2.1 Create new bean</a:t>
            </a:r>
          </a:p>
          <a:p>
            <a:r>
              <a:rPr lang="en-US" dirty="0" smtClean="0"/>
              <a:t>2.2 Transfer </a:t>
            </a:r>
            <a:r>
              <a:rPr lang="en-US" dirty="0" err="1" smtClean="0"/>
              <a:t>params</a:t>
            </a:r>
            <a:r>
              <a:rPr lang="en-US" dirty="0" smtClean="0"/>
              <a:t> to bean properties</a:t>
            </a:r>
          </a:p>
          <a:p>
            <a:r>
              <a:rPr lang="en-US" dirty="0" smtClean="0"/>
              <a:t>2.3 Add bean to Model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3048000" y="3214782"/>
            <a:ext cx="2368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 (HTML Form)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8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3800" y="2967335"/>
            <a:ext cx="402097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Data Validation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1415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4239217" cy="3486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864" y="2857016"/>
            <a:ext cx="7068536" cy="34675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248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https://start.spring.io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pom.xml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590800"/>
            <a:ext cx="8247256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1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Bean Property Validation 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7148" y="1066800"/>
            <a:ext cx="4595252" cy="52578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r>
              <a:rPr lang="en-US" dirty="0" smtClean="0"/>
              <a:t> </a:t>
            </a:r>
            <a:r>
              <a:rPr lang="en-US" dirty="0" err="1" smtClean="0"/>
              <a:t>buộc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class Student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NotNull</a:t>
            </a:r>
            <a:endParaRPr lang="en-US" dirty="0" smtClean="0"/>
          </a:p>
          <a:p>
            <a:pPr lvl="1"/>
            <a:r>
              <a:rPr lang="en-US" dirty="0" smtClean="0"/>
              <a:t>@Email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NotBlank</a:t>
            </a:r>
            <a:endParaRPr lang="en-US" dirty="0" smtClean="0"/>
          </a:p>
          <a:p>
            <a:pPr lvl="1"/>
            <a:r>
              <a:rPr lang="en-US" dirty="0" smtClean="0"/>
              <a:t>@Range</a:t>
            </a:r>
          </a:p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lệ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 smtClean="0"/>
          </a:p>
          <a:p>
            <a:r>
              <a:rPr lang="en-US" sz="1900" i="1" dirty="0" err="1" smtClean="0">
                <a:solidFill>
                  <a:srgbClr val="FF3300"/>
                </a:solidFill>
              </a:rPr>
              <a:t>Chú</a:t>
            </a:r>
            <a:r>
              <a:rPr lang="en-US" sz="1900" i="1" dirty="0" smtClean="0">
                <a:solidFill>
                  <a:srgbClr val="FF3300"/>
                </a:solidFill>
              </a:rPr>
              <a:t> ý: </a:t>
            </a:r>
            <a:r>
              <a:rPr lang="en-US" sz="1900" i="1" dirty="0" err="1" smtClean="0">
                <a:solidFill>
                  <a:srgbClr val="FF3300"/>
                </a:solidFill>
              </a:rPr>
              <a:t>Kiểu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nguyên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thủy</a:t>
            </a:r>
            <a:r>
              <a:rPr lang="en-US" sz="1900" i="1" dirty="0" smtClean="0">
                <a:solidFill>
                  <a:srgbClr val="FF3300"/>
                </a:solidFill>
              </a:rPr>
              <a:t> (primitive type) </a:t>
            </a:r>
            <a:r>
              <a:rPr lang="en-US" sz="1900" i="1" dirty="0" err="1" smtClean="0">
                <a:solidFill>
                  <a:srgbClr val="FF3300"/>
                </a:solidFill>
              </a:rPr>
              <a:t>không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thể</a:t>
            </a:r>
            <a:r>
              <a:rPr lang="en-US" sz="1900" i="1" dirty="0" smtClean="0">
                <a:solidFill>
                  <a:srgbClr val="FF3300"/>
                </a:solidFill>
              </a:rPr>
              <a:t> null </a:t>
            </a:r>
            <a:r>
              <a:rPr lang="en-US" sz="1900" i="1" dirty="0" err="1" smtClean="0">
                <a:solidFill>
                  <a:srgbClr val="FF3300"/>
                </a:solidFill>
              </a:rPr>
              <a:t>vì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vậy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muốn</a:t>
            </a:r>
            <a:r>
              <a:rPr lang="en-US" sz="1900" i="1" dirty="0" smtClean="0">
                <a:solidFill>
                  <a:srgbClr val="FF3300"/>
                </a:solidFill>
              </a:rPr>
              <a:t> check null </a:t>
            </a:r>
            <a:r>
              <a:rPr lang="en-US" sz="1900" i="1" dirty="0" err="1" smtClean="0">
                <a:solidFill>
                  <a:srgbClr val="FF3300"/>
                </a:solidFill>
              </a:rPr>
              <a:t>phải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sử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dụng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lớp</a:t>
            </a:r>
            <a:r>
              <a:rPr lang="en-US" sz="1900" i="1" dirty="0" smtClean="0">
                <a:solidFill>
                  <a:srgbClr val="FF3300"/>
                </a:solidFill>
              </a:rPr>
              <a:t> </a:t>
            </a:r>
            <a:r>
              <a:rPr lang="en-US" sz="1900" i="1" dirty="0" err="1" smtClean="0">
                <a:solidFill>
                  <a:srgbClr val="FF3300"/>
                </a:solidFill>
              </a:rPr>
              <a:t>bao</a:t>
            </a:r>
            <a:r>
              <a:rPr lang="en-US" sz="1900" i="1" dirty="0" smtClean="0">
                <a:solidFill>
                  <a:srgbClr val="FF3300"/>
                </a:solidFill>
              </a:rPr>
              <a:t> (wrapper)</a:t>
            </a:r>
            <a:endParaRPr lang="en-US" sz="1900" i="1" dirty="0">
              <a:solidFill>
                <a:srgbClr val="FF33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6377548" cy="562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6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Controller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8768433" cy="5692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0" y="5546374"/>
            <a:ext cx="662940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@Valid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 student</a:t>
            </a:r>
          </a:p>
          <a:p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validate.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lũy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i="1" dirty="0" smtClean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3874" y="1066800"/>
            <a:ext cx="4128526" cy="5257800"/>
          </a:xfrm>
        </p:spPr>
        <p:txBody>
          <a:bodyPr/>
          <a:lstStyle/>
          <a:p>
            <a:r>
              <a:rPr lang="en-US" dirty="0" err="1" smtClean="0"/>
              <a:t>th:errors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field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Lỗi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bean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th:errors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6844274" cy="571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5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5486400" cy="594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Number</a:t>
            </a:r>
            <a:endParaRPr lang="en-US" dirty="0"/>
          </a:p>
          <a:p>
            <a:pPr lvl="1"/>
            <a:r>
              <a:rPr lang="en-US" dirty="0" smtClean="0"/>
              <a:t>@Range</a:t>
            </a:r>
          </a:p>
          <a:p>
            <a:pPr lvl="1"/>
            <a:r>
              <a:rPr lang="en-US" dirty="0" smtClean="0"/>
              <a:t>@Min</a:t>
            </a:r>
          </a:p>
          <a:p>
            <a:pPr lvl="1"/>
            <a:r>
              <a:rPr lang="en-US" dirty="0"/>
              <a:t>@</a:t>
            </a:r>
            <a:r>
              <a:rPr lang="en-US" dirty="0" smtClean="0"/>
              <a:t>Max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DecimalMin</a:t>
            </a:r>
            <a:endParaRPr lang="en-US" dirty="0" smtClean="0"/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DecimalMax</a:t>
            </a:r>
            <a:endParaRPr lang="en-US" dirty="0" smtClean="0"/>
          </a:p>
          <a:p>
            <a:pPr lvl="1"/>
            <a:r>
              <a:rPr lang="en-US" dirty="0" smtClean="0"/>
              <a:t>@Positive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PositiveOrZero</a:t>
            </a:r>
            <a:endParaRPr lang="en-US" dirty="0" smtClean="0"/>
          </a:p>
          <a:p>
            <a:pPr lvl="1"/>
            <a:r>
              <a:rPr lang="en-US" dirty="0" smtClean="0"/>
              <a:t>@Negative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NegativeOrZero</a:t>
            </a:r>
            <a:endParaRPr lang="en-US" dirty="0" smtClean="0"/>
          </a:p>
          <a:p>
            <a:pPr lvl="1"/>
            <a:r>
              <a:rPr lang="en-US" dirty="0" smtClean="0"/>
              <a:t>@Digits</a:t>
            </a:r>
          </a:p>
          <a:p>
            <a:r>
              <a:rPr lang="en-US" dirty="0" smtClean="0"/>
              <a:t>String</a:t>
            </a:r>
          </a:p>
          <a:p>
            <a:pPr lvl="1"/>
            <a:r>
              <a:rPr lang="en-US" dirty="0" smtClean="0"/>
              <a:t>@Email</a:t>
            </a:r>
          </a:p>
          <a:p>
            <a:pPr lvl="1"/>
            <a:r>
              <a:rPr lang="en-US" dirty="0" smtClean="0"/>
              <a:t>@Pattern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NotBlank</a:t>
            </a:r>
            <a:endParaRPr lang="en-US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11240" y="911352"/>
            <a:ext cx="54864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Collection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NotEmpty</a:t>
            </a:r>
            <a:endParaRPr lang="en-US" dirty="0" smtClean="0"/>
          </a:p>
          <a:p>
            <a:pPr lvl="1"/>
            <a:r>
              <a:rPr lang="en-US" dirty="0" smtClean="0"/>
              <a:t>@Size</a:t>
            </a:r>
          </a:p>
          <a:p>
            <a:r>
              <a:rPr lang="en-US" dirty="0" smtClean="0"/>
              <a:t>Time</a:t>
            </a:r>
          </a:p>
          <a:p>
            <a:pPr lvl="1"/>
            <a:r>
              <a:rPr lang="en-US" dirty="0" smtClean="0"/>
              <a:t>@Past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PastOrPresent</a:t>
            </a:r>
            <a:endParaRPr lang="en-US" dirty="0" smtClean="0"/>
          </a:p>
          <a:p>
            <a:pPr lvl="1"/>
            <a:r>
              <a:rPr lang="en-US" dirty="0" smtClean="0"/>
              <a:t>@Future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FutureOrPresent</a:t>
            </a:r>
            <a:endParaRPr lang="en-US" dirty="0" smtClean="0"/>
          </a:p>
          <a:p>
            <a:r>
              <a:rPr lang="en-US" dirty="0" smtClean="0"/>
              <a:t>Others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NotNull</a:t>
            </a:r>
            <a:endParaRPr lang="en-US" dirty="0" smtClean="0"/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AssertFalse</a:t>
            </a:r>
            <a:endParaRPr lang="en-US" dirty="0" smtClean="0"/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AssertTrue</a:t>
            </a:r>
            <a:endParaRPr lang="en-US" dirty="0" smtClean="0"/>
          </a:p>
          <a:p>
            <a:pPr lvl="1"/>
            <a:r>
              <a:rPr lang="en-US" dirty="0" smtClean="0"/>
              <a:t>@Null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3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Slide 4.2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Thymeleaf</a:t>
            </a:r>
            <a:r>
              <a:rPr lang="en-US" dirty="0" smtClean="0"/>
              <a:t> 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3800" y="2967335"/>
            <a:ext cx="495783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Fragment &amp; Layout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68959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Fragment Directives and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1" y="4431612"/>
            <a:ext cx="4495799" cy="2197787"/>
          </a:xfrm>
        </p:spPr>
        <p:txBody>
          <a:bodyPr>
            <a:normAutofit/>
          </a:bodyPr>
          <a:lstStyle/>
          <a:p>
            <a:r>
              <a:rPr lang="en-US" dirty="0" smtClean="0"/>
              <a:t>Fragment Expression</a:t>
            </a:r>
          </a:p>
          <a:p>
            <a:pPr lvl="1"/>
            <a:r>
              <a:rPr lang="en-US" dirty="0" smtClean="0"/>
              <a:t>~{</a:t>
            </a:r>
            <a:r>
              <a:rPr lang="en-US" b="1" dirty="0" smtClean="0"/>
              <a:t>&lt;path&gt;</a:t>
            </a:r>
            <a:r>
              <a:rPr lang="en-US" dirty="0" smtClean="0"/>
              <a:t>::</a:t>
            </a:r>
            <a:r>
              <a:rPr lang="en-US" b="1" dirty="0" smtClean="0">
                <a:solidFill>
                  <a:srgbClr val="FF3300"/>
                </a:solidFill>
              </a:rPr>
              <a:t>&lt;selector&gt;</a:t>
            </a:r>
            <a:r>
              <a:rPr lang="en-US" dirty="0" smtClean="0"/>
              <a:t>}</a:t>
            </a:r>
          </a:p>
          <a:p>
            <a:pPr lvl="1"/>
            <a:r>
              <a:rPr lang="en-US" sz="1800" i="1" dirty="0" smtClean="0">
                <a:solidFill>
                  <a:srgbClr val="0000FF"/>
                </a:solidFill>
              </a:rPr>
              <a:t>Selector </a:t>
            </a:r>
            <a:r>
              <a:rPr lang="en-US" sz="1800" i="1" dirty="0" err="1" smtClean="0">
                <a:solidFill>
                  <a:srgbClr val="0000FF"/>
                </a:solidFill>
              </a:rPr>
              <a:t>có</a:t>
            </a:r>
            <a:r>
              <a:rPr lang="en-US" sz="1800" i="1" dirty="0" smtClean="0">
                <a:solidFill>
                  <a:srgbClr val="0000FF"/>
                </a:solidFill>
              </a:rPr>
              <a:t> </a:t>
            </a:r>
            <a:r>
              <a:rPr lang="en-US" sz="1800" i="1" dirty="0" err="1" smtClean="0">
                <a:solidFill>
                  <a:srgbClr val="0000FF"/>
                </a:solidFill>
              </a:rPr>
              <a:t>thể</a:t>
            </a:r>
            <a:r>
              <a:rPr lang="en-US" sz="1800" i="1" dirty="0" smtClean="0">
                <a:solidFill>
                  <a:srgbClr val="0000FF"/>
                </a:solidFill>
              </a:rPr>
              <a:t> </a:t>
            </a:r>
            <a:r>
              <a:rPr lang="en-US" sz="1800" i="1" dirty="0" err="1" smtClean="0">
                <a:solidFill>
                  <a:srgbClr val="0000FF"/>
                </a:solidFill>
              </a:rPr>
              <a:t>là</a:t>
            </a:r>
            <a:r>
              <a:rPr lang="en-US" sz="1800" i="1" dirty="0" smtClean="0">
                <a:solidFill>
                  <a:srgbClr val="0000FF"/>
                </a:solidFill>
              </a:rPr>
              <a:t> </a:t>
            </a:r>
            <a:r>
              <a:rPr lang="en-US" sz="1800" i="1" dirty="0" err="1" smtClean="0">
                <a:solidFill>
                  <a:srgbClr val="0000FF"/>
                </a:solidFill>
              </a:rPr>
              <a:t>tên</a:t>
            </a:r>
            <a:r>
              <a:rPr lang="en-US" sz="1800" i="1" dirty="0" smtClean="0">
                <a:solidFill>
                  <a:srgbClr val="0000FF"/>
                </a:solidFill>
              </a:rPr>
              <a:t> fragment </a:t>
            </a:r>
            <a:r>
              <a:rPr lang="en-US" sz="1800" i="1" dirty="0" err="1" smtClean="0">
                <a:solidFill>
                  <a:srgbClr val="0000FF"/>
                </a:solidFill>
              </a:rPr>
              <a:t>hoặc</a:t>
            </a:r>
            <a:r>
              <a:rPr lang="en-US" sz="1800" i="1" dirty="0" smtClean="0">
                <a:solidFill>
                  <a:srgbClr val="0000FF"/>
                </a:solidFill>
              </a:rPr>
              <a:t> CSS Selector (#id, html, .class)</a:t>
            </a:r>
          </a:p>
        </p:txBody>
      </p:sp>
      <p:sp>
        <p:nvSpPr>
          <p:cNvPr id="4" name="Flowchart: Document 3"/>
          <p:cNvSpPr/>
          <p:nvPr/>
        </p:nvSpPr>
        <p:spPr>
          <a:xfrm>
            <a:off x="4346125" y="1442228"/>
            <a:ext cx="3733800" cy="2936831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Document 4"/>
          <p:cNvSpPr/>
          <p:nvPr/>
        </p:nvSpPr>
        <p:spPr>
          <a:xfrm>
            <a:off x="609600" y="1442228"/>
            <a:ext cx="2514600" cy="18288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65225" y="1676400"/>
            <a:ext cx="2895600" cy="47444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Fragment1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5225" y="2356366"/>
            <a:ext cx="2895600" cy="47444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Fragment2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1072896"/>
            <a:ext cx="165782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Template1.html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067062"/>
            <a:ext cx="166327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Fragments.html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765225" y="3036332"/>
            <a:ext cx="2895600" cy="47444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Fragment3</a:t>
            </a:r>
            <a:endParaRPr lang="en-US" dirty="0"/>
          </a:p>
        </p:txBody>
      </p:sp>
      <p:sp>
        <p:nvSpPr>
          <p:cNvPr id="11" name="Flowchart: Document 10"/>
          <p:cNvSpPr/>
          <p:nvPr/>
        </p:nvSpPr>
        <p:spPr>
          <a:xfrm>
            <a:off x="609600" y="3886200"/>
            <a:ext cx="2514600" cy="18288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3516868"/>
            <a:ext cx="165782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Template2.html</a:t>
            </a:r>
            <a:endParaRPr lang="en-US" dirty="0"/>
          </a:p>
        </p:txBody>
      </p:sp>
      <p:sp>
        <p:nvSpPr>
          <p:cNvPr id="14" name="Frame 13"/>
          <p:cNvSpPr/>
          <p:nvPr/>
        </p:nvSpPr>
        <p:spPr>
          <a:xfrm>
            <a:off x="1194530" y="2358153"/>
            <a:ext cx="491248" cy="494037"/>
          </a:xfrm>
          <a:prstGeom prst="fram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Summing Junction 14"/>
          <p:cNvSpPr/>
          <p:nvPr/>
        </p:nvSpPr>
        <p:spPr>
          <a:xfrm>
            <a:off x="1132189" y="1559314"/>
            <a:ext cx="612648" cy="612648"/>
          </a:xfrm>
          <a:prstGeom prst="flowChartSummingJunct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6" idx="1"/>
            <a:endCxn id="15" idx="6"/>
          </p:cNvCxnSpPr>
          <p:nvPr/>
        </p:nvCxnSpPr>
        <p:spPr>
          <a:xfrm flipH="1" flipV="1">
            <a:off x="1744837" y="1865638"/>
            <a:ext cx="3020388" cy="47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1"/>
            <a:endCxn id="14" idx="3"/>
          </p:cNvCxnSpPr>
          <p:nvPr/>
        </p:nvCxnSpPr>
        <p:spPr>
          <a:xfrm flipH="1">
            <a:off x="1685778" y="2593587"/>
            <a:ext cx="3079447" cy="11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ame 24"/>
          <p:cNvSpPr/>
          <p:nvPr/>
        </p:nvSpPr>
        <p:spPr>
          <a:xfrm>
            <a:off x="1197435" y="4132040"/>
            <a:ext cx="491248" cy="494037"/>
          </a:xfrm>
          <a:prstGeom prst="fram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7" idx="1"/>
            <a:endCxn id="25" idx="3"/>
          </p:cNvCxnSpPr>
          <p:nvPr/>
        </p:nvCxnSpPr>
        <p:spPr>
          <a:xfrm flipH="1">
            <a:off x="1688683" y="2593587"/>
            <a:ext cx="3076542" cy="1785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24200" y="3511034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h:include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124200" y="222146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h:include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124200" y="1524000"/>
            <a:ext cx="1137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h:replace</a:t>
            </a:r>
            <a:endParaRPr lang="en-US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8079925" y="4431611"/>
            <a:ext cx="3502475" cy="2197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Fragment Directives</a:t>
            </a:r>
            <a:endParaRPr lang="en-US" dirty="0"/>
          </a:p>
          <a:p>
            <a:pPr lvl="1"/>
            <a:r>
              <a:rPr lang="en-US" dirty="0" err="1"/>
              <a:t>th:fragment</a:t>
            </a:r>
            <a:endParaRPr lang="en-US" dirty="0"/>
          </a:p>
          <a:p>
            <a:pPr lvl="1"/>
            <a:r>
              <a:rPr lang="en-US" dirty="0" err="1"/>
              <a:t>th:replace</a:t>
            </a:r>
            <a:endParaRPr lang="en-US" dirty="0"/>
          </a:p>
          <a:p>
            <a:pPr lvl="1"/>
            <a:r>
              <a:rPr lang="en-US" dirty="0" err="1"/>
              <a:t>th:insert</a:t>
            </a:r>
            <a:endParaRPr lang="en-US" dirty="0"/>
          </a:p>
          <a:p>
            <a:pPr lvl="1"/>
            <a:r>
              <a:rPr lang="en-US" dirty="0" err="1" smtClean="0"/>
              <a:t>th:remove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229600" y="1524000"/>
            <a:ext cx="335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smtClean="0">
                <a:solidFill>
                  <a:srgbClr val="0000FF"/>
                </a:solidFill>
              </a:rPr>
              <a:t>Fragment </a:t>
            </a:r>
            <a:r>
              <a:rPr lang="en-US" sz="2000" i="1" dirty="0" err="1" smtClean="0">
                <a:solidFill>
                  <a:srgbClr val="0000FF"/>
                </a:solidFill>
              </a:rPr>
              <a:t>là</a:t>
            </a:r>
            <a:r>
              <a:rPr lang="en-US" sz="2000" i="1" dirty="0" smtClean="0">
                <a:solidFill>
                  <a:srgbClr val="0000FF"/>
                </a:solidFill>
              </a:rPr>
              <a:t> 1 </a:t>
            </a:r>
            <a:r>
              <a:rPr lang="en-US" sz="2000" i="1" dirty="0" err="1" smtClean="0">
                <a:solidFill>
                  <a:srgbClr val="0000FF"/>
                </a:solidFill>
              </a:rPr>
              <a:t>phân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đoạn</a:t>
            </a:r>
            <a:r>
              <a:rPr lang="en-US" sz="2000" i="1" dirty="0" smtClean="0">
                <a:solidFill>
                  <a:srgbClr val="0000FF"/>
                </a:solidFill>
              </a:rPr>
              <a:t> template </a:t>
            </a:r>
            <a:r>
              <a:rPr lang="en-US" sz="2000" i="1" dirty="0" err="1" smtClean="0">
                <a:solidFill>
                  <a:srgbClr val="0000FF"/>
                </a:solidFill>
              </a:rPr>
              <a:t>được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tái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sử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dụng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nhiều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lần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trên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các</a:t>
            </a:r>
            <a:r>
              <a:rPr lang="en-US" sz="2000" i="1" dirty="0" smtClean="0">
                <a:solidFill>
                  <a:srgbClr val="0000FF"/>
                </a:solidFill>
              </a:rPr>
              <a:t> template </a:t>
            </a:r>
            <a:r>
              <a:rPr lang="en-US" sz="2000" i="1" dirty="0" err="1" smtClean="0">
                <a:solidFill>
                  <a:srgbClr val="0000FF"/>
                </a:solidFill>
              </a:rPr>
              <a:t>khác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nhau</a:t>
            </a:r>
            <a:endParaRPr lang="en-US" sz="2000" i="1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err="1" smtClean="0">
                <a:solidFill>
                  <a:srgbClr val="0000FF"/>
                </a:solidFill>
              </a:rPr>
              <a:t>Biểu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thức</a:t>
            </a:r>
            <a:r>
              <a:rPr lang="en-US" sz="2000" i="1" dirty="0" smtClean="0">
                <a:solidFill>
                  <a:srgbClr val="0000FF"/>
                </a:solidFill>
              </a:rPr>
              <a:t> Fragment (~{}) </a:t>
            </a:r>
            <a:r>
              <a:rPr lang="en-US" sz="2000" i="1" dirty="0" err="1" smtClean="0">
                <a:solidFill>
                  <a:srgbClr val="0000FF"/>
                </a:solidFill>
              </a:rPr>
              <a:t>được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sử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dụng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để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truy</a:t>
            </a:r>
            <a:r>
              <a:rPr lang="en-US" sz="2000" i="1" dirty="0" smtClean="0">
                <a:solidFill>
                  <a:srgbClr val="0000FF"/>
                </a:solidFill>
              </a:rPr>
              <a:t> </a:t>
            </a:r>
            <a:r>
              <a:rPr lang="en-US" sz="2000" i="1" dirty="0" err="1" smtClean="0">
                <a:solidFill>
                  <a:srgbClr val="0000FF"/>
                </a:solidFill>
              </a:rPr>
              <a:t>xuất</a:t>
            </a:r>
            <a:r>
              <a:rPr lang="en-US" sz="2000" i="1" dirty="0" smtClean="0">
                <a:solidFill>
                  <a:srgbClr val="0000FF"/>
                </a:solidFill>
              </a:rPr>
              <a:t> fragment</a:t>
            </a:r>
            <a:endParaRPr lang="en-US" sz="200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14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Fragment Example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65445"/>
            <a:ext cx="5277587" cy="8287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35875"/>
            <a:ext cx="6144482" cy="41915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024" y="2496836"/>
            <a:ext cx="4658375" cy="2553056"/>
          </a:xfrm>
          <a:prstGeom prst="rect">
            <a:avLst/>
          </a:prstGeom>
        </p:spPr>
      </p:pic>
      <p:sp>
        <p:nvSpPr>
          <p:cNvPr id="9" name="Flowchart: Process 8"/>
          <p:cNvSpPr/>
          <p:nvPr/>
        </p:nvSpPr>
        <p:spPr>
          <a:xfrm>
            <a:off x="609600" y="1238012"/>
            <a:ext cx="6144482" cy="856223"/>
          </a:xfrm>
          <a:prstGeom prst="flowChartProcess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/>
          <p:cNvSpPr/>
          <p:nvPr/>
        </p:nvSpPr>
        <p:spPr>
          <a:xfrm>
            <a:off x="606552" y="2496837"/>
            <a:ext cx="6144482" cy="4330623"/>
          </a:xfrm>
          <a:prstGeom prst="flowChartProcess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/>
          <p:cNvSpPr/>
          <p:nvPr/>
        </p:nvSpPr>
        <p:spPr>
          <a:xfrm>
            <a:off x="6924024" y="2496836"/>
            <a:ext cx="4658376" cy="2553055"/>
          </a:xfrm>
          <a:prstGeom prst="flowChartProcess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ent Arrow 11"/>
          <p:cNvSpPr/>
          <p:nvPr/>
        </p:nvSpPr>
        <p:spPr>
          <a:xfrm rot="16200000" flipV="1">
            <a:off x="6778466" y="5022459"/>
            <a:ext cx="813816" cy="868680"/>
          </a:xfrm>
          <a:prstGeom prst="ben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999" y="876429"/>
            <a:ext cx="113159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rags.html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03504" y="2127504"/>
            <a:ext cx="113120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page.html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9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Fragment Example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Fragment Directives</a:t>
            </a:r>
          </a:p>
          <a:p>
            <a:pPr lvl="1"/>
            <a:r>
              <a:rPr lang="en-US" dirty="0" err="1" smtClean="0"/>
              <a:t>th:replace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directive </a:t>
            </a:r>
            <a:r>
              <a:rPr lang="en-US" dirty="0" err="1" smtClean="0"/>
              <a:t>bằng</a:t>
            </a:r>
            <a:r>
              <a:rPr lang="en-US" dirty="0" smtClean="0"/>
              <a:t> fragment</a:t>
            </a:r>
          </a:p>
          <a:p>
            <a:pPr lvl="1"/>
            <a:r>
              <a:rPr lang="en-US" dirty="0" err="1" smtClean="0"/>
              <a:t>th:insert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 fragment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smtClean="0"/>
              <a:t>directive</a:t>
            </a:r>
          </a:p>
          <a:p>
            <a:pPr lvl="1"/>
            <a:r>
              <a:rPr lang="en-US" dirty="0" err="1" smtClean="0"/>
              <a:t>th:remove</a:t>
            </a:r>
            <a:r>
              <a:rPr lang="en-US" dirty="0" smtClean="0"/>
              <a:t>=“all” </a:t>
            </a: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directive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con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. </a:t>
            </a:r>
            <a:r>
              <a:rPr lang="en-US" dirty="0" err="1" smtClean="0"/>
              <a:t>Chú</a:t>
            </a:r>
            <a:r>
              <a:rPr lang="en-US" dirty="0" smtClean="0"/>
              <a:t> ý: directive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luôn</a:t>
            </a:r>
            <a:r>
              <a:rPr lang="en-US" dirty="0" smtClean="0"/>
              <a:t> </a:t>
            </a:r>
            <a:r>
              <a:rPr lang="en-US" dirty="0" err="1" smtClean="0"/>
              <a:t>luôn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Fragment Expressions</a:t>
            </a:r>
          </a:p>
          <a:p>
            <a:pPr lvl="1"/>
            <a:r>
              <a:rPr lang="en-US" dirty="0" smtClean="0"/>
              <a:t>~{/demo/frags::frag2}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~{/demo/frags.html::frag2}</a:t>
            </a:r>
          </a:p>
          <a:p>
            <a:pPr lvl="1"/>
            <a:r>
              <a:rPr lang="en-US" dirty="0" smtClean="0"/>
              <a:t>~{/demo/frags} </a:t>
            </a:r>
            <a:r>
              <a:rPr lang="en-US" dirty="0" err="1" smtClean="0"/>
              <a:t>toàn</a:t>
            </a:r>
            <a:r>
              <a:rPr lang="en-US" dirty="0" smtClean="0"/>
              <a:t> template frags.html</a:t>
            </a:r>
          </a:p>
          <a:p>
            <a:pPr lvl="1"/>
            <a:r>
              <a:rPr lang="en-US" dirty="0" smtClean="0"/>
              <a:t>~{::frag3}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~{/demo/page::frag3} </a:t>
            </a:r>
            <a:r>
              <a:rPr lang="en-US" dirty="0" err="1" smtClean="0"/>
              <a:t>và</a:t>
            </a:r>
            <a:r>
              <a:rPr lang="en-US" dirty="0" smtClean="0"/>
              <a:t> frag3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1 template page.html</a:t>
            </a:r>
          </a:p>
          <a:p>
            <a:pPr lvl="1"/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CSS Selector (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HTML Selector)</a:t>
            </a:r>
          </a:p>
          <a:p>
            <a:pPr lvl="2"/>
            <a:r>
              <a:rPr lang="en-US" dirty="0"/>
              <a:t>~{/demo/frags</a:t>
            </a:r>
            <a:r>
              <a:rPr lang="en-US" dirty="0" smtClean="0"/>
              <a:t>::h1}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~{/</a:t>
            </a:r>
            <a:r>
              <a:rPr lang="en-US" dirty="0"/>
              <a:t>demo/frags::frag1}</a:t>
            </a:r>
          </a:p>
          <a:p>
            <a:pPr lvl="2"/>
            <a:r>
              <a:rPr lang="en-US" dirty="0" smtClean="0"/>
              <a:t>~{::h3}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~{::frag3}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7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Fragment with parameters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9253"/>
            <a:ext cx="4985662" cy="2202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" y="4639082"/>
            <a:ext cx="9028805" cy="17617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424" y="1676401"/>
            <a:ext cx="5611072" cy="14181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8744" y="1379253"/>
            <a:ext cx="4976518" cy="220214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8743" y="4634477"/>
            <a:ext cx="9028805" cy="176632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77424" y="1676400"/>
            <a:ext cx="5604976" cy="141818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8742" y="4172811"/>
            <a:ext cx="1446678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frags.html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18743" y="914400"/>
            <a:ext cx="1443985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page.html</a:t>
            </a:r>
            <a:endParaRPr lang="en-US" sz="2400" dirty="0"/>
          </a:p>
        </p:txBody>
      </p:sp>
      <p:sp>
        <p:nvSpPr>
          <p:cNvPr id="12" name="Right Arrow 11"/>
          <p:cNvSpPr/>
          <p:nvPr/>
        </p:nvSpPr>
        <p:spPr>
          <a:xfrm>
            <a:off x="5495840" y="2301893"/>
            <a:ext cx="445008" cy="36281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" y="969404"/>
            <a:ext cx="6134956" cy="29722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 case study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09398" y="2743200"/>
            <a:ext cx="2209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TRANG CHỦ</a:t>
            </a:r>
            <a:endParaRPr lang="en-US" sz="28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094" y="2455511"/>
            <a:ext cx="6134956" cy="29722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118793" y="4134924"/>
            <a:ext cx="220980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GIỚI THIỆU</a:t>
            </a:r>
            <a:endParaRPr lang="en-US" sz="2800" b="1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444" y="3702782"/>
            <a:ext cx="6134956" cy="29722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0" y="5468424"/>
            <a:ext cx="2209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LIÊN HỆ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5720890"/>
            <a:ext cx="249100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800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b="1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sz="2800" b="1" i="1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stCxn id="10" idx="0"/>
            <a:endCxn id="7" idx="2"/>
          </p:cNvCxnSpPr>
          <p:nvPr/>
        </p:nvCxnSpPr>
        <p:spPr>
          <a:xfrm flipH="1" flipV="1">
            <a:off x="1814298" y="3266420"/>
            <a:ext cx="40803" cy="245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0"/>
          </p:cNvCxnSpPr>
          <p:nvPr/>
        </p:nvCxnSpPr>
        <p:spPr>
          <a:xfrm flipV="1">
            <a:off x="1855101" y="4658144"/>
            <a:ext cx="2388994" cy="1062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0"/>
            <a:endCxn id="9" idx="1"/>
          </p:cNvCxnSpPr>
          <p:nvPr/>
        </p:nvCxnSpPr>
        <p:spPr>
          <a:xfrm>
            <a:off x="1855101" y="5720890"/>
            <a:ext cx="3631299" cy="9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16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 Organization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2209800"/>
            <a:ext cx="3962400" cy="685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895600"/>
            <a:ext cx="39624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r>
              <a:rPr lang="en-US" dirty="0" smtClean="0"/>
              <a:t>enu.html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3200400"/>
            <a:ext cx="3962400" cy="1295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${</a:t>
            </a:r>
            <a:r>
              <a:rPr lang="en-US" dirty="0"/>
              <a:t>content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9600" y="4495800"/>
            <a:ext cx="3962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footer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4667" y="1485900"/>
            <a:ext cx="1613583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layout.html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197715"/>
            <a:ext cx="2590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TRANG CHỦ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0" y="1487531"/>
            <a:ext cx="1561966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home.html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6096000" y="1925943"/>
            <a:ext cx="2590800" cy="272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Home</a:t>
            </a:r>
            <a:endParaRPr lang="en-US" sz="1200" dirty="0"/>
          </a:p>
        </p:txBody>
      </p:sp>
      <p:sp>
        <p:nvSpPr>
          <p:cNvPr id="24" name="Rectangle 23"/>
          <p:cNvSpPr/>
          <p:nvPr/>
        </p:nvSpPr>
        <p:spPr>
          <a:xfrm>
            <a:off x="609600" y="1943100"/>
            <a:ext cx="3962400" cy="272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${title}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787238" y="1716732"/>
            <a:ext cx="197182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Fragment</a:t>
            </a:r>
          </a:p>
          <a:p>
            <a:pPr algn="ctr"/>
            <a:r>
              <a:rPr lang="en-US" dirty="0" smtClean="0"/>
              <a:t>view(title, content)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096000" y="3773531"/>
            <a:ext cx="2590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GIỚI THIỆU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096000" y="3063347"/>
            <a:ext cx="157479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about.html</a:t>
            </a:r>
            <a:endParaRPr lang="en-US" sz="2400" dirty="0"/>
          </a:p>
        </p:txBody>
      </p:sp>
      <p:sp>
        <p:nvSpPr>
          <p:cNvPr id="28" name="Rectangle 27"/>
          <p:cNvSpPr/>
          <p:nvPr/>
        </p:nvSpPr>
        <p:spPr>
          <a:xfrm>
            <a:off x="6096000" y="3501759"/>
            <a:ext cx="2590800" cy="272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About Us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6096000" y="5369266"/>
            <a:ext cx="2590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LIÊN HỆ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096000" y="4659082"/>
            <a:ext cx="1765933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contact.html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6096000" y="5097494"/>
            <a:ext cx="2590800" cy="272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Contact Us</a:t>
            </a:r>
            <a:endParaRPr lang="en-US" sz="1200" dirty="0"/>
          </a:p>
        </p:txBody>
      </p:sp>
      <p:cxnSp>
        <p:nvCxnSpPr>
          <p:cNvPr id="33" name="Elbow Connector 32"/>
          <p:cNvCxnSpPr>
            <a:stCxn id="30" idx="1"/>
            <a:endCxn id="23" idx="3"/>
          </p:cNvCxnSpPr>
          <p:nvPr/>
        </p:nvCxnSpPr>
        <p:spPr>
          <a:xfrm rot="10800000">
            <a:off x="4759060" y="2039899"/>
            <a:ext cx="1336940" cy="2850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26" idx="1"/>
            <a:endCxn id="23" idx="3"/>
          </p:cNvCxnSpPr>
          <p:nvPr/>
        </p:nvCxnSpPr>
        <p:spPr>
          <a:xfrm rot="10800000">
            <a:off x="4759060" y="2039899"/>
            <a:ext cx="1336940" cy="20765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1" idx="1"/>
            <a:endCxn id="23" idx="3"/>
          </p:cNvCxnSpPr>
          <p:nvPr/>
        </p:nvCxnSpPr>
        <p:spPr>
          <a:xfrm rot="10800000">
            <a:off x="4759060" y="2039899"/>
            <a:ext cx="1336940" cy="5007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63000" y="2096136"/>
            <a:ext cx="281940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Barlow Condensed Light" panose="00000406000000000000" pitchFamily="2" charset="0"/>
              </a:rPr>
              <a:t>&lt;title&gt;Home&lt;/title&gt;</a:t>
            </a:r>
          </a:p>
          <a:p>
            <a:r>
              <a:rPr lang="en-US" dirty="0">
                <a:latin typeface="Barlow Condensed Light" panose="00000406000000000000" pitchFamily="2" charset="0"/>
              </a:rPr>
              <a:t>&lt;article&gt;TRANG </a:t>
            </a:r>
            <a:r>
              <a:rPr lang="en-US" dirty="0" smtClean="0">
                <a:latin typeface="Barlow Condensed Light" panose="00000406000000000000" pitchFamily="2" charset="0"/>
              </a:rPr>
              <a:t>CHỦ&lt;/</a:t>
            </a:r>
            <a:r>
              <a:rPr lang="en-US" dirty="0">
                <a:latin typeface="Barlow Condensed Light" panose="00000406000000000000" pitchFamily="2" charset="0"/>
              </a:rPr>
              <a:t>article</a:t>
            </a:r>
            <a:r>
              <a:rPr lang="en-US" dirty="0" smtClean="0">
                <a:latin typeface="Barlow Condensed Light" panose="00000406000000000000" pitchFamily="2" charset="0"/>
              </a:rPr>
              <a:t>&gt;</a:t>
            </a:r>
            <a:endParaRPr lang="en-US" dirty="0">
              <a:latin typeface="Barlow Condensed Light" panose="00000406000000000000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63000" y="3619136"/>
            <a:ext cx="281940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Barlow Condensed Light" panose="00000406000000000000" pitchFamily="2" charset="0"/>
              </a:rPr>
              <a:t>&lt;title&gt;About Us&lt;/title&gt;</a:t>
            </a:r>
          </a:p>
          <a:p>
            <a:r>
              <a:rPr lang="en-US" dirty="0">
                <a:latin typeface="Barlow Condensed Light" panose="00000406000000000000" pitchFamily="2" charset="0"/>
              </a:rPr>
              <a:t>&lt;</a:t>
            </a:r>
            <a:r>
              <a:rPr lang="en-US" dirty="0" smtClean="0">
                <a:latin typeface="Barlow Condensed Light" panose="00000406000000000000" pitchFamily="2" charset="0"/>
              </a:rPr>
              <a:t>article&gt;GIỚI THIỆU&lt;/</a:t>
            </a:r>
            <a:r>
              <a:rPr lang="en-US" dirty="0">
                <a:latin typeface="Barlow Condensed Light" panose="00000406000000000000" pitchFamily="2" charset="0"/>
              </a:rPr>
              <a:t>article</a:t>
            </a:r>
            <a:r>
              <a:rPr lang="en-US" dirty="0" smtClean="0">
                <a:latin typeface="Barlow Condensed Light" panose="00000406000000000000" pitchFamily="2" charset="0"/>
              </a:rPr>
              <a:t>&gt;</a:t>
            </a:r>
            <a:endParaRPr lang="en-US" dirty="0">
              <a:latin typeface="Barlow Condensed Light" panose="00000406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63000" y="5219967"/>
            <a:ext cx="281940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Barlow Condensed Light" panose="00000406000000000000" pitchFamily="2" charset="0"/>
              </a:rPr>
              <a:t>&lt;title&gt;Contact Us&lt;/title&gt;</a:t>
            </a:r>
          </a:p>
          <a:p>
            <a:r>
              <a:rPr lang="en-US" dirty="0">
                <a:latin typeface="Barlow Condensed Light" panose="00000406000000000000" pitchFamily="2" charset="0"/>
              </a:rPr>
              <a:t>&lt;</a:t>
            </a:r>
            <a:r>
              <a:rPr lang="en-US" dirty="0" smtClean="0">
                <a:latin typeface="Barlow Condensed Light" panose="00000406000000000000" pitchFamily="2" charset="0"/>
              </a:rPr>
              <a:t>article&gt;LIÊN HỆ&lt;/</a:t>
            </a:r>
            <a:r>
              <a:rPr lang="en-US" dirty="0">
                <a:latin typeface="Barlow Condensed Light" panose="00000406000000000000" pitchFamily="2" charset="0"/>
              </a:rPr>
              <a:t>article</a:t>
            </a:r>
            <a:r>
              <a:rPr lang="en-US" dirty="0" smtClean="0">
                <a:latin typeface="Barlow Condensed Light" panose="00000406000000000000" pitchFamily="2" charset="0"/>
              </a:rPr>
              <a:t>&gt;</a:t>
            </a:r>
            <a:endParaRPr lang="en-US" dirty="0">
              <a:latin typeface="Barlow Condensed Light" panose="000004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4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layout.html template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9221487" cy="471553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9639752" y="2482334"/>
            <a:ext cx="194264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/demo/menu.html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" y="998696"/>
            <a:ext cx="198054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/demo/layout.html</a:t>
            </a:r>
            <a:endParaRPr lang="en-US" dirty="0"/>
          </a:p>
        </p:txBody>
      </p:sp>
      <p:cxnSp>
        <p:nvCxnSpPr>
          <p:cNvPr id="5" name="Straight Arrow Connector 4"/>
          <p:cNvCxnSpPr>
            <a:endCxn id="15" idx="1"/>
          </p:cNvCxnSpPr>
          <p:nvPr/>
        </p:nvCxnSpPr>
        <p:spPr>
          <a:xfrm flipV="1">
            <a:off x="6781800" y="2667000"/>
            <a:ext cx="2857952" cy="129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4572000" y="1752600"/>
            <a:ext cx="3048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448546" y="1752601"/>
            <a:ext cx="19173" cy="274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4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Menu.html template &amp; result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6751"/>
            <a:ext cx="7611537" cy="464884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444" y="991524"/>
            <a:ext cx="6134956" cy="1571844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Right Brace 5"/>
          <p:cNvSpPr/>
          <p:nvPr/>
        </p:nvSpPr>
        <p:spPr>
          <a:xfrm>
            <a:off x="7010400" y="2590800"/>
            <a:ext cx="381000" cy="1828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8324422" y="4800600"/>
            <a:ext cx="362378" cy="1447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391400" y="2438400"/>
            <a:ext cx="38100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1"/>
          </p:cNvCxnSpPr>
          <p:nvPr/>
        </p:nvCxnSpPr>
        <p:spPr>
          <a:xfrm flipV="1">
            <a:off x="8686800" y="1371600"/>
            <a:ext cx="2057400" cy="415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1687419"/>
            <a:ext cx="194264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/demo/menu.html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2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Home.html template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8821381" cy="433448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09600" y="1377172"/>
            <a:ext cx="194264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/demo/home.html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689668" y="1007840"/>
            <a:ext cx="3892732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/demo/layout.html::view(title, content)</a:t>
            </a:r>
            <a:endParaRPr lang="en-US" dirty="0"/>
          </a:p>
        </p:txBody>
      </p:sp>
      <p:cxnSp>
        <p:nvCxnSpPr>
          <p:cNvPr id="20" name="Straight Arrow Connector 19"/>
          <p:cNvCxnSpPr>
            <a:endCxn id="18" idx="1"/>
          </p:cNvCxnSpPr>
          <p:nvPr/>
        </p:nvCxnSpPr>
        <p:spPr>
          <a:xfrm flipV="1">
            <a:off x="6019800" y="1192506"/>
            <a:ext cx="1669868" cy="712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876801" y="2133600"/>
            <a:ext cx="1828799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3352800" y="2133600"/>
            <a:ext cx="457200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35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Home.html result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7268589" cy="298174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496" y="1447800"/>
            <a:ext cx="6658904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2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3800" y="2967335"/>
            <a:ext cx="592059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Message Source &amp; i18n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65096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99608" cy="4800600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2057400" y="1143000"/>
            <a:ext cx="6858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05000" y="2743200"/>
            <a:ext cx="6858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828800" y="3276600"/>
            <a:ext cx="35814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0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85800" y="1033183"/>
            <a:ext cx="10972800" cy="5672417"/>
          </a:xfrm>
        </p:spPr>
        <p:txBody>
          <a:bodyPr/>
          <a:lstStyle/>
          <a:p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file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&lt;</a:t>
            </a:r>
            <a:r>
              <a:rPr lang="en-US" dirty="0" err="1" smtClean="0">
                <a:solidFill>
                  <a:srgbClr val="0000FF"/>
                </a:solidFill>
              </a:rPr>
              <a:t>basename</a:t>
            </a:r>
            <a:r>
              <a:rPr lang="en-US" dirty="0" smtClean="0">
                <a:solidFill>
                  <a:srgbClr val="0000FF"/>
                </a:solidFill>
              </a:rPr>
              <a:t>&gt;</a:t>
            </a:r>
            <a:r>
              <a:rPr lang="en-US" dirty="0" smtClean="0"/>
              <a:t>_</a:t>
            </a:r>
            <a:r>
              <a:rPr lang="en-US" dirty="0" smtClean="0">
                <a:solidFill>
                  <a:srgbClr val="FF3300"/>
                </a:solidFill>
              </a:rPr>
              <a:t>&lt;language code&gt;</a:t>
            </a:r>
            <a:r>
              <a:rPr lang="en-US" dirty="0" smtClean="0"/>
              <a:t>.properties</a:t>
            </a:r>
          </a:p>
          <a:p>
            <a:pPr lvl="1"/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1 file properties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key</a:t>
            </a:r>
          </a:p>
          <a:p>
            <a:pPr lvl="2"/>
            <a:r>
              <a:rPr lang="en-US" dirty="0" err="1" smtClean="0"/>
              <a:t>layout_en.properties</a:t>
            </a:r>
            <a:r>
              <a:rPr lang="en-US" dirty="0" smtClean="0"/>
              <a:t> (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_en)</a:t>
            </a:r>
          </a:p>
          <a:p>
            <a:pPr lvl="2"/>
            <a:r>
              <a:rPr lang="en-US" dirty="0" err="1"/>
              <a:t>l</a:t>
            </a:r>
            <a:r>
              <a:rPr lang="en-US" dirty="0" err="1" smtClean="0"/>
              <a:t>ayout_vi.properties</a:t>
            </a:r>
            <a:endParaRPr lang="en-US" dirty="0" smtClean="0"/>
          </a:p>
          <a:p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file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endParaRPr lang="en-US" dirty="0" smtClean="0"/>
          </a:p>
        </p:txBody>
      </p:sp>
      <p:sp>
        <p:nvSpPr>
          <p:cNvPr id="4" name="Folded Corner 3"/>
          <p:cNvSpPr/>
          <p:nvPr/>
        </p:nvSpPr>
        <p:spPr>
          <a:xfrm>
            <a:off x="6324600" y="2977455"/>
            <a:ext cx="5025571" cy="153663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err="1"/>
              <a:t>menu.home</a:t>
            </a:r>
            <a:r>
              <a:rPr lang="en-US" sz="2400" dirty="0"/>
              <a:t>=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 err="1"/>
              <a:t>chủ</a:t>
            </a:r>
            <a:endParaRPr lang="en-US" sz="2400" dirty="0"/>
          </a:p>
          <a:p>
            <a:r>
              <a:rPr lang="en-US" sz="2400" dirty="0" err="1"/>
              <a:t>menu.about</a:t>
            </a:r>
            <a:r>
              <a:rPr lang="en-US" sz="2400" dirty="0"/>
              <a:t>=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thiệu</a:t>
            </a:r>
            <a:endParaRPr lang="en-US" sz="2400" dirty="0"/>
          </a:p>
          <a:p>
            <a:r>
              <a:rPr lang="en-US" sz="2400" dirty="0" err="1"/>
              <a:t>menu.contact</a:t>
            </a:r>
            <a:r>
              <a:rPr lang="en-US" sz="2400" dirty="0"/>
              <a:t>=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</p:txBody>
      </p:sp>
      <p:sp>
        <p:nvSpPr>
          <p:cNvPr id="5" name="Folded Corner 4"/>
          <p:cNvSpPr/>
          <p:nvPr/>
        </p:nvSpPr>
        <p:spPr>
          <a:xfrm>
            <a:off x="6349565" y="5187255"/>
            <a:ext cx="5025571" cy="153663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err="1"/>
              <a:t>menu.home</a:t>
            </a:r>
            <a:r>
              <a:rPr lang="en-US" sz="2400" dirty="0"/>
              <a:t>=Home</a:t>
            </a:r>
          </a:p>
          <a:p>
            <a:r>
              <a:rPr lang="en-US" sz="2400" dirty="0" err="1"/>
              <a:t>menu.about</a:t>
            </a:r>
            <a:r>
              <a:rPr lang="en-US" sz="2400" dirty="0"/>
              <a:t>=About</a:t>
            </a:r>
          </a:p>
          <a:p>
            <a:r>
              <a:rPr lang="en-US" sz="2400" dirty="0" err="1"/>
              <a:t>menu.contact</a:t>
            </a:r>
            <a:r>
              <a:rPr lang="en-US" sz="2400" dirty="0"/>
              <a:t>=Contact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8709" y="4785271"/>
            <a:ext cx="1977786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 smtClean="0"/>
              <a:t>layout.properties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24600" y="2595192"/>
            <a:ext cx="2290371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 smtClean="0"/>
              <a:t>layout</a:t>
            </a:r>
            <a:r>
              <a:rPr lang="en-US" sz="2000" b="1" dirty="0" err="1" smtClean="0">
                <a:solidFill>
                  <a:srgbClr val="FF0000"/>
                </a:solidFill>
              </a:rPr>
              <a:t>_vi</a:t>
            </a:r>
            <a:r>
              <a:rPr lang="en-US" sz="2000" dirty="0" err="1" smtClean="0"/>
              <a:t>.properties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30" y="4038600"/>
            <a:ext cx="3655329" cy="162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0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file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9678751" cy="4829849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5257800"/>
            <a:ext cx="10134600" cy="1447800"/>
          </a:xfrm>
          <a:solidFill>
            <a:schemeClr val="bg1"/>
          </a:solidFill>
          <a:ln>
            <a:solidFill>
              <a:srgbClr val="0070C0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</a:p>
          <a:p>
            <a:pPr lvl="1"/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setBasenames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Basename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i="1" dirty="0" smtClean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 dirty="0" smtClean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77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677542"/>
            <a:ext cx="10972800" cy="951858"/>
          </a:xfrm>
        </p:spPr>
        <p:txBody>
          <a:bodyPr>
            <a:normAutofit/>
          </a:bodyPr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Message Expression #{key}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14400"/>
            <a:ext cx="9764488" cy="4610743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826" y="914399"/>
            <a:ext cx="7220958" cy="69542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96136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399"/>
            <a:ext cx="8610600" cy="572488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duy</a:t>
            </a:r>
            <a:r>
              <a:rPr lang="en-US" dirty="0" smtClean="0"/>
              <a:t> </a:t>
            </a:r>
            <a:r>
              <a:rPr lang="en-US" dirty="0" err="1" smtClean="0"/>
              <a:t>trì</a:t>
            </a:r>
            <a:r>
              <a:rPr lang="en-US" dirty="0" smtClean="0"/>
              <a:t> </a:t>
            </a:r>
            <a:r>
              <a:rPr lang="en-US" dirty="0" err="1" smtClean="0"/>
              <a:t>ngôn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81800" y="999642"/>
            <a:ext cx="4800600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WebMvcConfigurer</a:t>
            </a:r>
            <a:r>
              <a:rPr lang="en-US" sz="2000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override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addInterceptor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81800" y="3124200"/>
            <a:ext cx="4800600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sung bean </a:t>
            </a:r>
            <a:r>
              <a:rPr lang="en-US" sz="2000" b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LocaleResolver</a:t>
            </a:r>
            <a:r>
              <a:rPr lang="en-US" sz="2000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(Session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Cookie).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Cookie.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810000" y="3810000"/>
            <a:ext cx="29718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1"/>
          </p:cNvCxnSpPr>
          <p:nvPr/>
        </p:nvCxnSpPr>
        <p:spPr>
          <a:xfrm flipH="1">
            <a:off x="6019800" y="1661362"/>
            <a:ext cx="762000" cy="777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1"/>
          </p:cNvCxnSpPr>
          <p:nvPr/>
        </p:nvCxnSpPr>
        <p:spPr>
          <a:xfrm flipH="1" flipV="1">
            <a:off x="6477000" y="1524000"/>
            <a:ext cx="304800" cy="137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485" y="2097041"/>
            <a:ext cx="3580716" cy="492948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0181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7240010" cy="2886478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811" y="3355816"/>
            <a:ext cx="7268589" cy="296268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66909" y="167640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i="1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i="1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810000" y="1999566"/>
            <a:ext cx="4756909" cy="28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1"/>
          </p:cNvCxnSpPr>
          <p:nvPr/>
        </p:nvCxnSpPr>
        <p:spPr>
          <a:xfrm flipH="1">
            <a:off x="6705600" y="1999566"/>
            <a:ext cx="1861309" cy="2420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20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Tổng kết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585826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hnschrift Condensed" panose="020B0502040204020203" pitchFamily="34" charset="0"/>
              </a:rPr>
              <a:t>Phần</a:t>
            </a:r>
            <a:r>
              <a:rPr lang="en-US" cap="small" dirty="0">
                <a:latin typeface="Bahnschrift Condensed" panose="020B0502040204020203" pitchFamily="34" charset="0"/>
              </a:rPr>
              <a:t> 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hnschrift Condensed" panose="020B0502040204020203" pitchFamily="34" charset="0"/>
              </a:rPr>
              <a:t>Ràng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buộc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dữ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liệu</a:t>
            </a:r>
            <a:r>
              <a:rPr lang="en-US" cap="small" dirty="0">
                <a:latin typeface="Bahnschrift Condensed" panose="020B0502040204020203" pitchFamily="34" charset="0"/>
              </a:rPr>
              <a:t> (Data Binding)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hnschrift Condensed" panose="020B0502040204020203" pitchFamily="34" charset="0"/>
              </a:rPr>
              <a:t>Kiểm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tra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dữ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liệu</a:t>
            </a:r>
            <a:r>
              <a:rPr lang="en-US" cap="small" dirty="0">
                <a:latin typeface="Bahnschrift Condensed" panose="020B0502040204020203" pitchFamily="34" charset="0"/>
              </a:rPr>
              <a:t> (Data Validation)</a:t>
            </a:r>
          </a:p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hnschrift Condensed" panose="020B0502040204020203" pitchFamily="34" charset="0"/>
              </a:rPr>
              <a:t>Phần</a:t>
            </a:r>
            <a:r>
              <a:rPr lang="en-US" cap="small" dirty="0">
                <a:latin typeface="Bahnschrift Condensed" panose="020B0502040204020203" pitchFamily="34" charset="0"/>
              </a:rPr>
              <a:t> II: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hnschrift Condensed" panose="020B0502040204020203" pitchFamily="34" charset="0"/>
              </a:rPr>
              <a:t>Tổ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chức</a:t>
            </a:r>
            <a:r>
              <a:rPr lang="en-US" cap="small" dirty="0">
                <a:latin typeface="Bahnschrift Condensed" panose="020B0502040204020203" pitchFamily="34" charset="0"/>
              </a:rPr>
              <a:t> layout (Layout Organization)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hnschrift Condensed" panose="020B0502040204020203" pitchFamily="34" charset="0"/>
              </a:rPr>
              <a:t>Tổ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chức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tài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nguyên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đa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ngôn</a:t>
            </a:r>
            <a:r>
              <a:rPr lang="en-US" cap="small" dirty="0">
                <a:latin typeface="Bahnschrift Condensed" panose="020B0502040204020203" pitchFamily="34" charset="0"/>
              </a:rPr>
              <a:t> </a:t>
            </a:r>
            <a:r>
              <a:rPr lang="en-US" cap="small" dirty="0" err="1">
                <a:latin typeface="Bahnschrift Condensed" panose="020B0502040204020203" pitchFamily="34" charset="0"/>
              </a:rPr>
              <a:t>ngữ</a:t>
            </a:r>
            <a:r>
              <a:rPr lang="en-US" cap="small" dirty="0">
                <a:latin typeface="Bahnschrift Condensed" panose="020B0502040204020203" pitchFamily="34" charset="0"/>
              </a:rPr>
              <a:t> (Message Source &amp; Internationalization)</a:t>
            </a: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229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13336</TotalTime>
  <Words>1044</Words>
  <Application>Microsoft Office PowerPoint</Application>
  <PresentationFormat>Widescreen</PresentationFormat>
  <Paragraphs>204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Arial Narrow</vt:lpstr>
      <vt:lpstr>Bahnschrift Condensed</vt:lpstr>
      <vt:lpstr>Barlow Condensed Light</vt:lpstr>
      <vt:lpstr>Calibri</vt:lpstr>
      <vt:lpstr>Courier New</vt:lpstr>
      <vt:lpstr>Roboto</vt:lpstr>
      <vt:lpstr>Roboto Lt</vt:lpstr>
      <vt:lpstr>Segoe UI</vt:lpstr>
      <vt:lpstr>Times New Roman</vt:lpstr>
      <vt:lpstr>Wingdings</vt:lpstr>
      <vt:lpstr>Custom Design</vt:lpstr>
      <vt:lpstr>Thymeleaf 2</vt:lpstr>
      <vt:lpstr>Content</vt:lpstr>
      <vt:lpstr>PowerPoint Presentation</vt:lpstr>
      <vt:lpstr>Data Binding là gì?</vt:lpstr>
      <vt:lpstr>Bean &amp; Form</vt:lpstr>
      <vt:lpstr>Controller</vt:lpstr>
      <vt:lpstr>Diễn giải Quy trình xử lý</vt:lpstr>
      <vt:lpstr>PowerPoint Presentation</vt:lpstr>
      <vt:lpstr>Case study</vt:lpstr>
      <vt:lpstr>Dependency</vt:lpstr>
      <vt:lpstr>Bean Property Validation Annotation</vt:lpstr>
      <vt:lpstr>Validation Controller</vt:lpstr>
      <vt:lpstr>Form và hiển thị lỗi</vt:lpstr>
      <vt:lpstr>Validation Annotation</vt:lpstr>
      <vt:lpstr>Thymeleaf 2</vt:lpstr>
      <vt:lpstr>PowerPoint Presentation</vt:lpstr>
      <vt:lpstr>Fragment Directives and Expression</vt:lpstr>
      <vt:lpstr>Fragment Example</vt:lpstr>
      <vt:lpstr>Fragment Example Notes</vt:lpstr>
      <vt:lpstr>Fragment with parameters</vt:lpstr>
      <vt:lpstr>Layout case study</vt:lpstr>
      <vt:lpstr>Layout Organization</vt:lpstr>
      <vt:lpstr>layout.html template</vt:lpstr>
      <vt:lpstr>Menu.html template &amp; result</vt:lpstr>
      <vt:lpstr>Home.html template</vt:lpstr>
      <vt:lpstr>Home.html result</vt:lpstr>
      <vt:lpstr>PowerPoint Presentation</vt:lpstr>
      <vt:lpstr>Tổ chức tài nguyên đa ngôn ngữ</vt:lpstr>
      <vt:lpstr>File tài nguyên đa ngôn ngữ</vt:lpstr>
      <vt:lpstr>Cấu hình nạp file tài nguyên đa ngôn ngữ</vt:lpstr>
      <vt:lpstr>Truy xuất tài nguyên đa ngôn ngữ</vt:lpstr>
      <vt:lpstr>Chọn và duy trì ngôn ngữ đã chọn</vt:lpstr>
      <vt:lpstr>Kết quả thực hiện</vt:lpstr>
      <vt:lpstr>Tổng kết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1736</cp:revision>
  <dcterms:created xsi:type="dcterms:W3CDTF">2013-04-23T08:05:33Z</dcterms:created>
  <dcterms:modified xsi:type="dcterms:W3CDTF">2024-12-22T04:16:03Z</dcterms:modified>
</cp:coreProperties>
</file>
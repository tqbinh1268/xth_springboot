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34"/>
  </p:notesMasterIdLst>
  <p:sldIdLst>
    <p:sldId id="709" r:id="rId2"/>
    <p:sldId id="834" r:id="rId3"/>
    <p:sldId id="794" r:id="rId4"/>
    <p:sldId id="836" r:id="rId5"/>
    <p:sldId id="838" r:id="rId6"/>
    <p:sldId id="837" r:id="rId7"/>
    <p:sldId id="839" r:id="rId8"/>
    <p:sldId id="840" r:id="rId9"/>
    <p:sldId id="815" r:id="rId10"/>
    <p:sldId id="816" r:id="rId11"/>
    <p:sldId id="818" r:id="rId12"/>
    <p:sldId id="822" r:id="rId13"/>
    <p:sldId id="841" r:id="rId14"/>
    <p:sldId id="842" r:id="rId15"/>
    <p:sldId id="819" r:id="rId16"/>
    <p:sldId id="817" r:id="rId17"/>
    <p:sldId id="843" r:id="rId18"/>
    <p:sldId id="813" r:id="rId19"/>
    <p:sldId id="825" r:id="rId20"/>
    <p:sldId id="806" r:id="rId21"/>
    <p:sldId id="827" r:id="rId22"/>
    <p:sldId id="828" r:id="rId23"/>
    <p:sldId id="829" r:id="rId24"/>
    <p:sldId id="826" r:id="rId25"/>
    <p:sldId id="808" r:id="rId26"/>
    <p:sldId id="830" r:id="rId27"/>
    <p:sldId id="831" r:id="rId28"/>
    <p:sldId id="832" r:id="rId29"/>
    <p:sldId id="844" r:id="rId30"/>
    <p:sldId id="833" r:id="rId31"/>
    <p:sldId id="707" r:id="rId32"/>
    <p:sldId id="75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BBB59"/>
    <a:srgbClr val="FF3300"/>
    <a:srgbClr val="F9F9F9"/>
    <a:srgbClr val="FF5A33"/>
    <a:srgbClr val="5C0000"/>
    <a:srgbClr val="FF9900"/>
    <a:srgbClr val="FFD1D1"/>
    <a:srgbClr val="FFB9B9"/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364" autoAdjust="0"/>
  </p:normalViewPr>
  <p:slideViewPr>
    <p:cSldViewPr>
      <p:cViewPr varScale="1">
        <p:scale>
          <a:sx n="88" d="100"/>
          <a:sy n="88" d="100"/>
        </p:scale>
        <p:origin x="696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12/21/2024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22B80A-419E-4A25-A0FF-711AF4C34A5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6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Logo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EE1EE2F0-59E4-4602-AA67-BA6EBD73A1CB}"/>
              </a:ext>
            </a:extLst>
          </p:cNvPr>
          <p:cNvGrpSpPr/>
          <p:nvPr userDrawn="1"/>
        </p:nvGrpSpPr>
        <p:grpSpPr>
          <a:xfrm>
            <a:off x="381000" y="152400"/>
            <a:ext cx="4775200" cy="1828800"/>
            <a:chOff x="457200" y="457200"/>
            <a:chExt cx="3581400" cy="1371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7EA993B7-8979-47E1-88DF-A0445F6965F8}"/>
                </a:ext>
              </a:extLst>
            </p:cNvPr>
            <p:cNvSpPr/>
            <p:nvPr userDrawn="1"/>
          </p:nvSpPr>
          <p:spPr>
            <a:xfrm>
              <a:off x="457200" y="609600"/>
              <a:ext cx="3581400" cy="1219200"/>
            </a:xfrm>
            <a:prstGeom prst="rect">
              <a:avLst/>
            </a:prstGeom>
            <a:solidFill>
              <a:srgbClr val="F26522"/>
            </a:solidFill>
            <a:ln>
              <a:solidFill>
                <a:srgbClr val="F265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0FB16836-C66B-4FAD-9EE8-C898ADFFCA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457200"/>
              <a:ext cx="2787037" cy="121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10972800" cy="5759003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BFD7-1BFB-4165-B6C8-93BD150BB7E4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2.1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Spring Boot Controller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Conceive Design Implement Operate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5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9162"/>
            <a:ext cx="9448800" cy="571023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I: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Ánh 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xạ Request với </a:t>
            </a: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RequestMapping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GetMapping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PostMapping</a:t>
            </a:r>
            <a:endParaRPr lang="vi-VN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Đọc 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dữ liệu người </a:t>
            </a: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dùng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RequestParam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RequestPart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PathVariable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CookieValue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Optional&lt;T&gt;</a:t>
            </a:r>
          </a:p>
          <a:p>
            <a:pPr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II: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Chia 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sẻ dữ liệu với view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ModelAttribute</a:t>
            </a:r>
            <a:endParaRPr lang="vi-VN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Điều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hướng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“view-path”</a:t>
            </a: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“forward:&lt;URL&gt;”</a:t>
            </a:r>
          </a:p>
          <a:p>
            <a:pPr lvl="2">
              <a:buFont typeface="Wingdings" panose="05000000000000000000" pitchFamily="2" charset="2"/>
              <a:buChar char="&amp;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“redirect:&lt;URL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&gt;”</a:t>
            </a:r>
            <a:endParaRPr lang="vi-VN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2" descr="D:\Pictures\PNG\pres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448800" y="1095849"/>
            <a:ext cx="2313580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669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Request Mapping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544485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Document 5"/>
          <p:cNvSpPr/>
          <p:nvPr/>
        </p:nvSpPr>
        <p:spPr>
          <a:xfrm>
            <a:off x="637466" y="1714505"/>
            <a:ext cx="5229934" cy="4838695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Document 6"/>
          <p:cNvSpPr/>
          <p:nvPr/>
        </p:nvSpPr>
        <p:spPr>
          <a:xfrm>
            <a:off x="6276266" y="1714505"/>
            <a:ext cx="5229934" cy="4838695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RequestMapping</a:t>
            </a:r>
            <a:r>
              <a:rPr lang="en-US" dirty="0" smtClean="0"/>
              <a:t>(value)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66" y="1799711"/>
            <a:ext cx="5077534" cy="36866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666" y="1837816"/>
            <a:ext cx="4220164" cy="36485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76266" y="1244511"/>
            <a:ext cx="126753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small" dirty="0" smtClean="0">
                <a:solidFill>
                  <a:srgbClr val="FF0000"/>
                </a:solidFill>
                <a:latin typeface="+mj-lt"/>
              </a:rPr>
              <a:t>Thu </a:t>
            </a:r>
            <a:r>
              <a:rPr lang="en-US" sz="2400" b="1" cap="small" dirty="0" err="1" smtClean="0">
                <a:solidFill>
                  <a:srgbClr val="FF0000"/>
                </a:solidFill>
                <a:latin typeface="+mj-lt"/>
              </a:rPr>
              <a:t>gọn</a:t>
            </a:r>
            <a:endParaRPr lang="en-US" sz="2400" b="1" cap="small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7466" y="1252840"/>
            <a:ext cx="1191334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small" dirty="0" err="1" smtClean="0">
                <a:solidFill>
                  <a:srgbClr val="FF0000"/>
                </a:solidFill>
                <a:latin typeface="+mj-lt"/>
              </a:rPr>
              <a:t>Đầy</a:t>
            </a:r>
            <a:r>
              <a:rPr lang="en-US" sz="2400" b="1" cap="small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cap="small" dirty="0" err="1" smtClean="0">
                <a:solidFill>
                  <a:srgbClr val="FF0000"/>
                </a:solidFill>
                <a:latin typeface="+mj-lt"/>
              </a:rPr>
              <a:t>đủ</a:t>
            </a:r>
            <a:endParaRPr lang="en-US" sz="2400" b="1" cap="small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0" name="Left-Right Arrow 9"/>
          <p:cNvSpPr/>
          <p:nvPr/>
        </p:nvSpPr>
        <p:spPr>
          <a:xfrm>
            <a:off x="5715000" y="1974027"/>
            <a:ext cx="713666" cy="316437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-Right Arrow 10"/>
          <p:cNvSpPr/>
          <p:nvPr/>
        </p:nvSpPr>
        <p:spPr>
          <a:xfrm>
            <a:off x="5715000" y="3730213"/>
            <a:ext cx="713666" cy="316437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6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Mapping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@</a:t>
            </a:r>
            <a:r>
              <a:rPr lang="en-US" dirty="0" err="1" smtClean="0"/>
              <a:t>RequestMapping</a:t>
            </a:r>
            <a:r>
              <a:rPr lang="en-US" dirty="0" smtClean="0"/>
              <a:t>(</a:t>
            </a:r>
            <a:r>
              <a:rPr lang="en-US" dirty="0" err="1" smtClean="0"/>
              <a:t>url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biệt</a:t>
            </a:r>
            <a:r>
              <a:rPr lang="en-US" dirty="0" smtClean="0"/>
              <a:t> method </a:t>
            </a:r>
            <a:r>
              <a:rPr lang="en-US" dirty="0" err="1" smtClean="0"/>
              <a:t>tức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request </a:t>
            </a:r>
            <a:r>
              <a:rPr lang="en-US" dirty="0" err="1" smtClean="0"/>
              <a:t>với</a:t>
            </a:r>
            <a:r>
              <a:rPr lang="en-US" dirty="0" smtClean="0"/>
              <a:t> method </a:t>
            </a:r>
            <a:r>
              <a:rPr lang="en-US" dirty="0" err="1" smtClean="0"/>
              <a:t>là</a:t>
            </a:r>
            <a:r>
              <a:rPr lang="en-US" dirty="0" smtClean="0"/>
              <a:t> POST </a:t>
            </a:r>
            <a:r>
              <a:rPr lang="en-US" dirty="0" err="1" smtClean="0"/>
              <a:t>hoặc</a:t>
            </a:r>
            <a:r>
              <a:rPr lang="en-US" dirty="0" smtClean="0"/>
              <a:t> GET</a:t>
            </a:r>
          </a:p>
          <a:p>
            <a:r>
              <a:rPr lang="en-US" dirty="0" smtClean="0"/>
              <a:t>@</a:t>
            </a:r>
            <a:r>
              <a:rPr lang="en-US" dirty="0" err="1" smtClean="0"/>
              <a:t>GetMapping</a:t>
            </a:r>
            <a:r>
              <a:rPr lang="en-US" dirty="0" smtClean="0"/>
              <a:t>(</a:t>
            </a:r>
            <a:r>
              <a:rPr lang="en-US" dirty="0" err="1" smtClean="0"/>
              <a:t>url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method </a:t>
            </a:r>
            <a:r>
              <a:rPr lang="en-US" dirty="0" err="1" smtClean="0"/>
              <a:t>là</a:t>
            </a:r>
            <a:r>
              <a:rPr lang="en-US" dirty="0" smtClean="0"/>
              <a:t> GET</a:t>
            </a:r>
          </a:p>
          <a:p>
            <a:r>
              <a:rPr lang="en-US" dirty="0" smtClean="0"/>
              <a:t>@</a:t>
            </a:r>
            <a:r>
              <a:rPr lang="en-US" dirty="0" err="1" smtClean="0"/>
              <a:t>PostMapping</a:t>
            </a:r>
            <a:endParaRPr lang="en-US" dirty="0" smtClean="0"/>
          </a:p>
          <a:p>
            <a:pPr lvl="1"/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method </a:t>
            </a:r>
            <a:r>
              <a:rPr lang="en-US" dirty="0" err="1" smtClean="0"/>
              <a:t>là</a:t>
            </a:r>
            <a:r>
              <a:rPr lang="en-US" dirty="0" smtClean="0"/>
              <a:t> POST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2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biệt POST | GET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rõ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method </a:t>
            </a:r>
            <a:r>
              <a:rPr lang="en-US" dirty="0" err="1" smtClean="0"/>
              <a:t>của</a:t>
            </a:r>
            <a:r>
              <a:rPr lang="en-US" dirty="0" smtClean="0"/>
              <a:t> @</a:t>
            </a:r>
            <a:r>
              <a:rPr lang="en-US" dirty="0" err="1" smtClean="0"/>
              <a:t>RequestMapping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request </a:t>
            </a:r>
            <a:r>
              <a:rPr lang="en-US" dirty="0" err="1" smtClean="0"/>
              <a:t>với</a:t>
            </a:r>
            <a:r>
              <a:rPr lang="en-US" dirty="0" smtClean="0"/>
              <a:t> method </a:t>
            </a:r>
            <a:r>
              <a:rPr lang="en-US" dirty="0" err="1" smtClean="0"/>
              <a:t>cụ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endParaRPr lang="en-US" dirty="0" smtClean="0"/>
          </a:p>
          <a:p>
            <a:pPr lvl="1"/>
            <a:r>
              <a:rPr lang="en-US" dirty="0" smtClean="0"/>
              <a:t>GET(</a:t>
            </a:r>
            <a:r>
              <a:rPr lang="en-US" dirty="0" err="1" smtClean="0"/>
              <a:t>url</a:t>
            </a:r>
            <a:r>
              <a:rPr lang="en-US" dirty="0" smtClean="0"/>
              <a:t>): @</a:t>
            </a:r>
            <a:r>
              <a:rPr lang="en-US" dirty="0" err="1" smtClean="0"/>
              <a:t>RequestMapping</a:t>
            </a:r>
            <a:r>
              <a:rPr lang="en-US" dirty="0" smtClean="0"/>
              <a:t>(value = "</a:t>
            </a:r>
            <a:r>
              <a:rPr lang="en-US" dirty="0" err="1" smtClean="0"/>
              <a:t>url</a:t>
            </a:r>
            <a:r>
              <a:rPr lang="en-US" dirty="0" smtClean="0"/>
              <a:t>", method = </a:t>
            </a:r>
            <a:r>
              <a:rPr lang="en-US" dirty="0" err="1" smtClean="0"/>
              <a:t>RequestMethod.GET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POST(</a:t>
            </a:r>
            <a:r>
              <a:rPr lang="en-US" dirty="0" err="1" smtClean="0"/>
              <a:t>url</a:t>
            </a:r>
            <a:r>
              <a:rPr lang="en-US" dirty="0" smtClean="0"/>
              <a:t>): @</a:t>
            </a:r>
            <a:r>
              <a:rPr lang="en-US" dirty="0" err="1" smtClean="0"/>
              <a:t>RequestMapping</a:t>
            </a:r>
            <a:r>
              <a:rPr lang="en-US" dirty="0" smtClean="0"/>
              <a:t>(value </a:t>
            </a:r>
            <a:r>
              <a:rPr lang="en-US" dirty="0"/>
              <a:t>= "</a:t>
            </a:r>
            <a:r>
              <a:rPr lang="en-US" dirty="0" err="1"/>
              <a:t>url</a:t>
            </a:r>
            <a:r>
              <a:rPr lang="en-US" dirty="0"/>
              <a:t>", method = </a:t>
            </a:r>
            <a:r>
              <a:rPr lang="en-US" dirty="0" err="1"/>
              <a:t>RequestMethod.POST</a:t>
            </a:r>
            <a:r>
              <a:rPr lang="en-US" dirty="0"/>
              <a:t>)</a:t>
            </a:r>
          </a:p>
          <a:p>
            <a:r>
              <a:rPr lang="en-US" dirty="0" smtClean="0"/>
              <a:t>Spring Boot MVC </a:t>
            </a:r>
            <a:r>
              <a:rPr lang="en-US" dirty="0" err="1" smtClean="0"/>
              <a:t>cung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r>
              <a:rPr lang="en-US" dirty="0" smtClean="0"/>
              <a:t> @</a:t>
            </a:r>
            <a:r>
              <a:rPr lang="en-US" dirty="0" err="1" smtClean="0"/>
              <a:t>GetMapping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@</a:t>
            </a:r>
            <a:r>
              <a:rPr lang="en-US" dirty="0" err="1" smtClean="0"/>
              <a:t>PostMapping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ánh</a:t>
            </a:r>
            <a:r>
              <a:rPr lang="en-US" dirty="0" smtClean="0"/>
              <a:t> </a:t>
            </a:r>
            <a:r>
              <a:rPr lang="en-US" dirty="0" err="1" smtClean="0"/>
              <a:t>xạ</a:t>
            </a:r>
            <a:endParaRPr lang="en-US" dirty="0" smtClean="0"/>
          </a:p>
          <a:p>
            <a:pPr lvl="1"/>
            <a:r>
              <a:rPr lang="en-US" dirty="0" smtClean="0"/>
              <a:t>GET(</a:t>
            </a:r>
            <a:r>
              <a:rPr lang="en-US" dirty="0" err="1" smtClean="0"/>
              <a:t>url</a:t>
            </a:r>
            <a:r>
              <a:rPr lang="en-US" dirty="0" smtClean="0"/>
              <a:t>): @</a:t>
            </a:r>
            <a:r>
              <a:rPr lang="en-US" b="1" dirty="0" err="1" smtClean="0">
                <a:solidFill>
                  <a:srgbClr val="FF0000"/>
                </a:solidFill>
              </a:rPr>
              <a:t>GetMapping</a:t>
            </a:r>
            <a:r>
              <a:rPr lang="en-US" dirty="0" smtClean="0"/>
              <a:t>("</a:t>
            </a:r>
            <a:r>
              <a:rPr lang="en-US" dirty="0" err="1" smtClean="0"/>
              <a:t>url</a:t>
            </a:r>
            <a:r>
              <a:rPr lang="en-US" dirty="0" smtClean="0"/>
              <a:t>")</a:t>
            </a:r>
          </a:p>
          <a:p>
            <a:pPr lvl="1"/>
            <a:r>
              <a:rPr lang="en-US" dirty="0" smtClean="0"/>
              <a:t>POST(</a:t>
            </a:r>
            <a:r>
              <a:rPr lang="en-US" dirty="0" err="1" smtClean="0"/>
              <a:t>url</a:t>
            </a:r>
            <a:r>
              <a:rPr lang="en-US" dirty="0" smtClean="0"/>
              <a:t>): @</a:t>
            </a:r>
            <a:r>
              <a:rPr lang="en-US" b="1" dirty="0" err="1" smtClean="0">
                <a:solidFill>
                  <a:srgbClr val="FF0000"/>
                </a:solidFill>
              </a:rPr>
              <a:t>PostMapping</a:t>
            </a:r>
            <a:r>
              <a:rPr lang="en-US" dirty="0"/>
              <a:t>("</a:t>
            </a:r>
            <a:r>
              <a:rPr lang="en-US" dirty="0" err="1"/>
              <a:t>url</a:t>
            </a:r>
            <a:r>
              <a:rPr lang="en-US" dirty="0" smtClean="0"/>
              <a:t>")</a:t>
            </a:r>
          </a:p>
          <a:p>
            <a:r>
              <a:rPr lang="en-US" dirty="0" err="1" smtClean="0"/>
              <a:t>Chú</a:t>
            </a:r>
            <a:r>
              <a:rPr lang="en-US" dirty="0" smtClean="0"/>
              <a:t> ý:</a:t>
            </a:r>
          </a:p>
          <a:p>
            <a:pPr lvl="1"/>
            <a:r>
              <a:rPr lang="en-US" dirty="0" smtClean="0"/>
              <a:t>Request </a:t>
            </a:r>
            <a:r>
              <a:rPr lang="en-US" dirty="0" err="1" smtClean="0"/>
              <a:t>có</a:t>
            </a:r>
            <a:r>
              <a:rPr lang="en-US" dirty="0" smtClean="0"/>
              <a:t> method POST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submit form </a:t>
            </a:r>
            <a:r>
              <a:rPr lang="en-US" dirty="0" err="1" smtClean="0"/>
              <a:t>với</a:t>
            </a:r>
            <a:r>
              <a:rPr lang="en-US" dirty="0" smtClean="0"/>
              <a:t> method </a:t>
            </a:r>
            <a:r>
              <a:rPr lang="en-US" dirty="0" err="1" smtClean="0"/>
              <a:t>là</a:t>
            </a:r>
            <a:r>
              <a:rPr lang="en-US" dirty="0" smtClean="0"/>
              <a:t> POST</a:t>
            </a:r>
          </a:p>
          <a:p>
            <a:pPr lvl="2"/>
            <a:r>
              <a:rPr lang="en-US" dirty="0" smtClean="0"/>
              <a:t>&lt;form action=“</a:t>
            </a:r>
            <a:r>
              <a:rPr lang="en-US" i="1" dirty="0" err="1" smtClean="0">
                <a:solidFill>
                  <a:srgbClr val="FF0000"/>
                </a:solidFill>
              </a:rPr>
              <a:t>url</a:t>
            </a:r>
            <a:r>
              <a:rPr lang="en-US" dirty="0" smtClean="0"/>
              <a:t>” method=“</a:t>
            </a:r>
            <a:r>
              <a:rPr lang="en-US" b="1" dirty="0" smtClean="0">
                <a:solidFill>
                  <a:srgbClr val="FF0000"/>
                </a:solidFill>
              </a:rPr>
              <a:t>POST</a:t>
            </a:r>
            <a:r>
              <a:rPr lang="en-US" dirty="0" smtClean="0"/>
              <a:t>”&gt;</a:t>
            </a:r>
          </a:p>
          <a:p>
            <a:pPr lvl="1"/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request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(link, submit form,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ô </a:t>
            </a:r>
            <a:r>
              <a:rPr lang="en-US" dirty="0" err="1" smtClean="0"/>
              <a:t>địa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duyệt</a:t>
            </a:r>
            <a:r>
              <a:rPr lang="en-US" dirty="0" smtClean="0"/>
              <a:t>) </a:t>
            </a:r>
            <a:r>
              <a:rPr lang="en-US" dirty="0" err="1" smtClean="0"/>
              <a:t>đều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method </a:t>
            </a:r>
            <a:r>
              <a:rPr lang="en-US" dirty="0" err="1" smtClean="0"/>
              <a:t>là</a:t>
            </a:r>
            <a:r>
              <a:rPr lang="en-US" dirty="0" smtClean="0"/>
              <a:t> GET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9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Tách</a:t>
            </a:r>
            <a:r>
              <a:rPr lang="en-US" dirty="0" smtClean="0"/>
              <a:t> URL </a:t>
            </a:r>
            <a:r>
              <a:rPr lang="en-US" dirty="0" err="1" smtClean="0"/>
              <a:t>thành</a:t>
            </a:r>
            <a:r>
              <a:rPr lang="en-US" dirty="0" smtClean="0"/>
              <a:t> 2 </a:t>
            </a:r>
            <a:r>
              <a:rPr lang="en-US" dirty="0" err="1" smtClean="0"/>
              <a:t>phần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Spring Boot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bạn</a:t>
            </a:r>
            <a:r>
              <a:rPr lang="en-US" dirty="0" smtClean="0"/>
              <a:t> </a:t>
            </a:r>
            <a:r>
              <a:rPr lang="en-US" dirty="0" err="1" smtClean="0"/>
              <a:t>tách</a:t>
            </a:r>
            <a:r>
              <a:rPr lang="en-US" dirty="0" smtClean="0"/>
              <a:t> URL </a:t>
            </a:r>
            <a:r>
              <a:rPr lang="en-US" dirty="0" err="1" smtClean="0"/>
              <a:t>thành</a:t>
            </a:r>
            <a:r>
              <a:rPr lang="en-US" dirty="0" smtClean="0"/>
              <a:t> 2 </a:t>
            </a:r>
            <a:r>
              <a:rPr lang="en-US" dirty="0" err="1" smtClean="0"/>
              <a:t>phần</a:t>
            </a:r>
            <a:endParaRPr lang="en-US" dirty="0" smtClean="0"/>
          </a:p>
          <a:p>
            <a:pPr lvl="1"/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chung</a:t>
            </a:r>
            <a:r>
              <a:rPr lang="en-US" dirty="0" smtClean="0"/>
              <a:t>: Map </a:t>
            </a:r>
            <a:r>
              <a:rPr lang="en-US" dirty="0" err="1" smtClean="0"/>
              <a:t>mức</a:t>
            </a:r>
            <a:r>
              <a:rPr lang="en-US" dirty="0" smtClean="0"/>
              <a:t> class</a:t>
            </a:r>
          </a:p>
          <a:p>
            <a:pPr lvl="1"/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riêng</a:t>
            </a:r>
            <a:r>
              <a:rPr lang="en-US" dirty="0" smtClean="0"/>
              <a:t>: Map </a:t>
            </a:r>
            <a:r>
              <a:rPr lang="en-US" dirty="0" err="1" smtClean="0"/>
              <a:t>mức</a:t>
            </a:r>
            <a:r>
              <a:rPr lang="en-US" dirty="0" smtClean="0"/>
              <a:t> method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50322"/>
            <a:ext cx="7162800" cy="425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84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/>
          <p:cNvSpPr/>
          <p:nvPr/>
        </p:nvSpPr>
        <p:spPr>
          <a:xfrm>
            <a:off x="533400" y="914400"/>
            <a:ext cx="6400800" cy="5791200"/>
          </a:xfrm>
          <a:prstGeom prst="flowChartDocumen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@PostMapping, @GetMapping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315200" y="5082064"/>
            <a:ext cx="4267200" cy="1623536"/>
          </a:xfrm>
        </p:spPr>
        <p:txBody>
          <a:bodyPr/>
          <a:lstStyle/>
          <a:p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thường</a:t>
            </a:r>
            <a:endParaRPr lang="en-US" dirty="0"/>
          </a:p>
          <a:p>
            <a:pPr lvl="1"/>
            <a:r>
              <a:rPr lang="en-US" dirty="0"/>
              <a:t>GET: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form</a:t>
            </a:r>
          </a:p>
          <a:p>
            <a:pPr lvl="1"/>
            <a:r>
              <a:rPr lang="en-US" dirty="0"/>
              <a:t>POST: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form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90601"/>
            <a:ext cx="5181600" cy="4605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315200" y="3493532"/>
            <a:ext cx="36813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00CC"/>
                </a:solidFill>
              </a:rPr>
              <a:t>POST: </a:t>
            </a:r>
            <a:r>
              <a:rPr lang="en-US" sz="3200" dirty="0">
                <a:solidFill>
                  <a:srgbClr val="FF0000"/>
                </a:solidFill>
              </a:rPr>
              <a:t>/account/login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905000"/>
            <a:ext cx="3471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00CC"/>
                </a:solidFill>
              </a:rPr>
              <a:t>GET: </a:t>
            </a:r>
            <a:r>
              <a:rPr lang="en-US" sz="3200" dirty="0">
                <a:solidFill>
                  <a:srgbClr val="FF0000"/>
                </a:solidFill>
              </a:rPr>
              <a:t>/account/login</a:t>
            </a:r>
          </a:p>
        </p:txBody>
      </p:sp>
      <p:cxnSp>
        <p:nvCxnSpPr>
          <p:cNvPr id="6" name="Straight Arrow Connector 5"/>
          <p:cNvCxnSpPr>
            <a:stCxn id="13" idx="1"/>
          </p:cNvCxnSpPr>
          <p:nvPr/>
        </p:nvCxnSpPr>
        <p:spPr>
          <a:xfrm flipH="1">
            <a:off x="4343400" y="2197388"/>
            <a:ext cx="2971800" cy="164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3" idx="1"/>
          </p:cNvCxnSpPr>
          <p:nvPr/>
        </p:nvCxnSpPr>
        <p:spPr>
          <a:xfrm flipH="1">
            <a:off x="4419600" y="3785920"/>
            <a:ext cx="2895600" cy="100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54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User Data Handling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383164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RequestParam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10972800" cy="1110803"/>
          </a:xfrm>
        </p:spPr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RequestParam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133600"/>
            <a:ext cx="1046797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26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Optional Parameter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10972800" cy="3777803"/>
          </a:xfrm>
        </p:spPr>
        <p:txBody>
          <a:bodyPr/>
          <a:lstStyle/>
          <a:p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r>
              <a:rPr lang="en-US" dirty="0" smtClean="0"/>
              <a:t> (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1" y="1618985"/>
            <a:ext cx="10831437" cy="2200582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140591"/>
              </p:ext>
            </p:extLst>
          </p:nvPr>
        </p:nvGraphicFramePr>
        <p:xfrm>
          <a:off x="762000" y="4648200"/>
          <a:ext cx="10749718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4859"/>
                <a:gridCol w="537485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URL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pageNo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http://localhost:8080/url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0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http://localhost:8080/url?page=0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0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/>
                        <a:t>http://localhost:8080/url?page=3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3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69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RequestPart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10972800" cy="3092003"/>
          </a:xfrm>
        </p:spPr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RequestPart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file </a:t>
            </a:r>
            <a:r>
              <a:rPr lang="en-US" dirty="0"/>
              <a:t>upload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smtClean="0"/>
              <a:t>client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MultipartFile</a:t>
            </a:r>
            <a:r>
              <a:rPr lang="en-US" dirty="0" smtClean="0"/>
              <a:t> API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524001"/>
            <a:ext cx="8458200" cy="187263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984343"/>
              </p:ext>
            </p:extLst>
          </p:nvPr>
        </p:nvGraphicFramePr>
        <p:xfrm>
          <a:off x="1066800" y="4095206"/>
          <a:ext cx="1051559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1219200"/>
                <a:gridCol w="70865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Method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Return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isEmpty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boolean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Có</a:t>
                      </a:r>
                      <a:r>
                        <a:rPr lang="en-US" baseline="0" dirty="0" smtClean="0"/>
                        <a:t> upload file hay </a:t>
                      </a:r>
                      <a:r>
                        <a:rPr lang="en-US" baseline="0" dirty="0" err="1" smtClean="0"/>
                        <a:t>không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getOriginalFilename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Tên</a:t>
                      </a:r>
                      <a:r>
                        <a:rPr lang="en-US" baseline="0" dirty="0" smtClean="0"/>
                        <a:t> file </a:t>
                      </a:r>
                      <a:r>
                        <a:rPr lang="en-US" baseline="0" dirty="0" err="1" smtClean="0"/>
                        <a:t>tải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lên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getContentType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Kiểu</a:t>
                      </a:r>
                      <a:r>
                        <a:rPr lang="en-US" baseline="0" dirty="0" smtClean="0"/>
                        <a:t> file </a:t>
                      </a:r>
                      <a:r>
                        <a:rPr lang="en-US" baseline="0" dirty="0" err="1" smtClean="0"/>
                        <a:t>tải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lên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getSize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Kích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thước</a:t>
                      </a:r>
                      <a:r>
                        <a:rPr lang="en-US" baseline="0" dirty="0" smtClean="0"/>
                        <a:t> file </a:t>
                      </a:r>
                      <a:r>
                        <a:rPr lang="en-US" baseline="0" dirty="0" err="1" smtClean="0"/>
                        <a:t>tải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lên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getBytes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byte[]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Byte[]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chứa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dữ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liệu</a:t>
                      </a:r>
                      <a:r>
                        <a:rPr lang="en-US" baseline="0" dirty="0" smtClean="0"/>
                        <a:t> file </a:t>
                      </a:r>
                      <a:r>
                        <a:rPr lang="en-US" baseline="0" dirty="0" err="1" smtClean="0"/>
                        <a:t>tải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lên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transferTo</a:t>
                      </a:r>
                      <a:r>
                        <a:rPr lang="en-US" dirty="0" smtClean="0"/>
                        <a:t>(File)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Lưu</a:t>
                      </a:r>
                      <a:r>
                        <a:rPr lang="en-US" baseline="0" dirty="0" smtClean="0"/>
                        <a:t> file </a:t>
                      </a:r>
                      <a:r>
                        <a:rPr lang="en-US" baseline="0" dirty="0" err="1" smtClean="0"/>
                        <a:t>tải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lên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vào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vị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mới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841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Upload File Example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8569273" cy="55325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753" y="4853788"/>
            <a:ext cx="6153647" cy="186748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51883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JavaBean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0" y="4737829"/>
            <a:ext cx="5181599" cy="1739169"/>
          </a:xfrm>
          <a:ln>
            <a:solidFill>
              <a:schemeClr val="tx1"/>
            </a:solidFill>
            <a:headEnd type="triangle" w="med" len="med"/>
            <a:tailEnd type="triangle" w="med" len="med"/>
          </a:ln>
        </p:spPr>
        <p:txBody>
          <a:bodyPr>
            <a:normAutofit fontScale="92500" lnSpcReduction="20000"/>
          </a:bodyPr>
          <a:lstStyle/>
          <a:p>
            <a:r>
              <a:rPr lang="en-US" i="1" dirty="0" err="1" smtClean="0"/>
              <a:t>Chú</a:t>
            </a:r>
            <a:r>
              <a:rPr lang="en-US" i="1" dirty="0" smtClean="0"/>
              <a:t> ý: </a:t>
            </a:r>
          </a:p>
          <a:p>
            <a:pPr lvl="1"/>
            <a:r>
              <a:rPr lang="en-US" i="1" dirty="0" smtClean="0"/>
              <a:t>Bean property </a:t>
            </a:r>
            <a:r>
              <a:rPr lang="en-US" i="1" dirty="0" err="1" smtClean="0"/>
              <a:t>phải</a:t>
            </a:r>
            <a:r>
              <a:rPr lang="en-US" i="1" dirty="0" smtClean="0"/>
              <a:t> </a:t>
            </a:r>
            <a:r>
              <a:rPr lang="en-US" i="1" dirty="0" err="1" smtClean="0"/>
              <a:t>cùng</a:t>
            </a:r>
            <a:r>
              <a:rPr lang="en-US" i="1" dirty="0" smtClean="0"/>
              <a:t> </a:t>
            </a:r>
            <a:r>
              <a:rPr lang="en-US" i="1" dirty="0" err="1" smtClean="0"/>
              <a:t>tên</a:t>
            </a:r>
            <a:r>
              <a:rPr lang="en-US" i="1" dirty="0" smtClean="0"/>
              <a:t> </a:t>
            </a:r>
            <a:r>
              <a:rPr lang="en-US" i="1" dirty="0" err="1" smtClean="0"/>
              <a:t>với</a:t>
            </a:r>
            <a:r>
              <a:rPr lang="en-US" i="1" dirty="0" smtClean="0"/>
              <a:t> </a:t>
            </a:r>
            <a:r>
              <a:rPr lang="en-US" i="1" dirty="0" err="1" smtClean="0"/>
              <a:t>các</a:t>
            </a:r>
            <a:r>
              <a:rPr lang="en-US" i="1" dirty="0" smtClean="0"/>
              <a:t> parameter</a:t>
            </a:r>
          </a:p>
          <a:p>
            <a:pPr lvl="1"/>
            <a:r>
              <a:rPr lang="en-US" i="1" dirty="0" err="1" smtClean="0"/>
              <a:t>Sử</a:t>
            </a:r>
            <a:r>
              <a:rPr lang="en-US" i="1" dirty="0" smtClean="0"/>
              <a:t> </a:t>
            </a:r>
            <a:r>
              <a:rPr lang="en-US" i="1" dirty="0" err="1" smtClean="0"/>
              <a:t>dụng</a:t>
            </a:r>
            <a:r>
              <a:rPr lang="en-US" i="1" dirty="0" smtClean="0"/>
              <a:t> @Data </a:t>
            </a:r>
            <a:r>
              <a:rPr lang="en-US" i="1" dirty="0" err="1" smtClean="0"/>
              <a:t>để</a:t>
            </a:r>
            <a:r>
              <a:rPr lang="en-US" i="1" dirty="0" smtClean="0"/>
              <a:t> </a:t>
            </a:r>
            <a:r>
              <a:rPr lang="en-US" i="1" dirty="0" err="1" smtClean="0"/>
              <a:t>sinh</a:t>
            </a:r>
            <a:r>
              <a:rPr lang="en-US" i="1" dirty="0" smtClean="0"/>
              <a:t> </a:t>
            </a:r>
            <a:r>
              <a:rPr lang="en-US" i="1" dirty="0" err="1" smtClean="0"/>
              <a:t>các</a:t>
            </a:r>
            <a:r>
              <a:rPr lang="en-US" i="1" dirty="0" smtClean="0"/>
              <a:t> </a:t>
            </a:r>
            <a:r>
              <a:rPr lang="en-US" i="1" dirty="0" err="1" smtClean="0"/>
              <a:t>cặp</a:t>
            </a:r>
            <a:r>
              <a:rPr lang="en-US" i="1" dirty="0" smtClean="0"/>
              <a:t> getter </a:t>
            </a:r>
            <a:r>
              <a:rPr lang="en-US" i="1" dirty="0" err="1" smtClean="0"/>
              <a:t>và</a:t>
            </a:r>
            <a:r>
              <a:rPr lang="en-US" i="1" dirty="0" smtClean="0"/>
              <a:t> setter </a:t>
            </a:r>
            <a:r>
              <a:rPr lang="en-US" i="1" dirty="0" err="1" smtClean="0"/>
              <a:t>cho</a:t>
            </a:r>
            <a:r>
              <a:rPr lang="en-US" i="1" dirty="0" smtClean="0"/>
              <a:t> </a:t>
            </a:r>
            <a:r>
              <a:rPr lang="en-US" i="1" dirty="0" err="1" smtClean="0"/>
              <a:t>các</a:t>
            </a:r>
            <a:r>
              <a:rPr lang="en-US" i="1" dirty="0" smtClean="0"/>
              <a:t> field.</a:t>
            </a:r>
            <a:endParaRPr lang="en-US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7" y="942243"/>
            <a:ext cx="5041490" cy="21291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57" y="3578855"/>
            <a:ext cx="5454494" cy="28981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202" y="2394203"/>
            <a:ext cx="3019198" cy="20721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0487" y="3514328"/>
            <a:ext cx="5476264" cy="296267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0487" y="942242"/>
            <a:ext cx="5476264" cy="212910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563201" y="2405089"/>
            <a:ext cx="3019949" cy="212910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endCxn id="7" idx="1"/>
          </p:cNvCxnSpPr>
          <p:nvPr/>
        </p:nvCxnSpPr>
        <p:spPr>
          <a:xfrm flipV="1">
            <a:off x="5029200" y="3430272"/>
            <a:ext cx="3534002" cy="1375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343400" y="1758955"/>
            <a:ext cx="4953000" cy="1593845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733800" y="2133600"/>
            <a:ext cx="5562600" cy="175260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49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cookie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@</a:t>
            </a:r>
            <a:r>
              <a:rPr lang="en-US" dirty="0" err="1" smtClean="0"/>
              <a:t>CookieValue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cookie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cookie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cki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val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cookie </a:t>
            </a:r>
            <a:r>
              <a:rPr lang="en-US" dirty="0" err="1" smtClean="0"/>
              <a:t>cki</a:t>
            </a:r>
            <a:r>
              <a:rPr lang="en-US" dirty="0" smtClean="0"/>
              <a:t> </a:t>
            </a:r>
            <a:r>
              <a:rPr lang="en-US" dirty="0" err="1" smtClean="0"/>
              <a:t>tồn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endParaRPr lang="en-US" dirty="0" smtClean="0"/>
          </a:p>
          <a:p>
            <a:pPr lvl="1"/>
            <a:r>
              <a:rPr lang="en-US" dirty="0" err="1" smtClean="0"/>
              <a:t>Nếu</a:t>
            </a:r>
            <a:r>
              <a:rPr lang="en-US" dirty="0" smtClean="0"/>
              <a:t> cookie </a:t>
            </a:r>
            <a:r>
              <a:rPr lang="en-US" dirty="0" err="1" smtClean="0"/>
              <a:t>cki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tồn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val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poly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13" y="1524000"/>
            <a:ext cx="10555173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@</a:t>
            </a:r>
            <a:r>
              <a:rPr lang="en-US" dirty="0" err="1" smtClean="0"/>
              <a:t>PathVariable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nằm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URL.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Với</a:t>
            </a:r>
            <a:r>
              <a:rPr lang="en-US" dirty="0" smtClean="0"/>
              <a:t> request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url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“/page/10/5”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pageSize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10</a:t>
            </a:r>
          </a:p>
          <a:p>
            <a:pPr lvl="1"/>
            <a:r>
              <a:rPr lang="en-US" dirty="0" err="1" smtClean="0"/>
              <a:t>pageNumber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5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30634"/>
            <a:ext cx="8630854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53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chọn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4376076"/>
            <a:ext cx="10972800" cy="576924"/>
          </a:xfrm>
        </p:spPr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tình</a:t>
            </a:r>
            <a:r>
              <a:rPr lang="en-US" dirty="0" smtClean="0"/>
              <a:t> </a:t>
            </a:r>
            <a:r>
              <a:rPr lang="en-US" dirty="0" err="1" smtClean="0"/>
              <a:t>huống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xảy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request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11" y="946597"/>
            <a:ext cx="10926700" cy="342947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617092"/>
              </p:ext>
            </p:extLst>
          </p:nvPr>
        </p:nvGraphicFramePr>
        <p:xfrm>
          <a:off x="762000" y="4953000"/>
          <a:ext cx="10820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/>
                <a:gridCol w="3606800"/>
                <a:gridCol w="3606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URL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pageSize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pageNumber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/page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/page/10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/page/10/5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70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2.2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5506720" y="4284596"/>
            <a:ext cx="6380480" cy="704980"/>
          </a:xfrm>
        </p:spPr>
        <p:txBody>
          <a:bodyPr>
            <a:noAutofit/>
          </a:bodyPr>
          <a:lstStyle/>
          <a:p>
            <a:pPr lvl="0"/>
            <a:r>
              <a:rPr lang="en-US" sz="2800" dirty="0" smtClean="0"/>
              <a:t>Spring Boot Controller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Conceive Design Implement Operate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8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Data Sharing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996971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&amp; @ModelAttribute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do </a:t>
            </a:r>
            <a:r>
              <a:rPr lang="en-US" dirty="0" smtClean="0"/>
              <a:t>Controller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View</a:t>
            </a:r>
          </a:p>
          <a:p>
            <a:r>
              <a:rPr lang="en-US" dirty="0" err="1"/>
              <a:t>Trong</a:t>
            </a:r>
            <a:r>
              <a:rPr lang="en-US" dirty="0"/>
              <a:t> Controller </a:t>
            </a:r>
            <a:r>
              <a:rPr lang="en-US" dirty="0" err="1"/>
              <a:t>có</a:t>
            </a:r>
            <a:r>
              <a:rPr lang="en-US" dirty="0"/>
              <a:t> 3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smtClean="0"/>
              <a:t>chia </a:t>
            </a:r>
            <a:r>
              <a:rPr lang="en-US" dirty="0" err="1" smtClean="0"/>
              <a:t>sẻ</a:t>
            </a:r>
            <a:r>
              <a:rPr lang="en-US" dirty="0" smtClean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smtClean="0"/>
              <a:t>Model:</a:t>
            </a:r>
            <a:endParaRPr lang="en-US" dirty="0"/>
          </a:p>
          <a:p>
            <a:pPr lvl="1"/>
            <a:r>
              <a:rPr lang="en-US" dirty="0" err="1"/>
              <a:t>Model.addAttribute</a:t>
            </a:r>
            <a:r>
              <a:rPr lang="en-US" dirty="0"/>
              <a:t>(name, value</a:t>
            </a:r>
            <a:r>
              <a:rPr lang="en-US" dirty="0" smtClean="0"/>
              <a:t>)</a:t>
            </a:r>
          </a:p>
          <a:p>
            <a:pPr lvl="2"/>
            <a:r>
              <a:rPr lang="en-US" dirty="0" err="1" smtClean="0"/>
              <a:t>Bổ</a:t>
            </a:r>
            <a:r>
              <a:rPr lang="en-US" dirty="0" smtClean="0"/>
              <a:t> sung 1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model</a:t>
            </a:r>
            <a:endParaRPr lang="en-US" dirty="0"/>
          </a:p>
          <a:p>
            <a:pPr lvl="1"/>
            <a:r>
              <a:rPr lang="en-US" dirty="0" err="1"/>
              <a:t>MappingMethod</a:t>
            </a:r>
            <a:r>
              <a:rPr lang="en-US" dirty="0"/>
              <a:t>(@</a:t>
            </a:r>
            <a:r>
              <a:rPr lang="en-US" dirty="0" err="1"/>
              <a:t>ModelAttribute</a:t>
            </a:r>
            <a:r>
              <a:rPr lang="en-US" dirty="0"/>
              <a:t>(name) Type value</a:t>
            </a:r>
            <a:r>
              <a:rPr lang="en-US" dirty="0" smtClean="0"/>
              <a:t>)</a:t>
            </a:r>
          </a:p>
          <a:p>
            <a:pPr lvl="2"/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model</a:t>
            </a:r>
            <a:endParaRPr lang="en-US" dirty="0"/>
          </a:p>
          <a:p>
            <a:pPr lvl="1"/>
            <a:r>
              <a:rPr lang="en-US" dirty="0"/>
              <a:t>@</a:t>
            </a:r>
            <a:r>
              <a:rPr lang="en-US" dirty="0" err="1"/>
              <a:t>ModelAttribute</a:t>
            </a:r>
            <a:r>
              <a:rPr lang="en-US" dirty="0"/>
              <a:t>(name) Type method(){…return value</a:t>
            </a:r>
            <a:r>
              <a:rPr lang="en-US" dirty="0" smtClean="0"/>
              <a:t>;}</a:t>
            </a:r>
          </a:p>
          <a:p>
            <a:pPr lvl="2"/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609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model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09600" y="5334000"/>
            <a:ext cx="10972800" cy="1371600"/>
          </a:xfrm>
        </p:spPr>
        <p:txBody>
          <a:bodyPr>
            <a:normAutofit/>
          </a:bodyPr>
          <a:lstStyle/>
          <a:p>
            <a:r>
              <a:rPr lang="en-US" i="1" dirty="0" err="1" smtClean="0">
                <a:solidFill>
                  <a:srgbClr val="FF0000"/>
                </a:solidFill>
              </a:rPr>
              <a:t>Chú</a:t>
            </a:r>
            <a:r>
              <a:rPr lang="en-US" i="1" dirty="0" smtClean="0">
                <a:solidFill>
                  <a:srgbClr val="FF0000"/>
                </a:solidFill>
              </a:rPr>
              <a:t> ý: </a:t>
            </a:r>
            <a:r>
              <a:rPr lang="en-US" i="1" dirty="0" err="1" smtClean="0">
                <a:solidFill>
                  <a:srgbClr val="FF0000"/>
                </a:solidFill>
              </a:rPr>
              <a:t>Nguyên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tắc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đặt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tên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mặc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định</a:t>
            </a:r>
            <a:r>
              <a:rPr lang="en-US" i="1" dirty="0" smtClean="0">
                <a:solidFill>
                  <a:srgbClr val="FF0000"/>
                </a:solidFill>
              </a:rPr>
              <a:t>: </a:t>
            </a:r>
            <a:r>
              <a:rPr lang="en-US" i="1" dirty="0" err="1" smtClean="0">
                <a:solidFill>
                  <a:srgbClr val="FF0000"/>
                </a:solidFill>
              </a:rPr>
              <a:t>lấy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tên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kiểu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của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biến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và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đổi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ký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tự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đầu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tiên</a:t>
            </a:r>
            <a:r>
              <a:rPr lang="en-US" i="1" dirty="0" smtClean="0">
                <a:solidFill>
                  <a:srgbClr val="FF0000"/>
                </a:solidFill>
              </a:rPr>
              <a:t> sang </a:t>
            </a:r>
            <a:r>
              <a:rPr lang="en-US" i="1" dirty="0" err="1" smtClean="0">
                <a:solidFill>
                  <a:srgbClr val="FF0000"/>
                </a:solidFill>
              </a:rPr>
              <a:t>ký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tự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thường</a:t>
            </a:r>
            <a:endParaRPr lang="en-US" i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9200"/>
            <a:ext cx="6781800" cy="39692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731227"/>
              </p:ext>
            </p:extLst>
          </p:nvPr>
        </p:nvGraphicFramePr>
        <p:xfrm>
          <a:off x="7696200" y="1683841"/>
          <a:ext cx="3886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xmlns="" val="109542452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xmlns="" val="3502027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810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message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“Hello Spring”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62321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“Hello Spring”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70452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now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Date object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01751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Date object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9697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user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Account object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1718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account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Account Object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9444506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786341" y="990600"/>
            <a:ext cx="170591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/>
                <a:solidFill>
                  <a:schemeClr val="accent3"/>
                </a:solidFill>
                <a:effectLst/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158265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model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053498"/>
              </p:ext>
            </p:extLst>
          </p:nvPr>
        </p:nvGraphicFramePr>
        <p:xfrm>
          <a:off x="7467600" y="3657600"/>
          <a:ext cx="3886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xmlns="" val="109542452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xmlns="" val="3502027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810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Date object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1718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user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Account Object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9444506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557741" y="2964359"/>
            <a:ext cx="170591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/>
                <a:solidFill>
                  <a:schemeClr val="accent3"/>
                </a:solidFill>
                <a:effectLst/>
              </a:rPr>
              <a:t>Model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78990"/>
            <a:ext cx="7776330" cy="2526209"/>
          </a:xfrm>
          <a:prstGeom prst="rect">
            <a:avLst/>
          </a:prstGeom>
        </p:spPr>
      </p:pic>
      <p:sp>
        <p:nvSpPr>
          <p:cNvPr id="8" name="Bent-Up Arrow 7"/>
          <p:cNvSpPr/>
          <p:nvPr/>
        </p:nvSpPr>
        <p:spPr>
          <a:xfrm rot="5400000">
            <a:off x="5816182" y="3215640"/>
            <a:ext cx="2185237" cy="731520"/>
          </a:xfrm>
          <a:prstGeom prst="bent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2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Bổ</a:t>
            </a:r>
            <a:r>
              <a:rPr lang="en-US" dirty="0" smtClean="0"/>
              <a:t> sung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model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032843"/>
              </p:ext>
            </p:extLst>
          </p:nvPr>
        </p:nvGraphicFramePr>
        <p:xfrm>
          <a:off x="6781800" y="2133600"/>
          <a:ext cx="4648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541">
                  <a:extLst>
                    <a:ext uri="{9D8B030D-6E8A-4147-A177-3AD203B41FA5}">
                      <a16:colId xmlns:a16="http://schemas.microsoft.com/office/drawing/2014/main" xmlns="" val="1095424528"/>
                    </a:ext>
                  </a:extLst>
                </a:gridCol>
                <a:gridCol w="3007659">
                  <a:extLst>
                    <a:ext uri="{9D8B030D-6E8A-4147-A177-3AD203B41FA5}">
                      <a16:colId xmlns:a16="http://schemas.microsoft.com/office/drawing/2014/main" xmlns="" val="35020278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6810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now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Date object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1718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account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Account Object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9444506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52942" y="1364159"/>
            <a:ext cx="170591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/>
                <a:solidFill>
                  <a:schemeClr val="accent3"/>
                </a:solidFill>
                <a:effectLst/>
              </a:rPr>
              <a:t>Model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66800"/>
            <a:ext cx="4650260" cy="4200617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5259860" y="2667000"/>
            <a:ext cx="978408" cy="4846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96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Return of Controller Methods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467854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90600"/>
            <a:ext cx="6629400" cy="57590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Controller Method Returns</a:t>
            </a:r>
            <a:endParaRPr lang="en-US" dirty="0"/>
          </a:p>
        </p:txBody>
      </p:sp>
      <p:sp>
        <p:nvSpPr>
          <p:cNvPr id="4" name="Line Callout 2 3"/>
          <p:cNvSpPr/>
          <p:nvPr/>
        </p:nvSpPr>
        <p:spPr>
          <a:xfrm>
            <a:off x="7315200" y="1371600"/>
            <a:ext cx="4267199" cy="612648"/>
          </a:xfrm>
          <a:prstGeom prst="borderCallout2">
            <a:avLst>
              <a:gd name="adj1" fmla="val 52865"/>
              <a:gd name="adj2" fmla="val -578"/>
              <a:gd name="adj3" fmla="val 51444"/>
              <a:gd name="adj4" fmla="val -17075"/>
              <a:gd name="adj5" fmla="val 36175"/>
              <a:gd name="adj6" fmla="val -85411"/>
            </a:avLst>
          </a:prstGeom>
          <a:ln w="31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sang view (view-path)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Callout 2 5"/>
          <p:cNvSpPr/>
          <p:nvPr/>
        </p:nvSpPr>
        <p:spPr>
          <a:xfrm>
            <a:off x="7315200" y="2438400"/>
            <a:ext cx="4267199" cy="612648"/>
          </a:xfrm>
          <a:prstGeom prst="borderCallout2">
            <a:avLst>
              <a:gd name="adj1" fmla="val 51444"/>
              <a:gd name="adj2" fmla="val -782"/>
              <a:gd name="adj3" fmla="val 41493"/>
              <a:gd name="adj4" fmla="val -45443"/>
              <a:gd name="adj5" fmla="val 5672"/>
              <a:gd name="adj6" fmla="val -48333"/>
            </a:avLst>
          </a:prstGeom>
          <a:ln w="31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view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(url2)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Line Callout 2 6"/>
          <p:cNvSpPr/>
          <p:nvPr/>
        </p:nvSpPr>
        <p:spPr>
          <a:xfrm>
            <a:off x="7315200" y="3505200"/>
            <a:ext cx="4267199" cy="612648"/>
          </a:xfrm>
          <a:prstGeom prst="borderCallout2">
            <a:avLst>
              <a:gd name="adj1" fmla="val 52865"/>
              <a:gd name="adj2" fmla="val -1802"/>
              <a:gd name="adj3" fmla="val 54287"/>
              <a:gd name="adj4" fmla="val -40136"/>
              <a:gd name="adj5" fmla="val -7913"/>
              <a:gd name="adj6" fmla="val -61194"/>
            </a:avLst>
          </a:prstGeom>
          <a:ln w="31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Line Callout 2 7"/>
          <p:cNvSpPr/>
          <p:nvPr/>
        </p:nvSpPr>
        <p:spPr>
          <a:xfrm>
            <a:off x="7315200" y="4648200"/>
            <a:ext cx="4267199" cy="612648"/>
          </a:xfrm>
          <a:prstGeom prst="borderCallout2">
            <a:avLst>
              <a:gd name="adj1" fmla="val 51444"/>
              <a:gd name="adj2" fmla="val -986"/>
              <a:gd name="adj3" fmla="val 52865"/>
              <a:gd name="adj4" fmla="val -39524"/>
              <a:gd name="adj5" fmla="val 4350"/>
              <a:gd name="adj6" fmla="val -63025"/>
            </a:avLst>
          </a:prstGeom>
          <a:ln w="31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Line Callout 2 8"/>
          <p:cNvSpPr/>
          <p:nvPr/>
        </p:nvSpPr>
        <p:spPr>
          <a:xfrm>
            <a:off x="7315200" y="5638800"/>
            <a:ext cx="4267199" cy="612648"/>
          </a:xfrm>
          <a:prstGeom prst="borderCallout2">
            <a:avLst>
              <a:gd name="adj1" fmla="val 52865"/>
              <a:gd name="adj2" fmla="val -1394"/>
              <a:gd name="adj3" fmla="val 98352"/>
              <a:gd name="adj4" fmla="val -16055"/>
              <a:gd name="adj5" fmla="val 49259"/>
              <a:gd name="adj6" fmla="val -42203"/>
            </a:avLst>
          </a:prstGeom>
          <a:ln w="31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err="1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b="1" i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b="1" i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b="1" i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b="1" i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</a:t>
            </a:r>
            <a:r>
              <a:rPr lang="en-US" b="1" i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i="1" dirty="0" err="1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b="1" i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b="1" i="1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68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View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089497"/>
            <a:ext cx="10972800" cy="1616103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 err="1" smtClean="0">
                <a:solidFill>
                  <a:srgbClr val="FF0000"/>
                </a:solidFill>
              </a:rPr>
              <a:t>Chú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ý:</a:t>
            </a:r>
          </a:p>
          <a:p>
            <a:pPr lvl="1"/>
            <a:r>
              <a:rPr lang="en-US" i="1" dirty="0" err="1" smtClean="0">
                <a:solidFill>
                  <a:srgbClr val="FF0000"/>
                </a:solidFill>
              </a:rPr>
              <a:t>Lệnh</a:t>
            </a:r>
            <a:r>
              <a:rPr lang="en-US" i="1" dirty="0" smtClean="0">
                <a:solidFill>
                  <a:srgbClr val="FF0000"/>
                </a:solidFill>
              </a:rPr>
              <a:t> return </a:t>
            </a:r>
            <a:r>
              <a:rPr lang="en-US" i="1" dirty="0" err="1" smtClean="0">
                <a:solidFill>
                  <a:srgbClr val="FF0000"/>
                </a:solidFill>
              </a:rPr>
              <a:t>được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hiểu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là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chuyển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tiếp</a:t>
            </a:r>
            <a:r>
              <a:rPr lang="en-US" i="1" dirty="0" smtClean="0">
                <a:solidFill>
                  <a:srgbClr val="FF0000"/>
                </a:solidFill>
              </a:rPr>
              <a:t> (forward) sang view</a:t>
            </a:r>
          </a:p>
          <a:p>
            <a:pPr lvl="1"/>
            <a:r>
              <a:rPr lang="en-US" i="1" dirty="0" smtClean="0">
                <a:solidFill>
                  <a:srgbClr val="FF0000"/>
                </a:solidFill>
              </a:rPr>
              <a:t>Theo </a:t>
            </a:r>
            <a:r>
              <a:rPr lang="en-US" i="1" dirty="0" err="1" smtClean="0">
                <a:solidFill>
                  <a:srgbClr val="FF0000"/>
                </a:solidFill>
              </a:rPr>
              <a:t>cấu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hình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mặc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định</a:t>
            </a:r>
            <a:r>
              <a:rPr lang="en-US" i="1" dirty="0" smtClean="0">
                <a:solidFill>
                  <a:srgbClr val="FF0000"/>
                </a:solidFill>
              </a:rPr>
              <a:t> (</a:t>
            </a:r>
            <a:r>
              <a:rPr lang="en-US" i="1" dirty="0" err="1" smtClean="0">
                <a:solidFill>
                  <a:srgbClr val="FF0000"/>
                </a:solidFill>
              </a:rPr>
              <a:t>kiểu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trả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về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là</a:t>
            </a:r>
            <a:r>
              <a:rPr lang="en-US" i="1" dirty="0" smtClean="0">
                <a:solidFill>
                  <a:srgbClr val="FF0000"/>
                </a:solidFill>
              </a:rPr>
              <a:t> void) </a:t>
            </a:r>
            <a:r>
              <a:rPr lang="en-US" i="1" dirty="0" err="1" smtClean="0">
                <a:solidFill>
                  <a:srgbClr val="FF0000"/>
                </a:solidFill>
              </a:rPr>
              <a:t>thì</a:t>
            </a:r>
            <a:r>
              <a:rPr lang="en-US" i="1" dirty="0" smtClean="0">
                <a:solidFill>
                  <a:srgbClr val="FF0000"/>
                </a:solidFill>
              </a:rPr>
              <a:t> view-path </a:t>
            </a:r>
            <a:r>
              <a:rPr lang="en-US" i="1" dirty="0" err="1" smtClean="0">
                <a:solidFill>
                  <a:srgbClr val="FF0000"/>
                </a:solidFill>
              </a:rPr>
              <a:t>của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controller method </a:t>
            </a:r>
            <a:r>
              <a:rPr lang="en-US" i="1" dirty="0" err="1">
                <a:solidFill>
                  <a:srgbClr val="FF0000"/>
                </a:solidFill>
              </a:rPr>
              <a:t>là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mapping-</a:t>
            </a:r>
            <a:r>
              <a:rPr lang="en-US" i="1" dirty="0" err="1" smtClean="0">
                <a:solidFill>
                  <a:srgbClr val="FF0000"/>
                </a:solidFill>
              </a:rPr>
              <a:t>url</a:t>
            </a:r>
            <a:endParaRPr lang="en-US" i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6597"/>
            <a:ext cx="5029200" cy="39856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0" y="1295400"/>
            <a:ext cx="26911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demo/</a:t>
            </a:r>
            <a:r>
              <a:rPr lang="en-US" sz="3200" dirty="0" err="1"/>
              <a:t>form.jsp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8382000" y="3338649"/>
            <a:ext cx="20954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demo/2.jsp</a:t>
            </a:r>
          </a:p>
        </p:txBody>
      </p:sp>
      <p:cxnSp>
        <p:nvCxnSpPr>
          <p:cNvPr id="8" name="Straight Arrow Connector 7"/>
          <p:cNvCxnSpPr>
            <a:endCxn id="5" idx="1"/>
          </p:cNvCxnSpPr>
          <p:nvPr/>
        </p:nvCxnSpPr>
        <p:spPr>
          <a:xfrm flipV="1">
            <a:off x="4419600" y="1587788"/>
            <a:ext cx="3962400" cy="584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6" idx="1"/>
          </p:cNvCxnSpPr>
          <p:nvPr/>
        </p:nvCxnSpPr>
        <p:spPr>
          <a:xfrm flipV="1">
            <a:off x="4343400" y="3631037"/>
            <a:ext cx="4038600" cy="864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25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971549"/>
            <a:ext cx="6705600" cy="40891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639832"/>
            <a:ext cx="10972800" cy="1065768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Forward </a:t>
            </a:r>
            <a:r>
              <a:rPr lang="en-US" i="1" dirty="0" err="1">
                <a:solidFill>
                  <a:srgbClr val="FF0000"/>
                </a:solidFill>
              </a:rPr>
              <a:t>xảy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ra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phía</a:t>
            </a:r>
            <a:r>
              <a:rPr lang="en-US" i="1" dirty="0">
                <a:solidFill>
                  <a:srgbClr val="FF0000"/>
                </a:solidFill>
              </a:rPr>
              <a:t> server </a:t>
            </a:r>
            <a:r>
              <a:rPr lang="en-US" i="1" dirty="0" err="1">
                <a:solidFill>
                  <a:srgbClr val="FF0000"/>
                </a:solidFill>
              </a:rPr>
              <a:t>trên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cùng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một</a:t>
            </a:r>
            <a:r>
              <a:rPr lang="en-US" i="1" dirty="0">
                <a:solidFill>
                  <a:srgbClr val="FF0000"/>
                </a:solidFill>
              </a:rPr>
              <a:t> request </a:t>
            </a:r>
            <a:r>
              <a:rPr lang="en-US" i="1" dirty="0" err="1">
                <a:solidFill>
                  <a:srgbClr val="FF0000"/>
                </a:solidFill>
              </a:rPr>
              <a:t>nên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dữ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liệu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trong</a:t>
            </a:r>
            <a:r>
              <a:rPr lang="en-US" i="1" dirty="0">
                <a:solidFill>
                  <a:srgbClr val="FF0000"/>
                </a:solidFill>
              </a:rPr>
              <a:t> Model </a:t>
            </a:r>
            <a:r>
              <a:rPr lang="en-US" i="1" dirty="0" err="1">
                <a:solidFill>
                  <a:srgbClr val="FF0000"/>
                </a:solidFill>
              </a:rPr>
              <a:t>được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tạo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bởi</a:t>
            </a:r>
            <a:r>
              <a:rPr lang="en-US" i="1" dirty="0">
                <a:solidFill>
                  <a:srgbClr val="FF0000"/>
                </a:solidFill>
              </a:rPr>
              <a:t> url3 </a:t>
            </a:r>
            <a:r>
              <a:rPr lang="en-US" i="1" dirty="0" err="1">
                <a:solidFill>
                  <a:srgbClr val="FF0000"/>
                </a:solidFill>
              </a:rPr>
              <a:t>có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err="1">
                <a:solidFill>
                  <a:srgbClr val="FF0000"/>
                </a:solidFill>
              </a:rPr>
              <a:t>thể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 smtClean="0">
                <a:solidFill>
                  <a:srgbClr val="FF0000"/>
                </a:solidFill>
              </a:rPr>
              <a:t>chia </a:t>
            </a:r>
            <a:r>
              <a:rPr lang="en-US" i="1" dirty="0" err="1" smtClean="0">
                <a:solidFill>
                  <a:srgbClr val="FF0000"/>
                </a:solidFill>
              </a:rPr>
              <a:t>sẻ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với</a:t>
            </a:r>
            <a:r>
              <a:rPr lang="en-US" i="1" dirty="0" smtClean="0">
                <a:solidFill>
                  <a:srgbClr val="FF0000"/>
                </a:solidFill>
              </a:rPr>
              <a:t> url1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44000" y="4267200"/>
            <a:ext cx="228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44000" y="995544"/>
            <a:ext cx="228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Elbow Connector 13"/>
          <p:cNvCxnSpPr>
            <a:stCxn id="11" idx="3"/>
            <a:endCxn id="12" idx="3"/>
          </p:cNvCxnSpPr>
          <p:nvPr/>
        </p:nvCxnSpPr>
        <p:spPr>
          <a:xfrm flipV="1">
            <a:off x="9372600" y="1109844"/>
            <a:ext cx="12700" cy="3271656"/>
          </a:xfrm>
          <a:prstGeom prst="bentConnector3">
            <a:avLst>
              <a:gd name="adj1" fmla="val 174342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09386" y="2440872"/>
            <a:ext cx="1981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Web Browser</a:t>
            </a:r>
          </a:p>
        </p:txBody>
      </p:sp>
      <p:cxnSp>
        <p:nvCxnSpPr>
          <p:cNvPr id="46" name="Straight Arrow Connector 45"/>
          <p:cNvCxnSpPr>
            <a:stCxn id="31" idx="3"/>
            <a:endCxn id="41" idx="1"/>
          </p:cNvCxnSpPr>
          <p:nvPr/>
        </p:nvCxnSpPr>
        <p:spPr>
          <a:xfrm>
            <a:off x="2690586" y="2745672"/>
            <a:ext cx="2186215" cy="270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31" idx="3"/>
          </p:cNvCxnSpPr>
          <p:nvPr/>
        </p:nvCxnSpPr>
        <p:spPr>
          <a:xfrm flipH="1">
            <a:off x="2690586" y="1182540"/>
            <a:ext cx="2186215" cy="1563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333474" y="2947228"/>
            <a:ext cx="900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74545" y="1494075"/>
            <a:ext cx="103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2832593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649" y="942975"/>
            <a:ext cx="7521751" cy="3629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Redirect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762500"/>
            <a:ext cx="10972800" cy="1943100"/>
          </a:xfrm>
        </p:spPr>
        <p:txBody>
          <a:bodyPr>
            <a:normAutofit fontScale="92500"/>
          </a:bodyPr>
          <a:lstStyle/>
          <a:p>
            <a:r>
              <a:rPr lang="en-US" i="1" dirty="0" smtClean="0">
                <a:solidFill>
                  <a:srgbClr val="FF0000"/>
                </a:solidFill>
              </a:rPr>
              <a:t>@url1 </a:t>
            </a:r>
            <a:r>
              <a:rPr lang="en-US" i="1" dirty="0" err="1" smtClean="0">
                <a:solidFill>
                  <a:srgbClr val="FF0000"/>
                </a:solidFill>
              </a:rPr>
              <a:t>và</a:t>
            </a:r>
            <a:r>
              <a:rPr lang="en-US" i="1" dirty="0" smtClean="0">
                <a:solidFill>
                  <a:srgbClr val="FF0000"/>
                </a:solidFill>
              </a:rPr>
              <a:t> @url2 </a:t>
            </a:r>
            <a:r>
              <a:rPr lang="en-US" i="1" dirty="0" err="1" smtClean="0">
                <a:solidFill>
                  <a:srgbClr val="FF0000"/>
                </a:solidFill>
              </a:rPr>
              <a:t>được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khẩn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cầu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trên</a:t>
            </a:r>
            <a:r>
              <a:rPr lang="en-US" i="1" dirty="0" smtClean="0">
                <a:solidFill>
                  <a:srgbClr val="FF0000"/>
                </a:solidFill>
              </a:rPr>
              <a:t> 2 request </a:t>
            </a:r>
            <a:r>
              <a:rPr lang="en-US" i="1" dirty="0" err="1" smtClean="0">
                <a:solidFill>
                  <a:srgbClr val="FF0000"/>
                </a:solidFill>
              </a:rPr>
              <a:t>khác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nhau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nên</a:t>
            </a:r>
            <a:r>
              <a:rPr lang="en-US" i="1" dirty="0" smtClean="0">
                <a:solidFill>
                  <a:srgbClr val="FF0000"/>
                </a:solidFill>
              </a:rPr>
              <a:t> Model </a:t>
            </a:r>
            <a:r>
              <a:rPr lang="en-US" i="1" dirty="0" err="1" smtClean="0">
                <a:solidFill>
                  <a:srgbClr val="FF0000"/>
                </a:solidFill>
              </a:rPr>
              <a:t>không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thể</a:t>
            </a:r>
            <a:r>
              <a:rPr lang="en-US" i="1" dirty="0" smtClean="0">
                <a:solidFill>
                  <a:srgbClr val="FF0000"/>
                </a:solidFill>
              </a:rPr>
              <a:t> chia </a:t>
            </a:r>
            <a:r>
              <a:rPr lang="en-US" i="1" dirty="0" err="1" smtClean="0">
                <a:solidFill>
                  <a:srgbClr val="FF0000"/>
                </a:solidFill>
              </a:rPr>
              <a:t>sẻ</a:t>
            </a:r>
            <a:endParaRPr lang="en-US" i="1" dirty="0" smtClean="0">
              <a:solidFill>
                <a:srgbClr val="FF0000"/>
              </a:solidFill>
            </a:endParaRPr>
          </a:p>
          <a:p>
            <a:r>
              <a:rPr lang="en-US" i="1" dirty="0" err="1" smtClean="0">
                <a:solidFill>
                  <a:srgbClr val="FF0000"/>
                </a:solidFill>
              </a:rPr>
              <a:t>Sử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dụng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RedirectAttributes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để</a:t>
            </a:r>
            <a:r>
              <a:rPr lang="en-US" i="1" dirty="0" smtClean="0">
                <a:solidFill>
                  <a:srgbClr val="FF0000"/>
                </a:solidFill>
              </a:rPr>
              <a:t> chia </a:t>
            </a:r>
            <a:r>
              <a:rPr lang="en-US" i="1" dirty="0" err="1" smtClean="0">
                <a:solidFill>
                  <a:srgbClr val="FF0000"/>
                </a:solidFill>
              </a:rPr>
              <a:t>sẽ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dữ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liệu</a:t>
            </a:r>
            <a:r>
              <a:rPr lang="en-US" i="1" dirty="0" smtClean="0">
                <a:solidFill>
                  <a:srgbClr val="FF0000"/>
                </a:solidFill>
              </a:rPr>
              <a:t> text </a:t>
            </a:r>
            <a:r>
              <a:rPr lang="en-US" i="1" dirty="0" err="1" smtClean="0">
                <a:solidFill>
                  <a:srgbClr val="FF0000"/>
                </a:solidFill>
              </a:rPr>
              <a:t>thay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vì</a:t>
            </a:r>
            <a:r>
              <a:rPr lang="en-US" i="1" dirty="0" smtClean="0">
                <a:solidFill>
                  <a:srgbClr val="FF0000"/>
                </a:solidFill>
              </a:rPr>
              <a:t> Model. </a:t>
            </a:r>
            <a:r>
              <a:rPr lang="en-US" i="1" dirty="0" err="1" smtClean="0">
                <a:solidFill>
                  <a:srgbClr val="FF0000"/>
                </a:solidFill>
              </a:rPr>
              <a:t>RedirectAttributes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sẽ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được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chuyển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đổi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thành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các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tham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số</a:t>
            </a:r>
            <a:r>
              <a:rPr lang="en-US" i="1" dirty="0" smtClean="0">
                <a:solidFill>
                  <a:srgbClr val="FF0000"/>
                </a:solidFill>
              </a:rPr>
              <a:t> </a:t>
            </a:r>
            <a:r>
              <a:rPr lang="en-US" i="1" dirty="0" err="1" smtClean="0">
                <a:solidFill>
                  <a:srgbClr val="FF0000"/>
                </a:solidFill>
              </a:rPr>
              <a:t>của</a:t>
            </a:r>
            <a:r>
              <a:rPr lang="en-US" i="1" dirty="0" smtClean="0">
                <a:solidFill>
                  <a:srgbClr val="FF0000"/>
                </a:solidFill>
              </a:rPr>
              <a:t> request </a:t>
            </a:r>
            <a:r>
              <a:rPr lang="en-US" i="1" dirty="0" err="1" smtClean="0">
                <a:solidFill>
                  <a:srgbClr val="FF0000"/>
                </a:solidFill>
              </a:rPr>
              <a:t>mới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33800" y="2578009"/>
            <a:ext cx="228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33800" y="977809"/>
            <a:ext cx="2286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12876" y="2387509"/>
            <a:ext cx="1981200" cy="609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Web Browser</a:t>
            </a:r>
          </a:p>
        </p:txBody>
      </p:sp>
      <p:cxnSp>
        <p:nvCxnSpPr>
          <p:cNvPr id="6" name="Straight Arrow Connector 5"/>
          <p:cNvCxnSpPr>
            <a:stCxn id="13" idx="3"/>
            <a:endCxn id="11" idx="1"/>
          </p:cNvCxnSpPr>
          <p:nvPr/>
        </p:nvCxnSpPr>
        <p:spPr>
          <a:xfrm>
            <a:off x="2694076" y="2692309"/>
            <a:ext cx="10397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1" idx="2"/>
            <a:endCxn id="13" idx="2"/>
          </p:cNvCxnSpPr>
          <p:nvPr/>
        </p:nvCxnSpPr>
        <p:spPr>
          <a:xfrm rot="5400000">
            <a:off x="2680538" y="1829547"/>
            <a:ext cx="190500" cy="2144624"/>
          </a:xfrm>
          <a:prstGeom prst="bentConnector3">
            <a:avLst>
              <a:gd name="adj1" fmla="val 22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stCxn id="13" idx="1"/>
            <a:endCxn id="12" idx="1"/>
          </p:cNvCxnSpPr>
          <p:nvPr/>
        </p:nvCxnSpPr>
        <p:spPr>
          <a:xfrm rot="10800000" flipH="1">
            <a:off x="712876" y="1092109"/>
            <a:ext cx="3020924" cy="1600200"/>
          </a:xfrm>
          <a:prstGeom prst="bentConnector3">
            <a:avLst>
              <a:gd name="adj1" fmla="val -75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>
            <a:stCxn id="12" idx="2"/>
            <a:endCxn id="13" idx="0"/>
          </p:cNvCxnSpPr>
          <p:nvPr/>
        </p:nvCxnSpPr>
        <p:spPr>
          <a:xfrm rot="5400000">
            <a:off x="2185238" y="724647"/>
            <a:ext cx="1181100" cy="21446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78759" y="2335206"/>
            <a:ext cx="900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575" y="1073040"/>
            <a:ext cx="1870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 2?params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8838" y="1409952"/>
            <a:ext cx="103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084" y="3235155"/>
            <a:ext cx="1859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 statement</a:t>
            </a:r>
          </a:p>
        </p:txBody>
      </p:sp>
    </p:spTree>
    <p:extLst>
      <p:ext uri="{BB962C8B-B14F-4D97-AF65-F5344CB8AC3E}">
        <p14:creationId xmlns:p14="http://schemas.microsoft.com/office/powerpoint/2010/main" val="415943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612798" y="985520"/>
            <a:ext cx="2286000" cy="56159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Redirect and Forward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64918" y="1686560"/>
            <a:ext cx="1371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@url1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64918" y="3705860"/>
            <a:ext cx="1371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@url2</a:t>
            </a:r>
            <a:endParaRPr lang="en-US" dirty="0"/>
          </a:p>
        </p:txBody>
      </p:sp>
      <p:cxnSp>
        <p:nvCxnSpPr>
          <p:cNvPr id="10" name="Straight Arrow Connector 9"/>
          <p:cNvCxnSpPr>
            <a:stCxn id="4" idx="2"/>
            <a:endCxn id="5" idx="0"/>
          </p:cNvCxnSpPr>
          <p:nvPr/>
        </p:nvCxnSpPr>
        <p:spPr>
          <a:xfrm>
            <a:off x="1750718" y="2296160"/>
            <a:ext cx="0" cy="140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64918" y="5730240"/>
            <a:ext cx="1371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</a:t>
            </a:r>
            <a:endParaRPr lang="en-US" dirty="0"/>
          </a:p>
        </p:txBody>
      </p:sp>
      <p:cxnSp>
        <p:nvCxnSpPr>
          <p:cNvPr id="15" name="Straight Arrow Connector 14"/>
          <p:cNvCxnSpPr>
            <a:stCxn id="5" idx="2"/>
            <a:endCxn id="13" idx="0"/>
          </p:cNvCxnSpPr>
          <p:nvPr/>
        </p:nvCxnSpPr>
        <p:spPr>
          <a:xfrm>
            <a:off x="1750718" y="4315460"/>
            <a:ext cx="0" cy="14147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 rot="5400000">
            <a:off x="1210538" y="2818262"/>
            <a:ext cx="1449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</a:t>
            </a:r>
            <a:r>
              <a:rPr lang="en-US" dirty="0" smtClean="0"/>
              <a:t>orward:/url2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 rot="5400000">
            <a:off x="1668750" y="4835644"/>
            <a:ext cx="621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view</a:t>
            </a:r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9296400" y="990600"/>
            <a:ext cx="2286000" cy="56159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9748520" y="1686560"/>
            <a:ext cx="1371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@url1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>
            <a:off x="9748520" y="3710940"/>
            <a:ext cx="1371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@url2</a:t>
            </a: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6273133" y="3553460"/>
            <a:ext cx="1088859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Web Browser</a:t>
            </a:r>
            <a:endParaRPr lang="en-US" dirty="0"/>
          </a:p>
        </p:txBody>
      </p:sp>
      <p:cxnSp>
        <p:nvCxnSpPr>
          <p:cNvPr id="53" name="Elbow Connector 52"/>
          <p:cNvCxnSpPr>
            <a:stCxn id="52" idx="0"/>
            <a:endCxn id="50" idx="1"/>
          </p:cNvCxnSpPr>
          <p:nvPr/>
        </p:nvCxnSpPr>
        <p:spPr>
          <a:xfrm rot="5400000" flipH="1" flipV="1">
            <a:off x="7501991" y="1306932"/>
            <a:ext cx="1562100" cy="29309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748520" y="5730240"/>
            <a:ext cx="1371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view</a:t>
            </a:r>
            <a:endParaRPr lang="en-US" dirty="0"/>
          </a:p>
        </p:txBody>
      </p:sp>
      <p:cxnSp>
        <p:nvCxnSpPr>
          <p:cNvPr id="56" name="Straight Arrow Connector 55"/>
          <p:cNvCxnSpPr>
            <a:stCxn id="51" idx="2"/>
            <a:endCxn id="55" idx="0"/>
          </p:cNvCxnSpPr>
          <p:nvPr/>
        </p:nvCxnSpPr>
        <p:spPr>
          <a:xfrm>
            <a:off x="10434320" y="4320540"/>
            <a:ext cx="0" cy="140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>
            <a:stCxn id="55" idx="1"/>
            <a:endCxn id="52" idx="2"/>
          </p:cNvCxnSpPr>
          <p:nvPr/>
        </p:nvCxnSpPr>
        <p:spPr>
          <a:xfrm rot="10800000">
            <a:off x="6817564" y="4467860"/>
            <a:ext cx="2930957" cy="15671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759856" y="1578094"/>
            <a:ext cx="1413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dirty="0" smtClean="0"/>
              <a:t>equest(url1)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6759856" y="6063734"/>
            <a:ext cx="155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response(url2)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 rot="19838554">
            <a:off x="7918802" y="2882542"/>
            <a:ext cx="1443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redirect:/url2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 rot="5400000">
            <a:off x="10352352" y="4840724"/>
            <a:ext cx="621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view</a:t>
            </a:r>
            <a:endParaRPr lang="en-US" dirty="0"/>
          </a:p>
        </p:txBody>
      </p:sp>
      <p:cxnSp>
        <p:nvCxnSpPr>
          <p:cNvPr id="63" name="Straight Arrow Connector 62"/>
          <p:cNvCxnSpPr>
            <a:stCxn id="50" idx="2"/>
            <a:endCxn id="52" idx="3"/>
          </p:cNvCxnSpPr>
          <p:nvPr/>
        </p:nvCxnSpPr>
        <p:spPr>
          <a:xfrm flipH="1">
            <a:off x="7361992" y="2296160"/>
            <a:ext cx="3072328" cy="1714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52" idx="3"/>
            <a:endCxn id="51" idx="1"/>
          </p:cNvCxnSpPr>
          <p:nvPr/>
        </p:nvCxnSpPr>
        <p:spPr>
          <a:xfrm>
            <a:off x="7361992" y="4010660"/>
            <a:ext cx="2386528" cy="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903905" y="4079995"/>
            <a:ext cx="1413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request(url2)</a:t>
            </a:r>
            <a:endParaRPr lang="en-US" dirty="0"/>
          </a:p>
        </p:txBody>
      </p:sp>
      <p:cxnSp>
        <p:nvCxnSpPr>
          <p:cNvPr id="72" name="Elbow Connector 71"/>
          <p:cNvCxnSpPr>
            <a:stCxn id="91" idx="0"/>
            <a:endCxn id="4" idx="3"/>
          </p:cNvCxnSpPr>
          <p:nvPr/>
        </p:nvCxnSpPr>
        <p:spPr>
          <a:xfrm rot="16200000" flipV="1">
            <a:off x="3185924" y="1241954"/>
            <a:ext cx="1562100" cy="30609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/>
          <p:cNvCxnSpPr>
            <a:stCxn id="13" idx="3"/>
            <a:endCxn id="91" idx="2"/>
          </p:cNvCxnSpPr>
          <p:nvPr/>
        </p:nvCxnSpPr>
        <p:spPr>
          <a:xfrm flipV="1">
            <a:off x="2436518" y="4467860"/>
            <a:ext cx="3060912" cy="15671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4953000" y="3553460"/>
            <a:ext cx="1088859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Web Browser</a:t>
            </a:r>
            <a:endParaRPr 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4138708" y="1578094"/>
            <a:ext cx="1413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dirty="0" smtClean="0"/>
              <a:t>equest(url1)</a:t>
            </a:r>
            <a:endParaRPr 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4138708" y="6063734"/>
            <a:ext cx="1550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response(url2)</a:t>
            </a:r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919368" y="1001375"/>
            <a:ext cx="1662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1">
                    <a:lumMod val="50000"/>
                  </a:schemeClr>
                </a:solidFill>
              </a:rPr>
              <a:t>Web Server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602970" y="1001375"/>
            <a:ext cx="1662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bg1">
                    <a:lumMod val="50000"/>
                  </a:schemeClr>
                </a:solidFill>
              </a:rPr>
              <a:t>Web Server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59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ResponseBody</a:t>
            </a:r>
            <a:r>
              <a:rPr lang="en-US" dirty="0"/>
              <a:t> – Raw 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6597"/>
            <a:ext cx="4724400" cy="5833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2096591"/>
            <a:ext cx="3986989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200" b="1" dirty="0">
                <a:ln/>
                <a:solidFill>
                  <a:schemeClr val="accent3"/>
                </a:solidFill>
              </a:rPr>
              <a:t>“</a:t>
            </a:r>
            <a:r>
              <a:rPr lang="en-US" sz="3200" b="1" dirty="0" err="1">
                <a:ln/>
                <a:solidFill>
                  <a:schemeClr val="accent3"/>
                </a:solidFill>
              </a:rPr>
              <a:t>Chào</a:t>
            </a:r>
            <a:r>
              <a:rPr lang="en-US" sz="3200" b="1" dirty="0">
                <a:ln/>
                <a:solidFill>
                  <a:schemeClr val="accent3"/>
                </a:solidFill>
              </a:rPr>
              <a:t> </a:t>
            </a:r>
            <a:r>
              <a:rPr lang="en-US" sz="3200" b="1" dirty="0" err="1">
                <a:ln/>
                <a:solidFill>
                  <a:schemeClr val="accent3"/>
                </a:solidFill>
              </a:rPr>
              <a:t>quý</a:t>
            </a:r>
            <a:r>
              <a:rPr lang="en-US" sz="3200" b="1" dirty="0">
                <a:ln/>
                <a:solidFill>
                  <a:schemeClr val="accent3"/>
                </a:solidFill>
              </a:rPr>
              <a:t> </a:t>
            </a:r>
            <a:r>
              <a:rPr lang="en-US" sz="3200" b="1" dirty="0" err="1">
                <a:ln/>
                <a:solidFill>
                  <a:schemeClr val="accent3"/>
                </a:solidFill>
              </a:rPr>
              <a:t>vị</a:t>
            </a:r>
            <a:r>
              <a:rPr lang="en-US" sz="3200" b="1" dirty="0">
                <a:ln/>
                <a:solidFill>
                  <a:schemeClr val="accent3"/>
                </a:solidFill>
              </a:rPr>
              <a:t> </a:t>
            </a:r>
            <a:r>
              <a:rPr lang="en-US" sz="3200" b="1" dirty="0" err="1">
                <a:ln/>
                <a:solidFill>
                  <a:schemeClr val="accent3"/>
                </a:solidFill>
              </a:rPr>
              <a:t>đại</a:t>
            </a:r>
            <a:r>
              <a:rPr lang="en-US" sz="3200" b="1" dirty="0">
                <a:ln/>
                <a:solidFill>
                  <a:schemeClr val="accent3"/>
                </a:solidFill>
              </a:rPr>
              <a:t> </a:t>
            </a:r>
            <a:r>
              <a:rPr lang="en-US" sz="3200" b="1" dirty="0" err="1">
                <a:ln/>
                <a:solidFill>
                  <a:schemeClr val="accent3"/>
                </a:solidFill>
              </a:rPr>
              <a:t>biểu</a:t>
            </a:r>
            <a:r>
              <a:rPr lang="en-US" sz="3200" b="1" dirty="0">
                <a:ln/>
                <a:solidFill>
                  <a:schemeClr val="accent3"/>
                </a:solidFill>
              </a:rPr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1" y="3834825"/>
            <a:ext cx="1279517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200" b="1" dirty="0">
                <a:ln/>
                <a:solidFill>
                  <a:schemeClr val="accent3"/>
                </a:solidFill>
              </a:rPr>
              <a:t>empty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892225"/>
            <a:ext cx="1345240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200" b="1" dirty="0">
                <a:ln/>
                <a:solidFill>
                  <a:schemeClr val="accent3"/>
                </a:solidFill>
              </a:rPr>
              <a:t>{JSON}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99648" y="2146663"/>
            <a:ext cx="1828800" cy="4846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5699648" y="3884812"/>
            <a:ext cx="1828800" cy="4846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5699648" y="5942296"/>
            <a:ext cx="1828800" cy="4846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8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Compressed\PSD Collection 2011\WP-201 copy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195426" y="844420"/>
            <a:ext cx="3386974" cy="570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799"/>
            <a:ext cx="7585826" cy="5562599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I: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Ánh xạ Request với Method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RequestMapping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GetMapping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PostMapping</a:t>
            </a:r>
            <a:endParaRPr lang="vi-VN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þ"/>
            </a:pP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Đọc dữ liệu người dùng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RequestParam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RequestPart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PathVariable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CookieValue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Optional&lt;T&gt;</a:t>
            </a:r>
          </a:p>
          <a:p>
            <a:pPr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II: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Chia sẻ dữ liệu với view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</a:t>
            </a: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@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ModelAttribute</a:t>
            </a:r>
            <a:endParaRPr lang="vi-VN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Điều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hướng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“view-path”</a:t>
            </a: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“forward:&lt;URL&gt;”</a:t>
            </a:r>
          </a:p>
          <a:p>
            <a:pPr lvl="2">
              <a:buFont typeface="Wingdings" panose="05000000000000000000" pitchFamily="2" charset="2"/>
              <a:buChar char="þ"/>
            </a:pP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“redirect:&lt;URL&gt;”</a:t>
            </a:r>
            <a:endParaRPr lang="vi-VN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34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74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13129</TotalTime>
  <Words>1049</Words>
  <Application>Microsoft Office PowerPoint</Application>
  <PresentationFormat>Widescreen</PresentationFormat>
  <Paragraphs>253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Arial Narrow</vt:lpstr>
      <vt:lpstr>Calibri</vt:lpstr>
      <vt:lpstr>Cambria</vt:lpstr>
      <vt:lpstr>Courier New</vt:lpstr>
      <vt:lpstr>Roboto</vt:lpstr>
      <vt:lpstr>Roboto Lt</vt:lpstr>
      <vt:lpstr>Segoe UI</vt:lpstr>
      <vt:lpstr>Times New Roman</vt:lpstr>
      <vt:lpstr>Wingdings</vt:lpstr>
      <vt:lpstr>Custom Design</vt:lpstr>
      <vt:lpstr>Spring Boot Controller</vt:lpstr>
      <vt:lpstr>Agenda</vt:lpstr>
      <vt:lpstr>PowerPoint Presentation</vt:lpstr>
      <vt:lpstr>@RequestMapping(value)</vt:lpstr>
      <vt:lpstr>Mapping Summary</vt:lpstr>
      <vt:lpstr>Phân biệt POST | GET</vt:lpstr>
      <vt:lpstr>Tách URL thành 2 phần</vt:lpstr>
      <vt:lpstr>@PostMapping, @GetMapping</vt:lpstr>
      <vt:lpstr>PowerPoint Presentation</vt:lpstr>
      <vt:lpstr>@RequestParam</vt:lpstr>
      <vt:lpstr>Optional Parameter</vt:lpstr>
      <vt:lpstr>@RequestPart</vt:lpstr>
      <vt:lpstr>Upload File Example</vt:lpstr>
      <vt:lpstr>Sử dụng JavaBean để đọc giá trị các tham số</vt:lpstr>
      <vt:lpstr>Đọc giá trị cookie</vt:lpstr>
      <vt:lpstr>Đọc giá trị biến đường dẫn</vt:lpstr>
      <vt:lpstr>Đọc giá trị biến đường dẫn tùy chọn</vt:lpstr>
      <vt:lpstr>Spring Boot Controller</vt:lpstr>
      <vt:lpstr>PowerPoint Presentation</vt:lpstr>
      <vt:lpstr>Model &amp; @ModelAttribute</vt:lpstr>
      <vt:lpstr>Bổ sung biến vào model</vt:lpstr>
      <vt:lpstr>Bổ sung giá trị đối số vào model</vt:lpstr>
      <vt:lpstr>Bổ sung kết quả trả về của một phương thức vào model</vt:lpstr>
      <vt:lpstr>PowerPoint Presentation</vt:lpstr>
      <vt:lpstr>Overview of Controller Method Returns</vt:lpstr>
      <vt:lpstr>Return View Name</vt:lpstr>
      <vt:lpstr>Forward</vt:lpstr>
      <vt:lpstr>Redirect</vt:lpstr>
      <vt:lpstr>Redirect and Forward</vt:lpstr>
      <vt:lpstr>@ResponseBody – Raw Data</vt:lpstr>
      <vt:lpstr>Summary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DELL</cp:lastModifiedBy>
  <cp:revision>1991</cp:revision>
  <dcterms:created xsi:type="dcterms:W3CDTF">2013-04-23T08:05:33Z</dcterms:created>
  <dcterms:modified xsi:type="dcterms:W3CDTF">2024-12-21T04:34:54Z</dcterms:modified>
</cp:coreProperties>
</file>
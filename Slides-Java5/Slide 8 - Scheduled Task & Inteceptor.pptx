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0"/>
  </p:notesMasterIdLst>
  <p:sldIdLst>
    <p:sldId id="709" r:id="rId2"/>
    <p:sldId id="763" r:id="rId3"/>
    <p:sldId id="794" r:id="rId4"/>
    <p:sldId id="796" r:id="rId5"/>
    <p:sldId id="797" r:id="rId6"/>
    <p:sldId id="819" r:id="rId7"/>
    <p:sldId id="820" r:id="rId8"/>
    <p:sldId id="816" r:id="rId9"/>
    <p:sldId id="821" r:id="rId10"/>
    <p:sldId id="800" r:id="rId11"/>
    <p:sldId id="823" r:id="rId12"/>
    <p:sldId id="822" r:id="rId13"/>
    <p:sldId id="824" r:id="rId14"/>
    <p:sldId id="825" r:id="rId15"/>
    <p:sldId id="817" r:id="rId16"/>
    <p:sldId id="826" r:id="rId17"/>
    <p:sldId id="827" r:id="rId18"/>
    <p:sldId id="795" r:id="rId19"/>
    <p:sldId id="811" r:id="rId20"/>
    <p:sldId id="810" r:id="rId21"/>
    <p:sldId id="828" r:id="rId22"/>
    <p:sldId id="812" r:id="rId23"/>
    <p:sldId id="829" r:id="rId24"/>
    <p:sldId id="818" r:id="rId25"/>
    <p:sldId id="815" r:id="rId26"/>
    <p:sldId id="814" r:id="rId27"/>
    <p:sldId id="707" r:id="rId28"/>
    <p:sldId id="75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9BBB59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62" autoAdjust="0"/>
    <p:restoredTop sz="94364" autoAdjust="0"/>
  </p:normalViewPr>
  <p:slideViewPr>
    <p:cSldViewPr>
      <p:cViewPr varScale="1">
        <p:scale>
          <a:sx n="88" d="100"/>
          <a:sy n="88" d="100"/>
        </p:scale>
        <p:origin x="69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E1EE2F0-59E4-4602-AA67-BA6EBD73A1CB}"/>
              </a:ext>
            </a:extLst>
          </p:cNvPr>
          <p:cNvGrpSpPr/>
          <p:nvPr userDrawn="1"/>
        </p:nvGrpSpPr>
        <p:grpSpPr>
          <a:xfrm>
            <a:off x="304800" y="150019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8.1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Schedule Task &amp; Interceptor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8991600" cy="571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sz="3600" cap="small" dirty="0" err="1" smtClean="0"/>
              <a:t>Phần</a:t>
            </a:r>
            <a:r>
              <a:rPr lang="en-US" sz="3600" cap="small" dirty="0" smtClean="0"/>
              <a:t> I: Schedule </a:t>
            </a:r>
            <a:r>
              <a:rPr lang="en-US" sz="3600" cap="small" dirty="0"/>
              <a:t>Tasks</a:t>
            </a:r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Tìm</a:t>
            </a:r>
            <a:r>
              <a:rPr lang="en-US" sz="3200" cap="small" dirty="0"/>
              <a:t> </a:t>
            </a:r>
            <a:r>
              <a:rPr lang="en-US" sz="3200" cap="small" dirty="0" err="1"/>
              <a:t>hiểu</a:t>
            </a:r>
            <a:r>
              <a:rPr lang="en-US" sz="3200" cap="small" dirty="0"/>
              <a:t> Schedule Tasks</a:t>
            </a:r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Tạo</a:t>
            </a:r>
            <a:r>
              <a:rPr lang="en-US" sz="3200" cap="small" dirty="0"/>
              <a:t> Schedule Tasks</a:t>
            </a:r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JavaMailSender</a:t>
            </a:r>
            <a:endParaRPr lang="en-US" sz="3200" cap="small" dirty="0"/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Gửi</a:t>
            </a:r>
            <a:r>
              <a:rPr lang="en-US" sz="3200" cap="small" dirty="0"/>
              <a:t> email ở </a:t>
            </a:r>
            <a:r>
              <a:rPr lang="en-US" sz="3200" cap="small" dirty="0" err="1"/>
              <a:t>chế</a:t>
            </a:r>
            <a:r>
              <a:rPr lang="en-US" sz="3200" cap="small" dirty="0"/>
              <a:t> </a:t>
            </a:r>
            <a:r>
              <a:rPr lang="en-US" sz="3200" cap="small" dirty="0" err="1"/>
              <a:t>độ</a:t>
            </a:r>
            <a:r>
              <a:rPr lang="en-US" sz="3200" cap="small" dirty="0"/>
              <a:t> </a:t>
            </a:r>
            <a:r>
              <a:rPr lang="en-US" sz="3200" cap="small" dirty="0" err="1"/>
              <a:t>nền</a:t>
            </a:r>
            <a:endParaRPr lang="en-US" sz="3600" cap="small" dirty="0"/>
          </a:p>
          <a:p>
            <a:pPr>
              <a:buFont typeface="Wingdings" panose="05000000000000000000" pitchFamily="2" charset="2"/>
              <a:buChar char="&amp;"/>
            </a:pPr>
            <a:r>
              <a:rPr lang="en-US" sz="3600" cap="small" dirty="0" err="1" smtClean="0"/>
              <a:t>Phần</a:t>
            </a:r>
            <a:r>
              <a:rPr lang="en-US" sz="3600" cap="small" dirty="0" smtClean="0"/>
              <a:t> II: Interceptor</a:t>
            </a:r>
            <a:endParaRPr lang="en-US" sz="3600" cap="small" dirty="0"/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Giới</a:t>
            </a:r>
            <a:r>
              <a:rPr lang="en-US" sz="3200" cap="small" dirty="0"/>
              <a:t> </a:t>
            </a:r>
            <a:r>
              <a:rPr lang="en-US" sz="3200" cap="small" dirty="0" err="1"/>
              <a:t>thiệu</a:t>
            </a:r>
            <a:r>
              <a:rPr lang="en-US" sz="3200" cap="small" dirty="0"/>
              <a:t> Interceptor</a:t>
            </a:r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Tạo</a:t>
            </a:r>
            <a:r>
              <a:rPr lang="en-US" sz="3200" cap="small" dirty="0"/>
              <a:t> Interceptor</a:t>
            </a:r>
          </a:p>
          <a:p>
            <a:pPr marL="857250" lvl="2" indent="-457200">
              <a:buFont typeface="Wingdings" panose="05000000000000000000" pitchFamily="2" charset="2"/>
              <a:buChar char="&amp;"/>
            </a:pPr>
            <a:r>
              <a:rPr lang="en-US" sz="3200" cap="small" dirty="0" err="1"/>
              <a:t>Bảo</a:t>
            </a:r>
            <a:r>
              <a:rPr lang="en-US" sz="3200" cap="small" dirty="0"/>
              <a:t> </a:t>
            </a:r>
            <a:r>
              <a:rPr lang="en-US" sz="3200" cap="small" dirty="0" err="1"/>
              <a:t>mật</a:t>
            </a:r>
            <a:r>
              <a:rPr lang="en-US" sz="3200" cap="small" dirty="0"/>
              <a:t> </a:t>
            </a:r>
            <a:r>
              <a:rPr lang="en-US" sz="3200" cap="small" dirty="0" err="1"/>
              <a:t>hệ</a:t>
            </a:r>
            <a:r>
              <a:rPr lang="en-US" sz="3200" cap="small" dirty="0"/>
              <a:t> </a:t>
            </a:r>
            <a:r>
              <a:rPr lang="en-US" sz="3200" cap="small" dirty="0" err="1"/>
              <a:t>thống</a:t>
            </a:r>
            <a:r>
              <a:rPr lang="en-US" sz="3200" cap="small" dirty="0"/>
              <a:t> </a:t>
            </a:r>
            <a:r>
              <a:rPr lang="en-US" sz="3200" cap="small" dirty="0" err="1"/>
              <a:t>với</a:t>
            </a:r>
            <a:r>
              <a:rPr lang="en-US" sz="3200" cap="small" dirty="0"/>
              <a:t> Interceptor</a:t>
            </a: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17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Scheduled 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Task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4448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Scheduled </a:t>
            </a:r>
            <a:r>
              <a:rPr lang="en-US" dirty="0"/>
              <a:t>Task </a:t>
            </a: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Scheduled </a:t>
            </a:r>
            <a:r>
              <a:rPr lang="en-US" dirty="0"/>
              <a:t>Task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Scheduled </a:t>
            </a:r>
            <a:r>
              <a:rPr lang="en-US" dirty="0"/>
              <a:t>Task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(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nền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thread </a:t>
            </a:r>
            <a:r>
              <a:rPr lang="en-US" dirty="0" err="1" smtClean="0"/>
              <a:t>độc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)</a:t>
            </a:r>
          </a:p>
          <a:p>
            <a:r>
              <a:rPr lang="en-US" dirty="0" smtClean="0"/>
              <a:t>Scheduled </a:t>
            </a:r>
            <a:r>
              <a:rPr lang="en-US" dirty="0"/>
              <a:t>Task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chống</a:t>
            </a:r>
            <a:r>
              <a:rPr lang="en-US" dirty="0" smtClean="0"/>
              <a:t> </a:t>
            </a:r>
            <a:r>
              <a:rPr lang="en-US" dirty="0" err="1"/>
              <a:t>ùn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nâng</a:t>
            </a:r>
            <a:r>
              <a:rPr lang="en-US" dirty="0" smtClean="0"/>
              <a:t> </a:t>
            </a:r>
            <a:r>
              <a:rPr lang="en-US" dirty="0" err="1" smtClean="0"/>
              <a:t>cao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suất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.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Gửi</a:t>
            </a:r>
            <a:r>
              <a:rPr lang="en-US" dirty="0"/>
              <a:t> email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,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  <a:p>
            <a:pPr lvl="1"/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dirty="0"/>
              <a:t>Sao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93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@EnableScheduling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66800" y="2209800"/>
            <a:ext cx="10439400" cy="1676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66800" y="5486400"/>
            <a:ext cx="10439400" cy="11996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Schedule Task </a:t>
            </a:r>
            <a:r>
              <a:rPr lang="en-US" dirty="0" err="1"/>
              <a:t>bằng</a:t>
            </a:r>
            <a:r>
              <a:rPr lang="en-US" dirty="0"/>
              <a:t> @</a:t>
            </a:r>
            <a:r>
              <a:rPr lang="en-US" dirty="0" err="1"/>
              <a:t>EnableScheduling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file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@</a:t>
            </a:r>
            <a:r>
              <a:rPr lang="en-US" dirty="0" err="1"/>
              <a:t>SpringBootApplication</a:t>
            </a:r>
            <a:endParaRPr lang="en-US" dirty="0"/>
          </a:p>
          <a:p>
            <a:pPr marL="45720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@</a:t>
            </a:r>
            <a:r>
              <a:rPr lang="en-US" b="1" i="1" dirty="0" err="1">
                <a:solidFill>
                  <a:srgbClr val="FF0000"/>
                </a:solidFill>
              </a:rPr>
              <a:t>EnableScheduling</a:t>
            </a:r>
            <a:endParaRPr lang="en-US" b="1" i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/>
              <a:t>public class </a:t>
            </a:r>
            <a:r>
              <a:rPr lang="en-US" dirty="0" err="1"/>
              <a:t>HelloApplication</a:t>
            </a:r>
            <a:r>
              <a:rPr lang="en-US" dirty="0"/>
              <a:t> {…}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smtClean="0"/>
              <a:t>Spring </a:t>
            </a:r>
            <a:r>
              <a:rPr lang="en-US" dirty="0"/>
              <a:t>Bean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@Scheduled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@Scheduled(</a:t>
            </a:r>
            <a:r>
              <a:rPr lang="en-US" b="1" i="1" dirty="0" err="1">
                <a:solidFill>
                  <a:srgbClr val="FF0000"/>
                </a:solidFill>
              </a:rPr>
              <a:t>fixedRate</a:t>
            </a:r>
            <a:r>
              <a:rPr lang="en-US" b="1" i="1" dirty="0">
                <a:solidFill>
                  <a:srgbClr val="FF0000"/>
                </a:solidFill>
              </a:rPr>
              <a:t> = 1000)</a:t>
            </a:r>
          </a:p>
          <a:p>
            <a:pPr marL="457200" lvl="1" indent="0">
              <a:buNone/>
            </a:pPr>
            <a:r>
              <a:rPr lang="en-US" dirty="0"/>
              <a:t>public void run() {...}</a:t>
            </a:r>
          </a:p>
        </p:txBody>
      </p:sp>
    </p:spTree>
    <p:extLst>
      <p:ext uri="{BB962C8B-B14F-4D97-AF65-F5344CB8AC3E}">
        <p14:creationId xmlns:p14="http://schemas.microsoft.com/office/powerpoint/2010/main" val="106478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@Scheduled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@Scheduled()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Spring Bean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r>
              <a:rPr lang="en-US" dirty="0"/>
              <a:t>@Scheduled()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3 </a:t>
            </a:r>
            <a:r>
              <a:rPr lang="en-US" dirty="0" err="1"/>
              <a:t>nhóm</a:t>
            </a:r>
            <a:endParaRPr lang="en-US" dirty="0"/>
          </a:p>
          <a:p>
            <a:pPr lvl="1"/>
            <a:r>
              <a:rPr lang="en-US" dirty="0"/>
              <a:t>Delay: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(</a:t>
            </a:r>
            <a:r>
              <a:rPr lang="en-US" dirty="0" err="1"/>
              <a:t>mili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)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  <a:p>
            <a:pPr lvl="2"/>
            <a:r>
              <a:rPr lang="en-US" dirty="0" err="1"/>
              <a:t>fixedDelay</a:t>
            </a:r>
            <a:r>
              <a:rPr lang="en-US" dirty="0"/>
              <a:t>: long </a:t>
            </a:r>
          </a:p>
          <a:p>
            <a:pPr lvl="2"/>
            <a:r>
              <a:rPr lang="en-US" dirty="0" err="1"/>
              <a:t>fixedDelayString</a:t>
            </a:r>
            <a:r>
              <a:rPr lang="en-US" dirty="0"/>
              <a:t>: String</a:t>
            </a:r>
          </a:p>
          <a:p>
            <a:pPr lvl="1"/>
            <a:r>
              <a:rPr lang="en-US" dirty="0"/>
              <a:t>Rate: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(</a:t>
            </a:r>
            <a:r>
              <a:rPr lang="en-US" dirty="0" err="1"/>
              <a:t>mili</a:t>
            </a:r>
            <a:r>
              <a:rPr lang="en-US" dirty="0"/>
              <a:t> </a:t>
            </a:r>
            <a:r>
              <a:rPr lang="en-US" dirty="0" err="1"/>
              <a:t>giây</a:t>
            </a:r>
            <a:r>
              <a:rPr lang="en-US" dirty="0"/>
              <a:t>)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pPr lvl="2"/>
            <a:r>
              <a:rPr lang="en-US" dirty="0" err="1"/>
              <a:t>fixedRate</a:t>
            </a:r>
            <a:r>
              <a:rPr lang="en-US" dirty="0"/>
              <a:t>: long</a:t>
            </a:r>
          </a:p>
          <a:p>
            <a:pPr lvl="2"/>
            <a:r>
              <a:rPr lang="en-US" dirty="0" err="1"/>
              <a:t>fixedRateString</a:t>
            </a:r>
            <a:r>
              <a:rPr lang="en-US" dirty="0"/>
              <a:t>: String</a:t>
            </a:r>
          </a:p>
          <a:p>
            <a:pPr lvl="1"/>
            <a:r>
              <a:rPr lang="en-US" dirty="0"/>
              <a:t>CRON: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  <a:p>
            <a:pPr lvl="2"/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“* * * ? * * *” = [</a:t>
            </a:r>
            <a:r>
              <a:rPr lang="en-US" dirty="0" err="1"/>
              <a:t>giây</a:t>
            </a:r>
            <a:r>
              <a:rPr lang="en-US" dirty="0"/>
              <a:t>] [</a:t>
            </a:r>
            <a:r>
              <a:rPr lang="en-US" dirty="0" err="1"/>
              <a:t>phút</a:t>
            </a:r>
            <a:r>
              <a:rPr lang="en-US" dirty="0"/>
              <a:t>] [</a:t>
            </a:r>
            <a:r>
              <a:rPr lang="en-US" dirty="0" err="1"/>
              <a:t>giờ</a:t>
            </a:r>
            <a:r>
              <a:rPr lang="en-US" dirty="0"/>
              <a:t>] ? [</a:t>
            </a:r>
            <a:r>
              <a:rPr lang="en-US" dirty="0" err="1"/>
              <a:t>ngày</a:t>
            </a:r>
            <a:r>
              <a:rPr lang="en-US" dirty="0"/>
              <a:t>] [</a:t>
            </a:r>
            <a:r>
              <a:rPr lang="en-US" dirty="0" err="1"/>
              <a:t>tháng</a:t>
            </a:r>
            <a:r>
              <a:rPr lang="en-US" dirty="0"/>
              <a:t>] [</a:t>
            </a:r>
            <a:r>
              <a:rPr lang="en-US" dirty="0" err="1"/>
              <a:t>năm</a:t>
            </a:r>
            <a:r>
              <a:rPr lang="en-US" dirty="0"/>
              <a:t>]</a:t>
            </a:r>
          </a:p>
          <a:p>
            <a:pPr lvl="2"/>
            <a:r>
              <a:rPr lang="en-US" dirty="0"/>
              <a:t>CRON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dẻo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https://www.freeformatter.com/cron-expression-generator-quartz.html</a:t>
            </a:r>
          </a:p>
        </p:txBody>
      </p:sp>
    </p:spTree>
    <p:extLst>
      <p:ext uri="{BB962C8B-B14F-4D97-AF65-F5344CB8AC3E}">
        <p14:creationId xmlns:p14="http://schemas.microsoft.com/office/powerpoint/2010/main" val="241623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@Scheduled Examples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@Scheduled(</a:t>
            </a:r>
            <a:r>
              <a:rPr lang="en-US" dirty="0" err="1"/>
              <a:t>fixedDelay</a:t>
            </a:r>
            <a:r>
              <a:rPr lang="en-US" dirty="0"/>
              <a:t> = 3000, </a:t>
            </a:r>
            <a:r>
              <a:rPr lang="en-US" dirty="0" err="1"/>
              <a:t>initialDelay</a:t>
            </a:r>
            <a:r>
              <a:rPr lang="en-US" dirty="0"/>
              <a:t> = 5000)</a:t>
            </a:r>
          </a:p>
          <a:p>
            <a:pPr lvl="1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 </a:t>
            </a:r>
            <a:r>
              <a:rPr lang="en-US" dirty="0" err="1"/>
              <a:t>giây</a:t>
            </a:r>
            <a:endParaRPr lang="en-US" dirty="0"/>
          </a:p>
          <a:p>
            <a:pPr lvl="1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5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r>
              <a:rPr lang="en-US" dirty="0"/>
              <a:t>@Scheduled(</a:t>
            </a:r>
            <a:r>
              <a:rPr lang="en-US" dirty="0" err="1"/>
              <a:t>fixedRate</a:t>
            </a:r>
            <a:r>
              <a:rPr lang="en-US" dirty="0"/>
              <a:t> = 3000, </a:t>
            </a:r>
            <a:r>
              <a:rPr lang="en-US" dirty="0" err="1"/>
              <a:t>initialDelay</a:t>
            </a:r>
            <a:r>
              <a:rPr lang="en-US" dirty="0"/>
              <a:t> = 5000)</a:t>
            </a:r>
          </a:p>
          <a:p>
            <a:pPr lvl="1"/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 </a:t>
            </a:r>
            <a:r>
              <a:rPr lang="en-US" dirty="0" err="1"/>
              <a:t>giây</a:t>
            </a:r>
            <a:endParaRPr lang="en-US" dirty="0"/>
          </a:p>
          <a:p>
            <a:pPr lvl="1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5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r>
              <a:rPr lang="en-US" dirty="0"/>
              <a:t>@Scheduled(</a:t>
            </a:r>
            <a:r>
              <a:rPr lang="en-US" dirty="0" err="1"/>
              <a:t>cron</a:t>
            </a:r>
            <a:r>
              <a:rPr lang="en-US" dirty="0"/>
              <a:t> = "0 * * * * MON-FRI“, </a:t>
            </a:r>
            <a:r>
              <a:rPr lang="en-US" dirty="0" err="1"/>
              <a:t>initialDelay</a:t>
            </a:r>
            <a:r>
              <a:rPr lang="en-US" dirty="0"/>
              <a:t> = 5000)</a:t>
            </a:r>
          </a:p>
          <a:p>
            <a:pPr lvl="1"/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phút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(</a:t>
            </a:r>
            <a:r>
              <a:rPr lang="en-US" dirty="0" err="1"/>
              <a:t>thứ</a:t>
            </a:r>
            <a:r>
              <a:rPr lang="en-US" dirty="0"/>
              <a:t> 2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/>
              <a:t> 6)</a:t>
            </a:r>
            <a:endParaRPr lang="en-US" dirty="0"/>
          </a:p>
          <a:p>
            <a:pPr lvl="1"/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5 </a:t>
            </a:r>
            <a:r>
              <a:rPr lang="en-US" dirty="0" err="1"/>
              <a:t>giây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5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Java Mail Sender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95584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Mail Sender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JavaMailSender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API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email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Spring Boot.</a:t>
            </a:r>
          </a:p>
          <a:p>
            <a:r>
              <a:rPr lang="en-US" dirty="0" smtClean="0"/>
              <a:t>Dependency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cũng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SMTP Server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Spring Bean </a:t>
            </a:r>
            <a:r>
              <a:rPr lang="en-US" dirty="0" err="1" smtClean="0"/>
              <a:t>JavaMailSender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(slide </a:t>
            </a:r>
            <a:r>
              <a:rPr lang="en-US" dirty="0" err="1" smtClean="0"/>
              <a:t>sau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428608"/>
            <a:ext cx="8116433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5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50" y="1066800"/>
            <a:ext cx="9497750" cy="3581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JavaMailSender Configuration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600" y="4724400"/>
            <a:ext cx="10972800" cy="1981200"/>
          </a:xfrm>
        </p:spPr>
        <p:txBody>
          <a:bodyPr/>
          <a:lstStyle/>
          <a:p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vào</a:t>
            </a:r>
            <a:r>
              <a:rPr lang="en-US" dirty="0" smtClean="0"/>
              <a:t> file </a:t>
            </a:r>
            <a:r>
              <a:rPr lang="en-US" dirty="0" err="1" smtClean="0"/>
              <a:t>application.properties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Spring Bean </a:t>
            </a:r>
            <a:r>
              <a:rPr lang="en-US" dirty="0" err="1" smtClean="0"/>
              <a:t>JavaMailSender</a:t>
            </a:r>
            <a:endParaRPr lang="en-US" dirty="0" smtClean="0"/>
          </a:p>
          <a:p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[</a:t>
            </a:r>
            <a:r>
              <a:rPr lang="en-US" u="sng" dirty="0" smtClean="0">
                <a:solidFill>
                  <a:srgbClr val="0000FF"/>
                </a:solidFill>
              </a:rPr>
              <a:t>https</a:t>
            </a:r>
            <a:r>
              <a:rPr lang="en-US" u="sng" dirty="0">
                <a:solidFill>
                  <a:srgbClr val="0000FF"/>
                </a:solidFill>
              </a:rPr>
              <a:t>://</a:t>
            </a:r>
            <a:r>
              <a:rPr lang="en-US" u="sng" dirty="0" smtClean="0">
                <a:solidFill>
                  <a:srgbClr val="0000FF"/>
                </a:solidFill>
              </a:rPr>
              <a:t>myaccount.google.com/apppasswords</a:t>
            </a:r>
            <a:r>
              <a:rPr lang="en-US" dirty="0" smtClean="0"/>
              <a:t>] </a:t>
            </a:r>
            <a:r>
              <a:rPr lang="en-US" dirty="0" err="1" smtClean="0"/>
              <a:t>tạo</a:t>
            </a:r>
            <a:r>
              <a:rPr lang="en-US" dirty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 </a:t>
            </a:r>
            <a:r>
              <a:rPr lang="en-US" dirty="0" err="1" smtClean="0"/>
              <a:t>apppassword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09600" y="1066800"/>
            <a:ext cx="10972800" cy="35819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7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Gửi</a:t>
            </a:r>
            <a:r>
              <a:rPr lang="en-US" dirty="0" smtClean="0"/>
              <a:t> mail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399"/>
            <a:ext cx="9677400" cy="5867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0" y="1143000"/>
            <a:ext cx="7772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Căn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JavaMailSender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tiêm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endParaRPr lang="en-US" sz="24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3505200" y="1524000"/>
            <a:ext cx="304800" cy="219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02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 mail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8534400" y="4771814"/>
            <a:ext cx="249408" cy="17813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8534401" y="3781214"/>
            <a:ext cx="249408" cy="7907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/>
          <p:cNvSpPr/>
          <p:nvPr/>
        </p:nvSpPr>
        <p:spPr>
          <a:xfrm>
            <a:off x="8534400" y="2413000"/>
            <a:ext cx="249410" cy="116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/>
          <p:cNvSpPr/>
          <p:nvPr/>
        </p:nvSpPr>
        <p:spPr>
          <a:xfrm>
            <a:off x="8534400" y="1041400"/>
            <a:ext cx="249410" cy="1168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783808" y="1226403"/>
            <a:ext cx="2798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endParaRPr lang="en-US" sz="24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83808" y="2598003"/>
            <a:ext cx="27985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endParaRPr lang="en-US" sz="24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83808" y="3741003"/>
            <a:ext cx="279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endParaRPr lang="en-US" sz="24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83808" y="5405735"/>
            <a:ext cx="279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2.4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Đính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lang="en-US" sz="2400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en-US" sz="24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035639"/>
            <a:ext cx="7888077" cy="559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5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MailService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973590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9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MailService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10972800" cy="560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7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Sending mail in background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31585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3200400" y="3352800"/>
            <a:ext cx="5679075" cy="3276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Scheduled Task</a:t>
            </a:r>
            <a:endParaRPr lang="en-US" dirty="0"/>
          </a:p>
        </p:txBody>
      </p:sp>
      <p:sp>
        <p:nvSpPr>
          <p:cNvPr id="58" name="Content Placeholder 57"/>
          <p:cNvSpPr>
            <a:spLocks noGrp="1"/>
          </p:cNvSpPr>
          <p:nvPr>
            <p:ph idx="1"/>
          </p:nvPr>
        </p:nvSpPr>
        <p:spPr>
          <a:xfrm>
            <a:off x="609600" y="946598"/>
            <a:ext cx="10972800" cy="1114112"/>
          </a:xfrm>
        </p:spPr>
        <p:txBody>
          <a:bodyPr>
            <a:normAutofit/>
          </a:bodyPr>
          <a:lstStyle/>
          <a:p>
            <a:r>
              <a:rPr lang="en-US" dirty="0" err="1" smtClean="0"/>
              <a:t>Gửi</a:t>
            </a:r>
            <a:r>
              <a:rPr lang="en-US" dirty="0" smtClean="0"/>
              <a:t> email </a:t>
            </a:r>
            <a:r>
              <a:rPr lang="en-US" dirty="0" err="1" smtClean="0"/>
              <a:t>mất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giảm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vậy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email </a:t>
            </a: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nền</a:t>
            </a:r>
            <a:endParaRPr lang="en-US" dirty="0"/>
          </a:p>
        </p:txBody>
      </p:sp>
      <p:sp>
        <p:nvSpPr>
          <p:cNvPr id="4" name="Flowchart: Direct Access Storage 3"/>
          <p:cNvSpPr/>
          <p:nvPr/>
        </p:nvSpPr>
        <p:spPr>
          <a:xfrm>
            <a:off x="4159805" y="2143268"/>
            <a:ext cx="2590800" cy="752332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Queue of Mails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94616" y="2334768"/>
            <a:ext cx="110318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Push Mail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912608" y="2334768"/>
            <a:ext cx="193373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Pop and Send Mail</a:t>
            </a:r>
            <a:endParaRPr lang="en-US" dirty="0"/>
          </a:p>
        </p:txBody>
      </p:sp>
      <p:sp>
        <p:nvSpPr>
          <p:cNvPr id="7" name="Striped Right Arrow 6"/>
          <p:cNvSpPr/>
          <p:nvPr/>
        </p:nvSpPr>
        <p:spPr>
          <a:xfrm>
            <a:off x="3089600" y="2277118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riped Right Arrow 7"/>
          <p:cNvSpPr/>
          <p:nvPr/>
        </p:nvSpPr>
        <p:spPr>
          <a:xfrm>
            <a:off x="6842402" y="2277118"/>
            <a:ext cx="978408" cy="484632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892067" y="3698486"/>
            <a:ext cx="1116816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Empty</a:t>
            </a:r>
            <a:endParaRPr lang="en-US" dirty="0"/>
          </a:p>
        </p:txBody>
      </p:sp>
      <p:sp>
        <p:nvSpPr>
          <p:cNvPr id="22" name="Flowchart: Decision 21"/>
          <p:cNvSpPr/>
          <p:nvPr/>
        </p:nvSpPr>
        <p:spPr>
          <a:xfrm>
            <a:off x="4993275" y="4645152"/>
            <a:ext cx="914400" cy="61264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618371" y="5717785"/>
            <a:ext cx="1664208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 &amp; Send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6629400" y="4648200"/>
            <a:ext cx="1664208" cy="609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Sleep </a:t>
            </a:r>
          </a:p>
          <a:p>
            <a:pPr algn="ctr"/>
            <a:r>
              <a:rPr lang="en-US" dirty="0" smtClean="0"/>
              <a:t>(0.5 second)</a:t>
            </a:r>
            <a:endParaRPr lang="en-US" dirty="0"/>
          </a:p>
        </p:txBody>
      </p:sp>
      <p:cxnSp>
        <p:nvCxnSpPr>
          <p:cNvPr id="29" name="Elbow Connector 28"/>
          <p:cNvCxnSpPr>
            <a:stCxn id="23" idx="1"/>
            <a:endCxn id="21" idx="1"/>
          </p:cNvCxnSpPr>
          <p:nvPr/>
        </p:nvCxnSpPr>
        <p:spPr>
          <a:xfrm rot="10800000" flipH="1">
            <a:off x="4618371" y="4003287"/>
            <a:ext cx="273696" cy="2019299"/>
          </a:xfrm>
          <a:prstGeom prst="bentConnector3">
            <a:avLst>
              <a:gd name="adj1" fmla="val -1911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1" idx="2"/>
            <a:endCxn id="22" idx="0"/>
          </p:cNvCxnSpPr>
          <p:nvPr/>
        </p:nvCxnSpPr>
        <p:spPr>
          <a:xfrm>
            <a:off x="5450475" y="4308086"/>
            <a:ext cx="0" cy="337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3"/>
            <a:endCxn id="24" idx="1"/>
          </p:cNvCxnSpPr>
          <p:nvPr/>
        </p:nvCxnSpPr>
        <p:spPr>
          <a:xfrm>
            <a:off x="5907675" y="4951476"/>
            <a:ext cx="721725" cy="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24" idx="0"/>
            <a:endCxn id="21" idx="3"/>
          </p:cNvCxnSpPr>
          <p:nvPr/>
        </p:nvCxnSpPr>
        <p:spPr>
          <a:xfrm rot="16200000" flipV="1">
            <a:off x="6412737" y="3599432"/>
            <a:ext cx="644914" cy="14526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2" idx="2"/>
            <a:endCxn id="23" idx="0"/>
          </p:cNvCxnSpPr>
          <p:nvPr/>
        </p:nvCxnSpPr>
        <p:spPr>
          <a:xfrm>
            <a:off x="5450475" y="5257800"/>
            <a:ext cx="0" cy="459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6" idx="2"/>
            <a:endCxn id="21" idx="0"/>
          </p:cNvCxnSpPr>
          <p:nvPr/>
        </p:nvCxnSpPr>
        <p:spPr>
          <a:xfrm rot="5400000">
            <a:off x="6667782" y="1486793"/>
            <a:ext cx="994386" cy="34290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08883" y="461288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yes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5051636" y="530312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904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Scheduled Task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9236"/>
            <a:ext cx="9455162" cy="15858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152" y="2362200"/>
            <a:ext cx="5030248" cy="43396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09600" y="3246757"/>
            <a:ext cx="4520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MailService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17839" y="4953000"/>
            <a:ext cx="4677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4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 </a:t>
            </a:r>
            <a:r>
              <a:rPr lang="en-US" sz="2400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MailServiceImpl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Elbow Connector 12"/>
          <p:cNvCxnSpPr>
            <a:stCxn id="8" idx="0"/>
            <a:endCxn id="4" idx="2"/>
          </p:cNvCxnSpPr>
          <p:nvPr/>
        </p:nvCxnSpPr>
        <p:spPr>
          <a:xfrm rot="5400000" flipH="1" flipV="1">
            <a:off x="3732731" y="1642307"/>
            <a:ext cx="741714" cy="2467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9" idx="0"/>
            <a:endCxn id="7" idx="1"/>
          </p:cNvCxnSpPr>
          <p:nvPr/>
        </p:nvCxnSpPr>
        <p:spPr>
          <a:xfrm rot="5400000" flipH="1" flipV="1">
            <a:off x="5043980" y="3444829"/>
            <a:ext cx="420972" cy="25953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4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8.2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Interceptor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  <p:sp>
        <p:nvSpPr>
          <p:cNvPr id="6" name="Oval Callout 5"/>
          <p:cNvSpPr/>
          <p:nvPr/>
        </p:nvSpPr>
        <p:spPr>
          <a:xfrm>
            <a:off x="3584867" y="1686082"/>
            <a:ext cx="1066234" cy="943930"/>
          </a:xfrm>
          <a:prstGeom prst="wedgeEllipseCallout">
            <a:avLst>
              <a:gd name="adj1" fmla="val -51859"/>
              <a:gd name="adj2" fmla="val 6708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400" b="1" dirty="0">
                <a:ln/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349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Process 34"/>
          <p:cNvSpPr/>
          <p:nvPr/>
        </p:nvSpPr>
        <p:spPr>
          <a:xfrm>
            <a:off x="3462338" y="1143000"/>
            <a:ext cx="4124324" cy="5105400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Interceptor Handling Flow</a:t>
            </a:r>
            <a:endParaRPr lang="en-US" dirty="0"/>
          </a:p>
        </p:txBody>
      </p:sp>
      <p:sp>
        <p:nvSpPr>
          <p:cNvPr id="6" name="Flowchart: Internal Storage 5"/>
          <p:cNvSpPr/>
          <p:nvPr/>
        </p:nvSpPr>
        <p:spPr>
          <a:xfrm>
            <a:off x="8272462" y="1960729"/>
            <a:ext cx="3048000" cy="1143000"/>
          </a:xfrm>
          <a:prstGeom prst="flowChartInternalStorag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Controller</a:t>
            </a:r>
            <a:endParaRPr lang="en-US" sz="2400" dirty="0"/>
          </a:p>
        </p:txBody>
      </p:sp>
      <p:sp>
        <p:nvSpPr>
          <p:cNvPr id="7" name="Flowchart: Document 6"/>
          <p:cNvSpPr/>
          <p:nvPr/>
        </p:nvSpPr>
        <p:spPr>
          <a:xfrm>
            <a:off x="8272462" y="4856329"/>
            <a:ext cx="3048000" cy="990600"/>
          </a:xfrm>
          <a:prstGeom prst="flowChartDocumen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View</a:t>
            </a:r>
          </a:p>
        </p:txBody>
      </p:sp>
      <p:sp>
        <p:nvSpPr>
          <p:cNvPr id="8" name="Flowchart: Process 7"/>
          <p:cNvSpPr/>
          <p:nvPr/>
        </p:nvSpPr>
        <p:spPr>
          <a:xfrm>
            <a:off x="3878260" y="2045638"/>
            <a:ext cx="3211514" cy="973182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preHandle</a:t>
            </a:r>
            <a:r>
              <a:rPr lang="en-US" sz="2800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9" name="Flowchart: Process 8"/>
          <p:cNvSpPr/>
          <p:nvPr/>
        </p:nvSpPr>
        <p:spPr>
          <a:xfrm>
            <a:off x="3875086" y="3455338"/>
            <a:ext cx="3211514" cy="973182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postHandle</a:t>
            </a:r>
            <a:r>
              <a:rPr lang="en-US" sz="2800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3875086" y="4865038"/>
            <a:ext cx="3211514" cy="973182"/>
          </a:xfrm>
          <a:prstGeom prst="flowChartProcess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chemeClr val="bg1"/>
                </a:solidFill>
              </a:rPr>
              <a:t>afterCompletion</a:t>
            </a:r>
            <a:r>
              <a:rPr lang="en-US" sz="2800" b="1" dirty="0">
                <a:solidFill>
                  <a:schemeClr val="bg1"/>
                </a:solidFill>
              </a:rPr>
              <a:t>()</a:t>
            </a:r>
          </a:p>
        </p:txBody>
      </p:sp>
      <p:cxnSp>
        <p:nvCxnSpPr>
          <p:cNvPr id="14" name="Straight Arrow Connector 13"/>
          <p:cNvCxnSpPr>
            <a:stCxn id="8" idx="3"/>
            <a:endCxn id="6" idx="1"/>
          </p:cNvCxnSpPr>
          <p:nvPr/>
        </p:nvCxnSpPr>
        <p:spPr>
          <a:xfrm>
            <a:off x="7089774" y="2532229"/>
            <a:ext cx="11826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1"/>
            <a:endCxn id="10" idx="3"/>
          </p:cNvCxnSpPr>
          <p:nvPr/>
        </p:nvCxnSpPr>
        <p:spPr>
          <a:xfrm flipH="1">
            <a:off x="7086600" y="5351629"/>
            <a:ext cx="11858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1"/>
            <a:endCxn id="36" idx="3"/>
          </p:cNvCxnSpPr>
          <p:nvPr/>
        </p:nvCxnSpPr>
        <p:spPr>
          <a:xfrm flipH="1">
            <a:off x="2181581" y="2532229"/>
            <a:ext cx="1696679" cy="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1"/>
            <a:endCxn id="37" idx="3"/>
          </p:cNvCxnSpPr>
          <p:nvPr/>
        </p:nvCxnSpPr>
        <p:spPr>
          <a:xfrm flipH="1">
            <a:off x="2181581" y="5351629"/>
            <a:ext cx="169350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22802" y="2301397"/>
            <a:ext cx="1158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00" y="5120797"/>
            <a:ext cx="1343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76488" y="1244025"/>
            <a:ext cx="209602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200" b="1" dirty="0">
                <a:ln/>
                <a:solidFill>
                  <a:schemeClr val="accent3"/>
                </a:solidFill>
              </a:rPr>
              <a:t>Interceptor</a:t>
            </a:r>
          </a:p>
        </p:txBody>
      </p:sp>
      <p:cxnSp>
        <p:nvCxnSpPr>
          <p:cNvPr id="25" name="Elbow Connector 24"/>
          <p:cNvCxnSpPr>
            <a:stCxn id="6" idx="2"/>
            <a:endCxn id="9" idx="0"/>
          </p:cNvCxnSpPr>
          <p:nvPr/>
        </p:nvCxnSpPr>
        <p:spPr>
          <a:xfrm rot="5400000">
            <a:off x="7462849" y="1121724"/>
            <a:ext cx="351609" cy="43156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9" idx="2"/>
            <a:endCxn id="7" idx="0"/>
          </p:cNvCxnSpPr>
          <p:nvPr/>
        </p:nvCxnSpPr>
        <p:spPr>
          <a:xfrm rot="16200000" flipH="1">
            <a:off x="7424748" y="2484614"/>
            <a:ext cx="427809" cy="43156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58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Interceptor </a:t>
            </a:r>
            <a:r>
              <a:rPr lang="en-US" dirty="0"/>
              <a:t>S</a:t>
            </a:r>
            <a:r>
              <a:rPr lang="en-US" dirty="0" smtClean="0"/>
              <a:t>tructure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9918"/>
            <a:ext cx="10972800" cy="580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3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Interceptor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Interceptor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dung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URI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myInterceptor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kích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dung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URI </a:t>
            </a:r>
            <a:r>
              <a:rPr lang="en-US" dirty="0" err="1" smtClean="0"/>
              <a:t>của</a:t>
            </a:r>
            <a:r>
              <a:rPr lang="en-US" dirty="0" smtClean="0"/>
              <a:t> website </a:t>
            </a:r>
            <a:r>
              <a:rPr lang="en-US" dirty="0" err="1" smtClean="0"/>
              <a:t>ngoại</a:t>
            </a:r>
            <a:r>
              <a:rPr lang="en-US" dirty="0" smtClean="0"/>
              <a:t> </a:t>
            </a:r>
            <a:r>
              <a:rPr lang="en-US" dirty="0" err="1" smtClean="0"/>
              <a:t>trừ</a:t>
            </a:r>
            <a:r>
              <a:rPr lang="en-US" dirty="0" smtClean="0"/>
              <a:t> /home/index.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4" y="3026260"/>
            <a:ext cx="7211431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82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Interceptor Example 1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9373908" cy="30579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754" y="3352800"/>
            <a:ext cx="10002646" cy="33627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0850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Interceptor 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506998"/>
            <a:ext cx="10972800" cy="1198601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view dung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postHandle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dù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456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94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Authentication Interceptor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9175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with Interceptor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10972800" cy="559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6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Authentication configuration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5766862"/>
            <a:ext cx="10972800" cy="938738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599"/>
            <a:ext cx="10972800" cy="471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44419"/>
            <a:ext cx="7585826" cy="578497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þ"/>
            </a:pPr>
            <a:r>
              <a:rPr lang="en-US" sz="3600" cap="small" dirty="0"/>
              <a:t>Schedule Tasks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/>
              <a:t>Tìm</a:t>
            </a:r>
            <a:r>
              <a:rPr lang="en-US" sz="3200" cap="small" dirty="0"/>
              <a:t> </a:t>
            </a:r>
            <a:r>
              <a:rPr lang="en-US" sz="3200" cap="small" dirty="0" err="1"/>
              <a:t>hiểu</a:t>
            </a:r>
            <a:r>
              <a:rPr lang="en-US" sz="3200" cap="small" dirty="0"/>
              <a:t> Schedule Tasks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/>
              <a:t>Tạo</a:t>
            </a:r>
            <a:r>
              <a:rPr lang="en-US" sz="3200" cap="small" dirty="0"/>
              <a:t> Schedule </a:t>
            </a:r>
            <a:r>
              <a:rPr lang="en-US" sz="3200" cap="small" dirty="0" smtClean="0"/>
              <a:t>Tasks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 smtClean="0"/>
              <a:t>JavaMailSender</a:t>
            </a:r>
            <a:endParaRPr lang="en-US" sz="3200" cap="small" dirty="0"/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 smtClean="0"/>
              <a:t>Gửi</a:t>
            </a:r>
            <a:r>
              <a:rPr lang="en-US" sz="3200" cap="small" dirty="0" smtClean="0"/>
              <a:t> email ở </a:t>
            </a:r>
            <a:r>
              <a:rPr lang="en-US" sz="3200" cap="small" dirty="0" err="1" smtClean="0"/>
              <a:t>chế</a:t>
            </a:r>
            <a:r>
              <a:rPr lang="en-US" sz="3200" cap="small" dirty="0" smtClean="0"/>
              <a:t> </a:t>
            </a:r>
            <a:r>
              <a:rPr lang="en-US" sz="3200" cap="small" dirty="0" err="1" smtClean="0"/>
              <a:t>độ</a:t>
            </a:r>
            <a:r>
              <a:rPr lang="en-US" sz="3200" cap="small" dirty="0" smtClean="0"/>
              <a:t> </a:t>
            </a:r>
            <a:r>
              <a:rPr lang="en-US" sz="3200" cap="small" dirty="0" err="1" smtClean="0"/>
              <a:t>nền</a:t>
            </a:r>
            <a:endParaRPr lang="en-US" sz="3600" cap="small" dirty="0"/>
          </a:p>
          <a:p>
            <a:pPr>
              <a:buFont typeface="Wingdings" pitchFamily="2" charset="2"/>
              <a:buChar char="þ"/>
            </a:pPr>
            <a:r>
              <a:rPr lang="en-US" sz="3600" cap="small" dirty="0"/>
              <a:t>Interceptor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/>
              <a:t>Giới</a:t>
            </a:r>
            <a:r>
              <a:rPr lang="en-US" sz="3200" cap="small" dirty="0"/>
              <a:t> </a:t>
            </a:r>
            <a:r>
              <a:rPr lang="en-US" sz="3200" cap="small" dirty="0" err="1"/>
              <a:t>thiệu</a:t>
            </a:r>
            <a:r>
              <a:rPr lang="en-US" sz="3200" cap="small" dirty="0"/>
              <a:t> Interceptor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/>
              <a:t>Tạo</a:t>
            </a:r>
            <a:r>
              <a:rPr lang="en-US" sz="3200" cap="small" dirty="0"/>
              <a:t> Interceptor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3200" cap="small" dirty="0" err="1"/>
              <a:t>Bảo</a:t>
            </a:r>
            <a:r>
              <a:rPr lang="en-US" sz="3200" cap="small" dirty="0"/>
              <a:t> </a:t>
            </a:r>
            <a:r>
              <a:rPr lang="en-US" sz="3200" cap="small" dirty="0" err="1"/>
              <a:t>mật</a:t>
            </a:r>
            <a:r>
              <a:rPr lang="en-US" sz="3200" cap="small" dirty="0"/>
              <a:t> </a:t>
            </a:r>
            <a:r>
              <a:rPr lang="en-US" sz="3200" cap="small" dirty="0" err="1"/>
              <a:t>hệ</a:t>
            </a:r>
            <a:r>
              <a:rPr lang="en-US" sz="3200" cap="small" dirty="0"/>
              <a:t> </a:t>
            </a:r>
            <a:r>
              <a:rPr lang="en-US" sz="3200" cap="small" dirty="0" err="1" smtClean="0"/>
              <a:t>thống</a:t>
            </a:r>
            <a:r>
              <a:rPr lang="en-US" sz="3200" cap="small" dirty="0" smtClean="0"/>
              <a:t> </a:t>
            </a:r>
            <a:r>
              <a:rPr lang="en-US" sz="3200" cap="small" dirty="0" err="1" smtClean="0"/>
              <a:t>với</a:t>
            </a:r>
            <a:r>
              <a:rPr lang="en-US" sz="3200" cap="small" dirty="0" smtClean="0"/>
              <a:t> Interceptor</a:t>
            </a:r>
            <a:endParaRPr lang="en-US" sz="3200" cap="small" dirty="0"/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13975</TotalTime>
  <Words>819</Words>
  <Application>Microsoft Office PowerPoint</Application>
  <PresentationFormat>Widescreen</PresentationFormat>
  <Paragraphs>125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Times New Roman</vt:lpstr>
      <vt:lpstr>Wingdings</vt:lpstr>
      <vt:lpstr>Custom Design</vt:lpstr>
      <vt:lpstr>Schedule Task &amp; Interceptor</vt:lpstr>
      <vt:lpstr>Agenda</vt:lpstr>
      <vt:lpstr>PowerPoint Presentation</vt:lpstr>
      <vt:lpstr>Scheduled Task Introduction</vt:lpstr>
      <vt:lpstr>@EnableScheduling</vt:lpstr>
      <vt:lpstr>@Scheduled</vt:lpstr>
      <vt:lpstr>@Scheduled Examples</vt:lpstr>
      <vt:lpstr>PowerPoint Presentation</vt:lpstr>
      <vt:lpstr>Java Mail Sender</vt:lpstr>
      <vt:lpstr>JavaMailSender Configuration</vt:lpstr>
      <vt:lpstr>Gửi mail</vt:lpstr>
      <vt:lpstr>Tạo nội dung mail</vt:lpstr>
      <vt:lpstr>Thiết kế MailService</vt:lpstr>
      <vt:lpstr>Cài đặt mã nguồn cho MailService</vt:lpstr>
      <vt:lpstr>PowerPoint Presentation</vt:lpstr>
      <vt:lpstr>Sử dụng Scheduled Task</vt:lpstr>
      <vt:lpstr>Sử dụng Scheduled Task</vt:lpstr>
      <vt:lpstr>Interceptor</vt:lpstr>
      <vt:lpstr>Interceptor Handling Flow</vt:lpstr>
      <vt:lpstr>Interceptor Structure</vt:lpstr>
      <vt:lpstr>Interceptor Configuration</vt:lpstr>
      <vt:lpstr>Interceptor Example 1</vt:lpstr>
      <vt:lpstr>Interceptor Example 2</vt:lpstr>
      <vt:lpstr>PowerPoint Presentation</vt:lpstr>
      <vt:lpstr>Authentication with Interceptor</vt:lpstr>
      <vt:lpstr>Authentication configuration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1961</cp:revision>
  <dcterms:created xsi:type="dcterms:W3CDTF">2013-04-23T08:05:33Z</dcterms:created>
  <dcterms:modified xsi:type="dcterms:W3CDTF">2024-12-22T14:23:50Z</dcterms:modified>
</cp:coreProperties>
</file>
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46"/>
  </p:notesMasterIdLst>
  <p:sldIdLst>
    <p:sldId id="709" r:id="rId2"/>
    <p:sldId id="865" r:id="rId3"/>
    <p:sldId id="830" r:id="rId4"/>
    <p:sldId id="864" r:id="rId5"/>
    <p:sldId id="866" r:id="rId6"/>
    <p:sldId id="867" r:id="rId7"/>
    <p:sldId id="869" r:id="rId8"/>
    <p:sldId id="870" r:id="rId9"/>
    <p:sldId id="871" r:id="rId10"/>
    <p:sldId id="855" r:id="rId11"/>
    <p:sldId id="856" r:id="rId12"/>
    <p:sldId id="863" r:id="rId13"/>
    <p:sldId id="798" r:id="rId14"/>
    <p:sldId id="800" r:id="rId15"/>
    <p:sldId id="843" r:id="rId16"/>
    <p:sldId id="809" r:id="rId17"/>
    <p:sldId id="852" r:id="rId18"/>
    <p:sldId id="876" r:id="rId19"/>
    <p:sldId id="893" r:id="rId20"/>
    <p:sldId id="896" r:id="rId21"/>
    <p:sldId id="886" r:id="rId22"/>
    <p:sldId id="894" r:id="rId23"/>
    <p:sldId id="877" r:id="rId24"/>
    <p:sldId id="897" r:id="rId25"/>
    <p:sldId id="898" r:id="rId26"/>
    <p:sldId id="892" r:id="rId27"/>
    <p:sldId id="895" r:id="rId28"/>
    <p:sldId id="846" r:id="rId29"/>
    <p:sldId id="878" r:id="rId30"/>
    <p:sldId id="879" r:id="rId31"/>
    <p:sldId id="880" r:id="rId32"/>
    <p:sldId id="881" r:id="rId33"/>
    <p:sldId id="882" r:id="rId34"/>
    <p:sldId id="883" r:id="rId35"/>
    <p:sldId id="885" r:id="rId36"/>
    <p:sldId id="900" r:id="rId37"/>
    <p:sldId id="884" r:id="rId38"/>
    <p:sldId id="901" r:id="rId39"/>
    <p:sldId id="888" r:id="rId40"/>
    <p:sldId id="889" r:id="rId41"/>
    <p:sldId id="890" r:id="rId42"/>
    <p:sldId id="891" r:id="rId43"/>
    <p:sldId id="707" r:id="rId44"/>
    <p:sldId id="75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9BBB59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62" autoAdjust="0"/>
    <p:restoredTop sz="94364" autoAdjust="0"/>
  </p:normalViewPr>
  <p:slideViewPr>
    <p:cSldViewPr>
      <p:cViewPr>
        <p:scale>
          <a:sx n="75" d="100"/>
          <a:sy n="75" d="100"/>
        </p:scale>
        <p:origin x="1176" y="34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EE1EE2F0-59E4-4602-AA67-BA6EBD73A1CB}"/>
              </a:ext>
            </a:extLst>
          </p:cNvPr>
          <p:cNvGrpSpPr/>
          <p:nvPr userDrawn="1"/>
        </p:nvGrpSpPr>
        <p:grpSpPr>
          <a:xfrm>
            <a:off x="533400" y="150019"/>
            <a:ext cx="4775200" cy="1828800"/>
            <a:chOff x="457200" y="457200"/>
            <a:chExt cx="3581400" cy="137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7EA993B7-8979-47E1-88DF-A0445F6965F8}"/>
                </a:ext>
              </a:extLst>
            </p:cNvPr>
            <p:cNvSpPr/>
            <p:nvPr userDrawn="1"/>
          </p:nvSpPr>
          <p:spPr>
            <a:xfrm>
              <a:off x="457200" y="609600"/>
              <a:ext cx="3581400" cy="1219200"/>
            </a:xfrm>
            <a:prstGeom prst="rect">
              <a:avLst/>
            </a:prstGeom>
            <a:solidFill>
              <a:srgbClr val="F26522"/>
            </a:solidFill>
            <a:ln>
              <a:solidFill>
                <a:srgbClr val="F265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0FB16836-C66B-4FAD-9EE8-C898ADFF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57200"/>
              <a:ext cx="2787037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59003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6.1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err="1"/>
              <a:t>JpaRepository</a:t>
            </a:r>
            <a:r>
              <a:rPr lang="en-US" dirty="0"/>
              <a:t> API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9162"/>
            <a:ext cx="8991600" cy="5710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thiệu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JpaRepository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Entity Class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DAO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ứng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CRUD</a:t>
            </a: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2: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Sắp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xếp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web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trang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sản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phẩm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095849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3208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JpaRepository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Introduction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381518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</a:t>
            </a:r>
            <a:r>
              <a:rPr lang="en-US" dirty="0" err="1" smtClean="0"/>
              <a:t>JpaRepository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7162800" cy="575900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JpaRepository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API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hỗ</a:t>
            </a:r>
            <a:r>
              <a:rPr lang="en-US" dirty="0" smtClean="0"/>
              <a:t> </a:t>
            </a:r>
            <a:r>
              <a:rPr lang="en-US" dirty="0" err="1" smtClean="0"/>
              <a:t>trợ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Spring Boot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CSDL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JPQL (Java Persistence Query Language)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, </a:t>
            </a:r>
            <a:r>
              <a:rPr lang="en-US" dirty="0" err="1" smtClean="0"/>
              <a:t>sửa</a:t>
            </a:r>
            <a:r>
              <a:rPr lang="en-US" dirty="0" smtClean="0"/>
              <a:t>, </a:t>
            </a: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JpaRepository</a:t>
            </a:r>
            <a:r>
              <a:rPr lang="en-US" dirty="0" smtClean="0"/>
              <a:t> </a:t>
            </a: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sẵn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bớt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@Query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JPQL</a:t>
            </a:r>
          </a:p>
          <a:p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,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linh</a:t>
            </a:r>
            <a:r>
              <a:rPr lang="en-US" dirty="0" smtClean="0"/>
              <a:t> </a:t>
            </a:r>
            <a:r>
              <a:rPr lang="en-US" dirty="0" err="1" smtClean="0"/>
              <a:t>hoạt</a:t>
            </a:r>
            <a:r>
              <a:rPr lang="en-US" dirty="0" smtClean="0"/>
              <a:t>,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endParaRPr lang="en-US" dirty="0" smtClean="0"/>
          </a:p>
          <a:p>
            <a:r>
              <a:rPr lang="en-US" dirty="0" smtClean="0"/>
              <a:t>DSL (Domain Specific Language) </a:t>
            </a:r>
            <a:r>
              <a:rPr lang="en-US" dirty="0" err="1" smtClean="0"/>
              <a:t>giúp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JPQL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1026" name="Picture 2" descr="🍃 Spring Boot - 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297210"/>
            <a:ext cx="3438525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07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JpaRepository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91916" y="2590800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Entity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991600" y="2590800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92232" y="2586446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smtClean="0"/>
              <a:t>DAO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3"/>
            <a:endCxn id="4" idx="1"/>
          </p:cNvCxnSpPr>
          <p:nvPr/>
        </p:nvCxnSpPr>
        <p:spPr>
          <a:xfrm>
            <a:off x="5068632" y="2891246"/>
            <a:ext cx="1123284" cy="4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2548" y="2586446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Spring Bean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10" idx="3"/>
            <a:endCxn id="6" idx="1"/>
          </p:cNvCxnSpPr>
          <p:nvPr/>
        </p:nvCxnSpPr>
        <p:spPr>
          <a:xfrm>
            <a:off x="2268948" y="2891246"/>
            <a:ext cx="1123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4" idx="3"/>
            <a:endCxn id="5" idx="1"/>
          </p:cNvCxnSpPr>
          <p:nvPr/>
        </p:nvCxnSpPr>
        <p:spPr>
          <a:xfrm>
            <a:off x="7868316" y="2895600"/>
            <a:ext cx="11232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392232" y="1064623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JpaRepository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6" idx="0"/>
            <a:endCxn id="17" idx="2"/>
          </p:cNvCxnSpPr>
          <p:nvPr/>
        </p:nvCxnSpPr>
        <p:spPr>
          <a:xfrm flipV="1">
            <a:off x="4230432" y="1674223"/>
            <a:ext cx="0" cy="91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92548" y="3196046"/>
            <a:ext cx="2590800" cy="2061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rgbClr val="FF0000"/>
                </a:solidFill>
              </a:rPr>
              <a:t>@</a:t>
            </a:r>
            <a:r>
              <a:rPr lang="en-US" b="1" dirty="0" err="1" smtClean="0">
                <a:solidFill>
                  <a:srgbClr val="FF0000"/>
                </a:solidFill>
              </a:rPr>
              <a:t>Autowire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DAO </a:t>
            </a:r>
            <a:r>
              <a:rPr lang="en-US" dirty="0" err="1" smtClean="0"/>
              <a:t>dao</a:t>
            </a:r>
            <a:endParaRPr lang="en-US" dirty="0" smtClean="0"/>
          </a:p>
          <a:p>
            <a:r>
              <a:rPr lang="en-US" dirty="0" smtClean="0"/>
              <a:t>…</a:t>
            </a:r>
            <a:endParaRPr lang="en-US" dirty="0"/>
          </a:p>
          <a:p>
            <a:r>
              <a:rPr lang="en-US" dirty="0" err="1"/>
              <a:t>d</a:t>
            </a:r>
            <a:r>
              <a:rPr lang="en-US" dirty="0" err="1" smtClean="0"/>
              <a:t>ao.save</a:t>
            </a:r>
            <a:r>
              <a:rPr lang="en-US" dirty="0" smtClean="0"/>
              <a:t>(entity)</a:t>
            </a:r>
          </a:p>
          <a:p>
            <a:r>
              <a:rPr lang="en-US" dirty="0" err="1" smtClean="0"/>
              <a:t>dao.findAll</a:t>
            </a:r>
            <a:r>
              <a:rPr lang="en-US" dirty="0" smtClean="0"/>
              <a:t>()</a:t>
            </a:r>
          </a:p>
          <a:p>
            <a:r>
              <a:rPr lang="en-US" dirty="0" err="1"/>
              <a:t>d</a:t>
            </a:r>
            <a:r>
              <a:rPr lang="en-US" dirty="0" err="1" smtClean="0"/>
              <a:t>ao.findById</a:t>
            </a:r>
            <a:r>
              <a:rPr lang="en-US" dirty="0" smtClean="0"/>
              <a:t>()</a:t>
            </a:r>
          </a:p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3392232" y="3196046"/>
            <a:ext cx="2590800" cy="2061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DAO </a:t>
            </a:r>
            <a:r>
              <a:rPr lang="en-US" b="1" dirty="0" smtClean="0">
                <a:solidFill>
                  <a:srgbClr val="FF0000"/>
                </a:solidFill>
              </a:rPr>
              <a:t>extends </a:t>
            </a:r>
            <a:r>
              <a:rPr lang="en-US" b="1" dirty="0" err="1" smtClean="0">
                <a:solidFill>
                  <a:srgbClr val="FF0000"/>
                </a:solidFill>
              </a:rPr>
              <a:t>JpaRepositoty</a:t>
            </a:r>
            <a:r>
              <a:rPr lang="en-US" dirty="0" smtClean="0"/>
              <a:t>&lt;Entity, ID&gt;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6191916" y="3196046"/>
            <a:ext cx="2590800" cy="2061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smtClean="0"/>
              <a:t>@Entity</a:t>
            </a:r>
          </a:p>
          <a:p>
            <a:r>
              <a:rPr lang="en-US" dirty="0" smtClean="0"/>
              <a:t>@Table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8991600" y="3196046"/>
            <a:ext cx="2590800" cy="20617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9829800" y="5543005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</a:t>
            </a:r>
            <a:endParaRPr lang="en-US" sz="2800" dirty="0"/>
          </a:p>
        </p:txBody>
      </p:sp>
      <p:sp>
        <p:nvSpPr>
          <p:cNvPr id="29" name="Oval 28"/>
          <p:cNvSpPr/>
          <p:nvPr/>
        </p:nvSpPr>
        <p:spPr>
          <a:xfrm>
            <a:off x="7030116" y="5543005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4230432" y="5543005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  <a:endParaRPr lang="en-US" sz="2800" dirty="0"/>
          </a:p>
        </p:txBody>
      </p:sp>
      <p:sp>
        <p:nvSpPr>
          <p:cNvPr id="31" name="Oval 30"/>
          <p:cNvSpPr/>
          <p:nvPr/>
        </p:nvSpPr>
        <p:spPr>
          <a:xfrm>
            <a:off x="1430748" y="5543005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  <a:endParaRPr lang="en-US" sz="2800" dirty="0"/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286010"/>
              </p:ext>
            </p:extLst>
          </p:nvPr>
        </p:nvGraphicFramePr>
        <p:xfrm>
          <a:off x="9017725" y="3222172"/>
          <a:ext cx="2538549" cy="2009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183"/>
                <a:gridCol w="846183"/>
                <a:gridCol w="846183"/>
              </a:tblGrid>
              <a:tr h="401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1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1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1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190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580158" y="254150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374434" y="254150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8129234" y="2541509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map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 rot="16200000">
            <a:off x="3608210" y="1946136"/>
            <a:ext cx="919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extends</a:t>
            </a:r>
            <a:endParaRPr lang="en-US" dirty="0"/>
          </a:p>
        </p:txBody>
      </p:sp>
      <p:sp>
        <p:nvSpPr>
          <p:cNvPr id="37" name="Striped Right Arrow 36"/>
          <p:cNvSpPr/>
          <p:nvPr/>
        </p:nvSpPr>
        <p:spPr>
          <a:xfrm flipH="1">
            <a:off x="8429957" y="5757889"/>
            <a:ext cx="978408" cy="484632"/>
          </a:xfrm>
          <a:prstGeom prst="striped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Striped Right Arrow 37"/>
          <p:cNvSpPr/>
          <p:nvPr/>
        </p:nvSpPr>
        <p:spPr>
          <a:xfrm flipH="1">
            <a:off x="5566267" y="5757889"/>
            <a:ext cx="978408" cy="484632"/>
          </a:xfrm>
          <a:prstGeom prst="striped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triped Right Arrow 38"/>
          <p:cNvSpPr/>
          <p:nvPr/>
        </p:nvSpPr>
        <p:spPr>
          <a:xfrm flipH="1">
            <a:off x="2766583" y="5757889"/>
            <a:ext cx="978408" cy="484632"/>
          </a:xfrm>
          <a:prstGeom prst="striped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1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JpaRepository</a:t>
            </a:r>
            <a:r>
              <a:rPr lang="en-US" dirty="0" smtClean="0"/>
              <a:t> API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644638"/>
              </p:ext>
            </p:extLst>
          </p:nvPr>
        </p:nvGraphicFramePr>
        <p:xfrm>
          <a:off x="609600" y="990600"/>
          <a:ext cx="10972800" cy="5714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/>
                <a:gridCol w="5638800"/>
              </a:tblGrid>
              <a:tr h="5195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findAll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(): List&lt;T&gt;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delete(T)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findAll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(Sort):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List&lt;T&gt;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deleteById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(ID)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findAllByIds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&lt;ID&gt;):List&lt;T&gt;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deleteAllById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&lt;ID&gt;)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findAll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): Page&lt;T&gt;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deleteAllByIdInBatch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&lt;ID&gt;)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findById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(ID): Optional&lt;T&gt;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deleteAll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getReferenceById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(ID): 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deleteAll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&lt;T&gt;)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save(T): 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deleteAllInBatch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saveAndFlush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(T): 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deleteAllInBatch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&lt;T&gt;)</a:t>
                      </a: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saveAll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&lt;T&gt;): List&lt;T&gt;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count(): long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9545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saveAllAndFlush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&lt;T&gt;): List&lt;T&gt;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existsById</a:t>
                      </a: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(ID):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674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Category - Entity Class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97801"/>
            <a:ext cx="3600953" cy="33532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76600"/>
            <a:ext cx="5029902" cy="2238687"/>
          </a:xfrm>
          <a:prstGeom prst="rect">
            <a:avLst/>
          </a:prstGeom>
        </p:spPr>
      </p:pic>
      <p:sp>
        <p:nvSpPr>
          <p:cNvPr id="6" name="Flowchart: Magnetic Disk 5"/>
          <p:cNvSpPr/>
          <p:nvPr/>
        </p:nvSpPr>
        <p:spPr>
          <a:xfrm>
            <a:off x="6248400" y="1766203"/>
            <a:ext cx="5334000" cy="4359731"/>
          </a:xfrm>
          <a:prstGeom prst="flowChartMagneticDisk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Internal Storage 6"/>
          <p:cNvSpPr/>
          <p:nvPr/>
        </p:nvSpPr>
        <p:spPr>
          <a:xfrm>
            <a:off x="685800" y="1964869"/>
            <a:ext cx="4648200" cy="3962400"/>
          </a:xfrm>
          <a:prstGeom prst="flowChartInternalStorag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7" idx="3"/>
            <a:endCxn id="6" idx="2"/>
          </p:cNvCxnSpPr>
          <p:nvPr/>
        </p:nvCxnSpPr>
        <p:spPr>
          <a:xfrm>
            <a:off x="5334000" y="3946069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94553" y="357673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map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8382000" y="1219200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1</a:t>
            </a:r>
            <a:endParaRPr lang="en-US" sz="2800" dirty="0"/>
          </a:p>
        </p:txBody>
      </p:sp>
      <p:sp>
        <p:nvSpPr>
          <p:cNvPr id="15" name="Oval 14"/>
          <p:cNvSpPr/>
          <p:nvPr/>
        </p:nvSpPr>
        <p:spPr>
          <a:xfrm>
            <a:off x="2438400" y="1219200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20471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CategoryDAO</a:t>
            </a:r>
            <a:r>
              <a:rPr lang="en-US" dirty="0" smtClean="0"/>
              <a:t> and </a:t>
            </a:r>
            <a:r>
              <a:rPr lang="en-US" dirty="0" err="1" smtClean="0"/>
              <a:t>CategoryService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5020376" cy="29722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499304"/>
            <a:ext cx="7859222" cy="21910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3881" y="4499304"/>
            <a:ext cx="7970519" cy="220629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3881" y="946596"/>
            <a:ext cx="7970519" cy="301580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8790" y="5410200"/>
            <a:ext cx="5896798" cy="1162212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7" idx="0"/>
            <a:endCxn id="8" idx="2"/>
          </p:cNvCxnSpPr>
          <p:nvPr/>
        </p:nvCxnSpPr>
        <p:spPr>
          <a:xfrm flipV="1">
            <a:off x="4549141" y="3962399"/>
            <a:ext cx="0" cy="53690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5394959"/>
            <a:ext cx="6096000" cy="11861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endCxn id="12" idx="1"/>
          </p:cNvCxnSpPr>
          <p:nvPr/>
        </p:nvCxnSpPr>
        <p:spPr>
          <a:xfrm>
            <a:off x="3810000" y="5867400"/>
            <a:ext cx="1676400" cy="120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92361" y="556491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667794" y="4047636"/>
            <a:ext cx="12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implements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9829800" y="2128326"/>
            <a:ext cx="1752600" cy="65234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Category</a:t>
            </a:r>
            <a:endParaRPr lang="en-US" dirty="0"/>
          </a:p>
        </p:txBody>
      </p:sp>
      <p:cxnSp>
        <p:nvCxnSpPr>
          <p:cNvPr id="19" name="Straight Arrow Connector 18"/>
          <p:cNvCxnSpPr>
            <a:stCxn id="8" idx="3"/>
            <a:endCxn id="17" idx="1"/>
          </p:cNvCxnSpPr>
          <p:nvPr/>
        </p:nvCxnSpPr>
        <p:spPr>
          <a:xfrm flipV="1">
            <a:off x="8534400" y="2454497"/>
            <a:ext cx="12954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0"/>
            <a:endCxn id="17" idx="2"/>
          </p:cNvCxnSpPr>
          <p:nvPr/>
        </p:nvCxnSpPr>
        <p:spPr>
          <a:xfrm flipV="1">
            <a:off x="8534400" y="2780667"/>
            <a:ext cx="2171700" cy="2614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963271" y="2110844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182100" y="372807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</a:t>
            </a:r>
            <a:endParaRPr lang="en-US" dirty="0"/>
          </a:p>
        </p:txBody>
      </p:sp>
      <p:sp>
        <p:nvSpPr>
          <p:cNvPr id="26" name="Oval 25"/>
          <p:cNvSpPr/>
          <p:nvPr/>
        </p:nvSpPr>
        <p:spPr>
          <a:xfrm>
            <a:off x="10489326" y="4813279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3</a:t>
            </a:r>
            <a:endParaRPr lang="en-US" sz="2800" dirty="0"/>
          </a:p>
        </p:txBody>
      </p:sp>
      <p:sp>
        <p:nvSpPr>
          <p:cNvPr id="27" name="Oval 26"/>
          <p:cNvSpPr/>
          <p:nvPr/>
        </p:nvSpPr>
        <p:spPr>
          <a:xfrm>
            <a:off x="7064879" y="3732519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4.1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9179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CategoryServiceImpl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58495"/>
            <a:ext cx="2514951" cy="82879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06" y="1871689"/>
            <a:ext cx="5077534" cy="47726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876043"/>
            <a:ext cx="4601217" cy="4791744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0363200" y="982689"/>
            <a:ext cx="914400" cy="914400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4.2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75672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Pom.xml -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19200"/>
            <a:ext cx="9625332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6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/>
          <p:cNvSpPr/>
          <p:nvPr/>
        </p:nvSpPr>
        <p:spPr>
          <a:xfrm>
            <a:off x="609600" y="914400"/>
            <a:ext cx="10972800" cy="59436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Application.properties</a:t>
            </a:r>
            <a:r>
              <a:rPr lang="en-US" dirty="0"/>
              <a:t> -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CSDL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108204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spring.datasource.url=&lt;</a:t>
            </a:r>
            <a:r>
              <a:rPr lang="en-US" sz="2400" dirty="0" err="1"/>
              <a:t>dburl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 err="1"/>
              <a:t>spring.datasource.username</a:t>
            </a:r>
            <a:r>
              <a:rPr lang="en-US" sz="2400" dirty="0"/>
              <a:t>=&lt;username&gt;</a:t>
            </a:r>
          </a:p>
          <a:p>
            <a:pPr marL="0" indent="0">
              <a:buNone/>
            </a:pPr>
            <a:r>
              <a:rPr lang="en-US" sz="2400" dirty="0" err="1"/>
              <a:t>spring.datasource.password</a:t>
            </a:r>
            <a:r>
              <a:rPr lang="en-US" sz="2400" dirty="0"/>
              <a:t>=&lt;password&gt;</a:t>
            </a:r>
          </a:p>
          <a:p>
            <a:pPr marL="0" indent="0">
              <a:buNone/>
            </a:pPr>
            <a:r>
              <a:rPr lang="en-US" sz="2400" dirty="0" err="1"/>
              <a:t>spring.datasource.driverClassName</a:t>
            </a:r>
            <a:r>
              <a:rPr lang="en-US" sz="2400" dirty="0"/>
              <a:t>=&lt;driver&gt;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spring.jpa.hibernate.dialect</a:t>
            </a:r>
            <a:r>
              <a:rPr lang="en-US" sz="2400" dirty="0"/>
              <a:t>=&lt;dialect&gt;</a:t>
            </a:r>
          </a:p>
          <a:p>
            <a:pPr marL="0" indent="0">
              <a:buNone/>
            </a:pPr>
            <a:r>
              <a:rPr lang="en-US" sz="2400" dirty="0" err="1"/>
              <a:t>spring.jpa.hibernate.ddl</a:t>
            </a:r>
            <a:r>
              <a:rPr lang="en-US" sz="2400" dirty="0"/>
              <a:t>-auto=&lt;</a:t>
            </a:r>
            <a:r>
              <a:rPr lang="en-US" sz="2400" b="1" dirty="0" err="1"/>
              <a:t>none</a:t>
            </a:r>
            <a:r>
              <a:rPr lang="en-US" sz="2400" dirty="0" err="1"/>
              <a:t>|create|create-drop|validate|update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spring.jpa.show-sql</a:t>
            </a:r>
            <a:r>
              <a:rPr lang="en-US" sz="2400" dirty="0"/>
              <a:t>=&lt;</a:t>
            </a:r>
            <a:r>
              <a:rPr lang="en-US" sz="2400" dirty="0" err="1"/>
              <a:t>true|</a:t>
            </a:r>
            <a:r>
              <a:rPr lang="en-US" sz="2400" b="1" dirty="0" err="1"/>
              <a:t>false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r>
              <a:rPr lang="en-US" sz="2400" dirty="0" err="1"/>
              <a:t>spring.jpa.properties.hibernate.format_sql</a:t>
            </a:r>
            <a:r>
              <a:rPr lang="en-US" sz="2400" dirty="0"/>
              <a:t>=&lt;</a:t>
            </a:r>
            <a:r>
              <a:rPr lang="en-US" sz="2400" dirty="0" err="1"/>
              <a:t>true|</a:t>
            </a:r>
            <a:r>
              <a:rPr lang="en-US" sz="2400" b="1" dirty="0" err="1"/>
              <a:t>false</a:t>
            </a:r>
            <a:r>
              <a:rPr lang="en-US" sz="2400" dirty="0"/>
              <a:t>&gt;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772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Building Entity Class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017690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WebShop</a:t>
            </a:r>
            <a:r>
              <a:rPr lang="en-US" dirty="0" smtClean="0"/>
              <a:t> Database Introduction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10972800" cy="499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0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lowchart: Extract 18"/>
          <p:cNvSpPr/>
          <p:nvPr/>
        </p:nvSpPr>
        <p:spPr>
          <a:xfrm>
            <a:off x="2470858" y="2910528"/>
            <a:ext cx="304800" cy="228600"/>
          </a:xfrm>
          <a:prstGeom prst="flowChartExtra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Extract 19"/>
          <p:cNvSpPr/>
          <p:nvPr/>
        </p:nvSpPr>
        <p:spPr>
          <a:xfrm>
            <a:off x="5620424" y="3977328"/>
            <a:ext cx="304800" cy="228600"/>
          </a:xfrm>
          <a:prstGeom prst="flowChartExtra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Extract 20"/>
          <p:cNvSpPr/>
          <p:nvPr/>
        </p:nvSpPr>
        <p:spPr>
          <a:xfrm rot="16200000">
            <a:off x="4265368" y="4838700"/>
            <a:ext cx="304800" cy="228600"/>
          </a:xfrm>
          <a:prstGeom prst="flowChartExtra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Extract 21"/>
          <p:cNvSpPr/>
          <p:nvPr/>
        </p:nvSpPr>
        <p:spPr>
          <a:xfrm rot="5400000" flipH="1">
            <a:off x="6953189" y="2145574"/>
            <a:ext cx="304800" cy="228600"/>
          </a:xfrm>
          <a:prstGeom prst="flowChartExtra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Relational Diagram</a:t>
            </a:r>
          </a:p>
        </p:txBody>
      </p:sp>
      <p:cxnSp>
        <p:nvCxnSpPr>
          <p:cNvPr id="10" name="Straight Connector 9"/>
          <p:cNvCxnSpPr>
            <a:stCxn id="30" idx="2"/>
            <a:endCxn id="31" idx="0"/>
          </p:cNvCxnSpPr>
          <p:nvPr/>
        </p:nvCxnSpPr>
        <p:spPr>
          <a:xfrm>
            <a:off x="2623258" y="2221697"/>
            <a:ext cx="0" cy="9025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941652" y="4953001"/>
            <a:ext cx="59041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33" idx="2"/>
            <a:endCxn id="32" idx="0"/>
          </p:cNvCxnSpPr>
          <p:nvPr/>
        </p:nvCxnSpPr>
        <p:spPr>
          <a:xfrm>
            <a:off x="5785888" y="2968769"/>
            <a:ext cx="1" cy="121678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34" idx="1"/>
          </p:cNvCxnSpPr>
          <p:nvPr/>
        </p:nvCxnSpPr>
        <p:spPr>
          <a:xfrm flipV="1">
            <a:off x="6991289" y="2256881"/>
            <a:ext cx="713422" cy="285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owchart: Internal Storage 29"/>
          <p:cNvSpPr/>
          <p:nvPr/>
        </p:nvSpPr>
        <p:spPr>
          <a:xfrm>
            <a:off x="1304864" y="1352502"/>
            <a:ext cx="2636788" cy="869195"/>
          </a:xfrm>
          <a:prstGeom prst="flowChartInternalStorage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0000CC"/>
                </a:solidFill>
              </a:rPr>
              <a:t>Id</a:t>
            </a:r>
            <a:r>
              <a:rPr lang="en-US" dirty="0"/>
              <a:t>: String</a:t>
            </a:r>
          </a:p>
          <a:p>
            <a:r>
              <a:rPr lang="en-US" dirty="0"/>
              <a:t>Name: String</a:t>
            </a:r>
          </a:p>
        </p:txBody>
      </p:sp>
      <p:sp>
        <p:nvSpPr>
          <p:cNvPr id="31" name="Flowchart: Internal Storage 30"/>
          <p:cNvSpPr/>
          <p:nvPr/>
        </p:nvSpPr>
        <p:spPr>
          <a:xfrm>
            <a:off x="1304864" y="3124200"/>
            <a:ext cx="2636788" cy="2819400"/>
          </a:xfrm>
          <a:prstGeom prst="flowChartInternalStorage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0000CC"/>
                </a:solidFill>
              </a:rPr>
              <a:t>Id</a:t>
            </a:r>
            <a:r>
              <a:rPr lang="en-US" dirty="0"/>
              <a:t>: Integer</a:t>
            </a:r>
          </a:p>
          <a:p>
            <a:r>
              <a:rPr lang="en-US" dirty="0"/>
              <a:t>Name: String</a:t>
            </a:r>
          </a:p>
          <a:p>
            <a:r>
              <a:rPr lang="en-US" dirty="0"/>
              <a:t>Image: String</a:t>
            </a:r>
          </a:p>
          <a:p>
            <a:r>
              <a:rPr lang="en-US" dirty="0"/>
              <a:t>Price: Double</a:t>
            </a:r>
          </a:p>
          <a:p>
            <a:r>
              <a:rPr lang="en-US" dirty="0"/>
              <a:t>Quantity: Integer</a:t>
            </a:r>
          </a:p>
          <a:p>
            <a:r>
              <a:rPr lang="en-US" dirty="0" err="1"/>
              <a:t>CreateDate</a:t>
            </a:r>
            <a:r>
              <a:rPr lang="en-US" dirty="0"/>
              <a:t>: Date</a:t>
            </a:r>
          </a:p>
          <a:p>
            <a:r>
              <a:rPr lang="en-US" dirty="0" err="1">
                <a:solidFill>
                  <a:srgbClr val="FF0000"/>
                </a:solidFill>
              </a:rPr>
              <a:t>CategoryId</a:t>
            </a:r>
            <a:r>
              <a:rPr lang="en-US" dirty="0"/>
              <a:t>: String</a:t>
            </a:r>
          </a:p>
          <a:p>
            <a:r>
              <a:rPr lang="en-US" dirty="0"/>
              <a:t>Available: Boolean</a:t>
            </a:r>
          </a:p>
        </p:txBody>
      </p:sp>
      <p:sp>
        <p:nvSpPr>
          <p:cNvPr id="32" name="Flowchart: Internal Storage 31"/>
          <p:cNvSpPr/>
          <p:nvPr/>
        </p:nvSpPr>
        <p:spPr>
          <a:xfrm>
            <a:off x="4532069" y="4185558"/>
            <a:ext cx="2507640" cy="1741711"/>
          </a:xfrm>
          <a:prstGeom prst="flowChartInternalStorage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0000CC"/>
                </a:solidFill>
              </a:rPr>
              <a:t>Id</a:t>
            </a:r>
            <a:r>
              <a:rPr lang="en-US" dirty="0"/>
              <a:t>: Long</a:t>
            </a:r>
          </a:p>
          <a:p>
            <a:r>
              <a:rPr lang="en-US" dirty="0" err="1">
                <a:solidFill>
                  <a:srgbClr val="FF0000"/>
                </a:solidFill>
              </a:rPr>
              <a:t>OrderId</a:t>
            </a:r>
            <a:r>
              <a:rPr lang="en-US" dirty="0"/>
              <a:t>: Long</a:t>
            </a:r>
          </a:p>
          <a:p>
            <a:r>
              <a:rPr lang="en-US" dirty="0" err="1">
                <a:solidFill>
                  <a:srgbClr val="FF0000"/>
                </a:solidFill>
              </a:rPr>
              <a:t>ProductId</a:t>
            </a:r>
            <a:r>
              <a:rPr lang="en-US" dirty="0"/>
              <a:t>: Integer</a:t>
            </a:r>
          </a:p>
          <a:p>
            <a:r>
              <a:rPr lang="en-US" dirty="0"/>
              <a:t>Price: Double</a:t>
            </a:r>
          </a:p>
          <a:p>
            <a:r>
              <a:rPr lang="en-US" dirty="0"/>
              <a:t>Quantity: Integer</a:t>
            </a:r>
          </a:p>
          <a:p>
            <a:endParaRPr lang="en-US" dirty="0"/>
          </a:p>
        </p:txBody>
      </p:sp>
      <p:sp>
        <p:nvSpPr>
          <p:cNvPr id="33" name="Flowchart: Internal Storage 32"/>
          <p:cNvSpPr/>
          <p:nvPr/>
        </p:nvSpPr>
        <p:spPr>
          <a:xfrm>
            <a:off x="4532067" y="1384899"/>
            <a:ext cx="2507641" cy="1583870"/>
          </a:xfrm>
          <a:prstGeom prst="flowChartInternalStorage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0000CC"/>
                </a:solidFill>
              </a:rPr>
              <a:t>Id</a:t>
            </a:r>
            <a:r>
              <a:rPr lang="en-US" dirty="0"/>
              <a:t>: Long</a:t>
            </a:r>
          </a:p>
          <a:p>
            <a:r>
              <a:rPr lang="en-US" dirty="0">
                <a:solidFill>
                  <a:srgbClr val="FF0000"/>
                </a:solidFill>
              </a:rPr>
              <a:t>Username</a:t>
            </a:r>
            <a:r>
              <a:rPr lang="en-US" dirty="0"/>
              <a:t>: String</a:t>
            </a:r>
          </a:p>
          <a:p>
            <a:r>
              <a:rPr lang="en-US" dirty="0" err="1"/>
              <a:t>CreateDate</a:t>
            </a:r>
            <a:r>
              <a:rPr lang="en-US" dirty="0"/>
              <a:t>: Date</a:t>
            </a:r>
          </a:p>
          <a:p>
            <a:r>
              <a:rPr lang="en-US" dirty="0"/>
              <a:t>Address: String</a:t>
            </a:r>
          </a:p>
        </p:txBody>
      </p:sp>
      <p:sp>
        <p:nvSpPr>
          <p:cNvPr id="34" name="Flowchart: Internal Storage 33"/>
          <p:cNvSpPr/>
          <p:nvPr/>
        </p:nvSpPr>
        <p:spPr>
          <a:xfrm>
            <a:off x="7704711" y="1066800"/>
            <a:ext cx="2410778" cy="2380161"/>
          </a:xfrm>
          <a:prstGeom prst="flowChartInternalStorage">
            <a:avLst/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0000CC"/>
                </a:solidFill>
              </a:rPr>
              <a:t>Username</a:t>
            </a:r>
            <a:r>
              <a:rPr lang="en-US" dirty="0"/>
              <a:t>: String</a:t>
            </a:r>
          </a:p>
          <a:p>
            <a:r>
              <a:rPr lang="en-US" dirty="0" err="1"/>
              <a:t>Fullname</a:t>
            </a:r>
            <a:r>
              <a:rPr lang="en-US" dirty="0"/>
              <a:t>: String</a:t>
            </a:r>
          </a:p>
          <a:p>
            <a:r>
              <a:rPr lang="en-US" dirty="0"/>
              <a:t>Password: String</a:t>
            </a:r>
          </a:p>
          <a:p>
            <a:r>
              <a:rPr lang="en-US" dirty="0"/>
              <a:t>Email: String</a:t>
            </a:r>
          </a:p>
          <a:p>
            <a:r>
              <a:rPr lang="en-US" dirty="0"/>
              <a:t>Photo: String</a:t>
            </a:r>
          </a:p>
          <a:p>
            <a:r>
              <a:rPr lang="en-US" dirty="0"/>
              <a:t>Activated: Boolean</a:t>
            </a:r>
          </a:p>
          <a:p>
            <a:r>
              <a:rPr lang="en-US" dirty="0"/>
              <a:t>Admin: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62" y="926295"/>
            <a:ext cx="1131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CC"/>
                </a:solidFill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571458" y="4219543"/>
            <a:ext cx="1018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CC"/>
                </a:solidFill>
              </a:rPr>
              <a:t>Product</a:t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6551323" y="4889851"/>
            <a:ext cx="143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0000CC"/>
                </a:solidFill>
              </a:rPr>
              <a:t>OrderDetail</a:t>
            </a:r>
            <a:endParaRPr lang="en-US" sz="2000" b="1" dirty="0">
              <a:solidFill>
                <a:srgbClr val="0000CC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 rot="16200000">
            <a:off x="9789022" y="2056825"/>
            <a:ext cx="1053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CC"/>
                </a:solidFill>
              </a:rPr>
              <a:t>Account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0004" y="968457"/>
            <a:ext cx="805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CC"/>
                </a:solidFill>
              </a:rPr>
              <a:t>Order</a:t>
            </a:r>
          </a:p>
        </p:txBody>
      </p:sp>
      <p:sp>
        <p:nvSpPr>
          <p:cNvPr id="27" name="Content Placeholder 8"/>
          <p:cNvSpPr>
            <a:spLocks noGrp="1"/>
          </p:cNvSpPr>
          <p:nvPr>
            <p:ph idx="1"/>
          </p:nvPr>
        </p:nvSpPr>
        <p:spPr>
          <a:xfrm>
            <a:off x="7827819" y="3599360"/>
            <a:ext cx="3221181" cy="3124200"/>
          </a:xfr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@Entity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@Table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</a:t>
            </a:r>
            <a:r>
              <a:rPr lang="en-US" dirty="0" err="1"/>
              <a:t>UniqueConstraint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@Column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@Id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</a:t>
            </a:r>
            <a:r>
              <a:rPr lang="en-US" dirty="0" err="1"/>
              <a:t>GeneratedValue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@Temporal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</a:t>
            </a:r>
            <a:r>
              <a:rPr lang="en-US" dirty="0" err="1"/>
              <a:t>OneToMany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</a:t>
            </a:r>
            <a:r>
              <a:rPr lang="en-US" dirty="0" err="1"/>
              <a:t>ManyToOne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@</a:t>
            </a:r>
            <a:r>
              <a:rPr lang="en-US" dirty="0" err="1"/>
              <a:t>JoinColumn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67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Building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WebShop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DAO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46451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WebShop</a:t>
            </a:r>
            <a:r>
              <a:rPr lang="en-US" dirty="0" smtClean="0"/>
              <a:t> DAO </a:t>
            </a:r>
            <a:r>
              <a:rPr lang="en-US" dirty="0" smtClean="0"/>
              <a:t>Class </a:t>
            </a:r>
            <a:r>
              <a:rPr lang="en-US" dirty="0"/>
              <a:t>Diagram</a:t>
            </a:r>
          </a:p>
        </p:txBody>
      </p:sp>
      <p:sp>
        <p:nvSpPr>
          <p:cNvPr id="6" name="Flowchart: Process 5"/>
          <p:cNvSpPr/>
          <p:nvPr/>
        </p:nvSpPr>
        <p:spPr>
          <a:xfrm rot="16200000">
            <a:off x="7480438" y="4751859"/>
            <a:ext cx="2057399" cy="1263650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&lt;&lt;Interface&gt;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DAO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Flowchart: Process 6"/>
          <p:cNvSpPr/>
          <p:nvPr/>
        </p:nvSpPr>
        <p:spPr>
          <a:xfrm rot="16200000">
            <a:off x="156124" y="4751859"/>
            <a:ext cx="2057399" cy="1263650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&lt;&lt;Interface&gt;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DAO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Flowchart: Process 7"/>
          <p:cNvSpPr/>
          <p:nvPr/>
        </p:nvSpPr>
        <p:spPr>
          <a:xfrm rot="16200000">
            <a:off x="5039000" y="4751859"/>
            <a:ext cx="2057400" cy="1263650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&lt;&lt;Interface&gt;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OrderDetail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DAO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Flowchart: Process 8"/>
          <p:cNvSpPr/>
          <p:nvPr/>
        </p:nvSpPr>
        <p:spPr>
          <a:xfrm rot="16200000">
            <a:off x="2597562" y="4751859"/>
            <a:ext cx="2057400" cy="1263650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&lt;&lt;Interface&gt;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DAO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Flowchart: Process 9"/>
          <p:cNvSpPr/>
          <p:nvPr/>
        </p:nvSpPr>
        <p:spPr>
          <a:xfrm rot="16200000">
            <a:off x="9921875" y="4751859"/>
            <a:ext cx="2057400" cy="1263650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&lt;&lt;Interface&gt;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Account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DAO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Flowchart: Process 11"/>
          <p:cNvSpPr/>
          <p:nvPr/>
        </p:nvSpPr>
        <p:spPr>
          <a:xfrm>
            <a:off x="3626262" y="1143000"/>
            <a:ext cx="4883153" cy="99060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&lt;&lt;Interface&gt;</a:t>
            </a:r>
          </a:p>
          <a:p>
            <a:pPr algn="ctr"/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Jpa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Repository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ID&gt;</a:t>
            </a:r>
          </a:p>
        </p:txBody>
      </p:sp>
      <p:cxnSp>
        <p:nvCxnSpPr>
          <p:cNvPr id="14" name="Elbow Connector 13"/>
          <p:cNvCxnSpPr>
            <a:stCxn id="7" idx="3"/>
            <a:endCxn id="12" idx="2"/>
          </p:cNvCxnSpPr>
          <p:nvPr/>
        </p:nvCxnSpPr>
        <p:spPr>
          <a:xfrm rot="5400000" flipH="1" flipV="1">
            <a:off x="2515639" y="802786"/>
            <a:ext cx="2221385" cy="48830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9" idx="3"/>
            <a:endCxn id="12" idx="2"/>
          </p:cNvCxnSpPr>
          <p:nvPr/>
        </p:nvCxnSpPr>
        <p:spPr>
          <a:xfrm rot="5400000" flipH="1" flipV="1">
            <a:off x="3736358" y="2023504"/>
            <a:ext cx="2221384" cy="24415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8" idx="3"/>
            <a:endCxn id="12" idx="2"/>
          </p:cNvCxnSpPr>
          <p:nvPr/>
        </p:nvCxnSpPr>
        <p:spPr>
          <a:xfrm rot="5400000" flipH="1" flipV="1">
            <a:off x="4957077" y="3244223"/>
            <a:ext cx="2221384" cy="1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6" idx="3"/>
            <a:endCxn id="12" idx="2"/>
          </p:cNvCxnSpPr>
          <p:nvPr/>
        </p:nvCxnSpPr>
        <p:spPr>
          <a:xfrm rot="16200000" flipV="1">
            <a:off x="6177797" y="2023643"/>
            <a:ext cx="2221385" cy="24412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0" idx="3"/>
            <a:endCxn id="12" idx="2"/>
          </p:cNvCxnSpPr>
          <p:nvPr/>
        </p:nvCxnSpPr>
        <p:spPr>
          <a:xfrm rot="16200000" flipV="1">
            <a:off x="7398515" y="802924"/>
            <a:ext cx="2221384" cy="48827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72575" y="3657600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String&gt;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5747" y="3657600"/>
            <a:ext cx="204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Integer&gt;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72648" y="3657600"/>
            <a:ext cx="2189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OrderDetail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Long&gt;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2643" y="3657600"/>
            <a:ext cx="1585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Long&gt;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0597" y="3657600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Account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String&gt;</a:t>
            </a:r>
          </a:p>
        </p:txBody>
      </p:sp>
    </p:spTree>
    <p:extLst>
      <p:ext uri="{BB962C8B-B14F-4D97-AF65-F5344CB8AC3E}">
        <p14:creationId xmlns:p14="http://schemas.microsoft.com/office/powerpoint/2010/main" val="110041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/>
          <p:cNvSpPr/>
          <p:nvPr/>
        </p:nvSpPr>
        <p:spPr>
          <a:xfrm>
            <a:off x="609600" y="990600"/>
            <a:ext cx="10972800" cy="4572000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WebShop</a:t>
            </a:r>
            <a:r>
              <a:rPr lang="en-US" dirty="0" smtClean="0"/>
              <a:t> DAO </a:t>
            </a:r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10972800" cy="3429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public interface </a:t>
            </a:r>
            <a:r>
              <a:rPr lang="en-US" b="1" dirty="0" err="1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Category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DAO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 extends 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JpaRepository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Category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String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&gt;{}</a:t>
            </a:r>
          </a:p>
          <a:p>
            <a:pPr marL="0" indent="0">
              <a:buNone/>
            </a:pPr>
            <a:endParaRPr lang="en-US" sz="800" dirty="0">
              <a:latin typeface="Barlow Condensed Thin" panose="00000306000000000000" pitchFamily="2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public interface </a:t>
            </a:r>
            <a:r>
              <a:rPr lang="en-US" b="1" dirty="0" err="1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Product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DAO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 extends 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JpaRepository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Product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Integer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&gt;{}</a:t>
            </a:r>
          </a:p>
          <a:p>
            <a:pPr marL="0" indent="0">
              <a:buNone/>
            </a:pPr>
            <a:endParaRPr lang="en-US" sz="800" dirty="0">
              <a:latin typeface="Barlow Condensed Thin" panose="00000306000000000000" pitchFamily="2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public interface </a:t>
            </a:r>
            <a:r>
              <a:rPr lang="en-US" b="1" dirty="0" err="1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Account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DAO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 extends 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JpaRepository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Account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,</a:t>
            </a:r>
            <a:r>
              <a:rPr lang="en-US" b="1" dirty="0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String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&gt;{}</a:t>
            </a:r>
          </a:p>
          <a:p>
            <a:pPr marL="0" indent="0">
              <a:buNone/>
            </a:pPr>
            <a:endParaRPr lang="en-US" sz="800" dirty="0">
              <a:latin typeface="Barlow Condensed Thin" panose="00000306000000000000" pitchFamily="2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public interface </a:t>
            </a:r>
            <a:r>
              <a:rPr lang="en-US" b="1" dirty="0" err="1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Order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DAO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 extends 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JpaRepository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Order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Long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&gt;{}</a:t>
            </a:r>
          </a:p>
          <a:p>
            <a:pPr marL="0" indent="0">
              <a:buNone/>
            </a:pPr>
            <a:endParaRPr lang="en-US" sz="800" dirty="0">
              <a:latin typeface="Barlow Condensed Thin" panose="00000306000000000000" pitchFamily="2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public interface </a:t>
            </a:r>
            <a:r>
              <a:rPr lang="en-US" b="1" dirty="0" err="1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OrderDetail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DAO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 extends </a:t>
            </a:r>
            <a:r>
              <a:rPr lang="en-US" dirty="0" err="1">
                <a:latin typeface="Barlow Condensed Thin" panose="00000306000000000000" pitchFamily="2" charset="0"/>
                <a:cs typeface="Calibri Light" panose="020F0302020204030204" pitchFamily="34" charset="0"/>
              </a:rPr>
              <a:t>JpaRepository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&lt;</a:t>
            </a:r>
            <a:r>
              <a:rPr lang="en-US" b="1" dirty="0" err="1">
                <a:solidFill>
                  <a:srgbClr val="0000FF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OrderDetail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, </a:t>
            </a:r>
            <a:r>
              <a:rPr lang="en-US" b="1" dirty="0">
                <a:solidFill>
                  <a:srgbClr val="FF0000"/>
                </a:solidFill>
                <a:latin typeface="Barlow Condensed Thin" panose="00000306000000000000" pitchFamily="2" charset="0"/>
                <a:cs typeface="Calibri Light" panose="020F0302020204030204" pitchFamily="34" charset="0"/>
              </a:rPr>
              <a:t>Long</a:t>
            </a:r>
            <a:r>
              <a:rPr lang="en-US" dirty="0">
                <a:latin typeface="Barlow Condensed Thin" panose="00000306000000000000" pitchFamily="2" charset="0"/>
                <a:cs typeface="Calibri Light" panose="020F0302020204030204" pitchFamily="34" charset="0"/>
              </a:rPr>
              <a:t>&gt;{}</a:t>
            </a:r>
          </a:p>
          <a:p>
            <a:endParaRPr lang="en-US" dirty="0">
              <a:latin typeface="Barlow Condensed Thin" panose="000003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32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Building CRUD Application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344020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CRUD Application Prototype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990600"/>
            <a:ext cx="10209981" cy="5791200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10819580" y="1066800"/>
            <a:ext cx="762820" cy="2057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FORM</a:t>
            </a:r>
            <a:endParaRPr lang="en-US" dirty="0"/>
          </a:p>
        </p:txBody>
      </p:sp>
      <p:sp>
        <p:nvSpPr>
          <p:cNvPr id="6" name="Right Brace 5"/>
          <p:cNvSpPr/>
          <p:nvPr/>
        </p:nvSpPr>
        <p:spPr>
          <a:xfrm>
            <a:off x="10819580" y="3200400"/>
            <a:ext cx="762820" cy="3505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591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/>
          <p:cNvSpPr/>
          <p:nvPr/>
        </p:nvSpPr>
        <p:spPr>
          <a:xfrm>
            <a:off x="609600" y="2102941"/>
            <a:ext cx="5029200" cy="460265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Request Handling</a:t>
            </a:r>
            <a:endParaRPr lang="en-US" dirty="0"/>
          </a:p>
        </p:txBody>
      </p:sp>
      <p:sp>
        <p:nvSpPr>
          <p:cNvPr id="4" name="Flowchart: Internal Storage 3"/>
          <p:cNvSpPr/>
          <p:nvPr/>
        </p:nvSpPr>
        <p:spPr>
          <a:xfrm>
            <a:off x="7162800" y="1600201"/>
            <a:ext cx="4419600" cy="4419600"/>
          </a:xfrm>
          <a:prstGeom prst="flowChartInternalStorag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762001" y="2350533"/>
            <a:ext cx="13716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Create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762001" y="3121284"/>
            <a:ext cx="13716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Update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279" y="3892035"/>
            <a:ext cx="137132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Edit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1" y="4574918"/>
            <a:ext cx="13716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Delete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1" y="5257801"/>
            <a:ext cx="13716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Reset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09801" y="2394467"/>
            <a:ext cx="320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th:formaction</a:t>
            </a:r>
            <a:r>
              <a:rPr lang="en-US" dirty="0" smtClean="0"/>
              <a:t>: @{/crud/create}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09800" y="3165218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h:formaction</a:t>
            </a:r>
            <a:r>
              <a:rPr lang="en-US" dirty="0" smtClean="0"/>
              <a:t>: @{/crud/update}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09800" y="3892035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@{|</a:t>
            </a:r>
            <a:r>
              <a:rPr lang="en-US" dirty="0"/>
              <a:t>/crud/edit/${id}</a:t>
            </a:r>
            <a:r>
              <a:rPr lang="en-US" dirty="0" smtClean="0"/>
              <a:t>|}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209800" y="4576525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@{|</a:t>
            </a:r>
            <a:r>
              <a:rPr lang="en-US" dirty="0"/>
              <a:t>/</a:t>
            </a:r>
            <a:r>
              <a:rPr lang="en-US" dirty="0" smtClean="0"/>
              <a:t>crud/delete/${</a:t>
            </a:r>
            <a:r>
              <a:rPr lang="en-US" dirty="0"/>
              <a:t>id}</a:t>
            </a:r>
            <a:r>
              <a:rPr lang="en-US" dirty="0" smtClean="0"/>
              <a:t>|}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09800" y="5257801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@{/crud/index}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0746" y="5211938"/>
            <a:ext cx="2590800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@/</a:t>
            </a:r>
            <a:r>
              <a:rPr lang="en-US" sz="2400" dirty="0" smtClean="0"/>
              <a:t>crud/index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7828417" y="3845868"/>
            <a:ext cx="3144383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@/crud/edit/{id</a:t>
            </a:r>
            <a:r>
              <a:rPr lang="en-US" sz="2400" dirty="0" smtClean="0"/>
              <a:t>}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828417" y="2346068"/>
            <a:ext cx="2743200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@/</a:t>
            </a:r>
            <a:r>
              <a:rPr lang="en-US" sz="2400" dirty="0" smtClean="0"/>
              <a:t>crud/create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7828417" y="3119051"/>
            <a:ext cx="2900681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/>
              <a:t>@/</a:t>
            </a:r>
            <a:r>
              <a:rPr lang="en-US" sz="2400" dirty="0" smtClean="0"/>
              <a:t>crud/update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7823337" y="4528751"/>
            <a:ext cx="258820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US" sz="2400" dirty="0"/>
              <a:t>@/crud/delete/{id}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609600" y="1645643"/>
            <a:ext cx="1905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c</a:t>
            </a:r>
            <a:r>
              <a:rPr lang="en-US" sz="2400" dirty="0" smtClean="0">
                <a:solidFill>
                  <a:schemeClr val="bg1"/>
                </a:solidFill>
              </a:rPr>
              <a:t>rud.html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62800" y="1136764"/>
            <a:ext cx="2133600" cy="461665"/>
          </a:xfrm>
          <a:prstGeom prst="rect">
            <a:avLst/>
          </a:prstGeom>
          <a:solidFill>
            <a:srgbClr val="0070C0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CrudController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/>
          <p:cNvCxnSpPr>
            <a:stCxn id="10" idx="3"/>
            <a:endCxn id="18" idx="1"/>
          </p:cNvCxnSpPr>
          <p:nvPr/>
        </p:nvCxnSpPr>
        <p:spPr>
          <a:xfrm flipV="1">
            <a:off x="5410200" y="2576901"/>
            <a:ext cx="2418217" cy="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1" idx="3"/>
            <a:endCxn id="19" idx="1"/>
          </p:cNvCxnSpPr>
          <p:nvPr/>
        </p:nvCxnSpPr>
        <p:spPr>
          <a:xfrm>
            <a:off x="5410200" y="3349884"/>
            <a:ext cx="24182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2" idx="3"/>
            <a:endCxn id="17" idx="1"/>
          </p:cNvCxnSpPr>
          <p:nvPr/>
        </p:nvCxnSpPr>
        <p:spPr>
          <a:xfrm>
            <a:off x="5410200" y="4076701"/>
            <a:ext cx="24182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3"/>
            <a:endCxn id="20" idx="1"/>
          </p:cNvCxnSpPr>
          <p:nvPr/>
        </p:nvCxnSpPr>
        <p:spPr>
          <a:xfrm flipV="1">
            <a:off x="5410200" y="4759584"/>
            <a:ext cx="2413137" cy="1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" idx="3"/>
            <a:endCxn id="16" idx="1"/>
          </p:cNvCxnSpPr>
          <p:nvPr/>
        </p:nvCxnSpPr>
        <p:spPr>
          <a:xfrm>
            <a:off x="5410200" y="5442467"/>
            <a:ext cx="2410546" cy="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119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CRUD Application Architecture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71801" y="24384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CrudController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10201" y="24384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err="1" smtClean="0"/>
              <a:t>CategoryService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48601" y="24384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err="1" smtClean="0"/>
              <a:t>CategoryDAO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71801" y="56388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crud.html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10201" y="10668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CategoryServiceImpl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287000" y="1066800"/>
            <a:ext cx="1295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Category</a:t>
            </a:r>
            <a:endParaRPr lang="en-US" dirty="0"/>
          </a:p>
        </p:txBody>
      </p:sp>
      <p:sp>
        <p:nvSpPr>
          <p:cNvPr id="10" name="Flowchart: Magnetic Disk 9"/>
          <p:cNvSpPr/>
          <p:nvPr/>
        </p:nvSpPr>
        <p:spPr>
          <a:xfrm>
            <a:off x="10287000" y="2438400"/>
            <a:ext cx="1295400" cy="9144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Categories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8" idx="2"/>
            <a:endCxn id="5" idx="0"/>
          </p:cNvCxnSpPr>
          <p:nvPr/>
        </p:nvCxnSpPr>
        <p:spPr>
          <a:xfrm>
            <a:off x="6515101" y="1981200"/>
            <a:ext cx="0" cy="4572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848601" y="1066800"/>
            <a:ext cx="2209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err="1" smtClean="0"/>
              <a:t>JpaRepository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6" idx="0"/>
            <a:endCxn id="26" idx="2"/>
          </p:cNvCxnSpPr>
          <p:nvPr/>
        </p:nvCxnSpPr>
        <p:spPr>
          <a:xfrm flipV="1">
            <a:off x="8953501" y="1981200"/>
            <a:ext cx="0" cy="45720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2"/>
            <a:endCxn id="7" idx="0"/>
          </p:cNvCxnSpPr>
          <p:nvPr/>
        </p:nvCxnSpPr>
        <p:spPr>
          <a:xfrm>
            <a:off x="4076701" y="3352800"/>
            <a:ext cx="0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Direct Access Storage 30"/>
          <p:cNvSpPr/>
          <p:nvPr/>
        </p:nvSpPr>
        <p:spPr>
          <a:xfrm>
            <a:off x="5486401" y="4229100"/>
            <a:ext cx="1752600" cy="533400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cxnSp>
        <p:nvCxnSpPr>
          <p:cNvPr id="33" name="Straight Arrow Connector 32"/>
          <p:cNvCxnSpPr>
            <a:stCxn id="4" idx="2"/>
            <a:endCxn id="31" idx="1"/>
          </p:cNvCxnSpPr>
          <p:nvPr/>
        </p:nvCxnSpPr>
        <p:spPr>
          <a:xfrm>
            <a:off x="4076701" y="3352800"/>
            <a:ext cx="14097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0"/>
            <a:endCxn id="31" idx="1"/>
          </p:cNvCxnSpPr>
          <p:nvPr/>
        </p:nvCxnSpPr>
        <p:spPr>
          <a:xfrm flipV="1">
            <a:off x="4076701" y="4495800"/>
            <a:ext cx="14097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84198" y="4038600"/>
            <a:ext cx="16510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</a:t>
            </a:r>
            <a:endParaRPr lang="en-US" dirty="0"/>
          </a:p>
        </p:txBody>
      </p:sp>
      <p:cxnSp>
        <p:nvCxnSpPr>
          <p:cNvPr id="42" name="Elbow Connector 41"/>
          <p:cNvCxnSpPr>
            <a:stCxn id="40" idx="0"/>
            <a:endCxn id="4" idx="1"/>
          </p:cNvCxnSpPr>
          <p:nvPr/>
        </p:nvCxnSpPr>
        <p:spPr>
          <a:xfrm rot="5400000" flipH="1" flipV="1">
            <a:off x="1619250" y="2686050"/>
            <a:ext cx="1143000" cy="15621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7" idx="1"/>
            <a:endCxn id="40" idx="2"/>
          </p:cNvCxnSpPr>
          <p:nvPr/>
        </p:nvCxnSpPr>
        <p:spPr>
          <a:xfrm rot="10800000">
            <a:off x="1409701" y="4953000"/>
            <a:ext cx="1562101" cy="1143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" idx="3"/>
            <a:endCxn id="5" idx="1"/>
          </p:cNvCxnSpPr>
          <p:nvPr/>
        </p:nvCxnSpPr>
        <p:spPr>
          <a:xfrm>
            <a:off x="5181601" y="28956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5" idx="3"/>
            <a:endCxn id="6" idx="1"/>
          </p:cNvCxnSpPr>
          <p:nvPr/>
        </p:nvCxnSpPr>
        <p:spPr>
          <a:xfrm>
            <a:off x="7620001" y="28956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6" idx="3"/>
            <a:endCxn id="10" idx="2"/>
          </p:cNvCxnSpPr>
          <p:nvPr/>
        </p:nvCxnSpPr>
        <p:spPr>
          <a:xfrm>
            <a:off x="10058401" y="2895600"/>
            <a:ext cx="228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2"/>
            <a:endCxn id="10" idx="1"/>
          </p:cNvCxnSpPr>
          <p:nvPr/>
        </p:nvCxnSpPr>
        <p:spPr>
          <a:xfrm>
            <a:off x="10934700" y="19812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648201" y="3531326"/>
            <a:ext cx="2333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addAttribute</a:t>
            </a:r>
            <a:r>
              <a:rPr lang="en-US" dirty="0" smtClean="0"/>
              <a:t>(category)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4648200" y="5143500"/>
            <a:ext cx="125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${category}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 rot="5400000">
            <a:off x="3455712" y="4311134"/>
            <a:ext cx="925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forward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324544" y="2523727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324544" y="6112748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6515101" y="2025134"/>
            <a:ext cx="1208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implement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8974958" y="2023375"/>
            <a:ext cx="830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extend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0930404" y="202513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8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Check List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53034"/>
              </p:ext>
            </p:extLst>
          </p:nvPr>
        </p:nvGraphicFramePr>
        <p:xfrm>
          <a:off x="609600" y="99060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2514600"/>
                <a:gridCol w="51054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Categories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Class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CategoryDAO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CategoryService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CategoryServiceImpl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@Service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CrudController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 Class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Symbol" panose="05050102010706020507" pitchFamily="18" charset="2"/>
                        <a:buChar char="Å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crud.html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Symbol" panose="05050102010706020507" pitchFamily="18" charset="2"/>
                        <a:buChar char="Å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42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CrudController</a:t>
            </a:r>
            <a:r>
              <a:rPr lang="en-US" dirty="0" smtClean="0"/>
              <a:t> Structure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990601"/>
            <a:ext cx="9753600" cy="572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99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CrudController</a:t>
            </a:r>
            <a:r>
              <a:rPr lang="en-US" dirty="0" smtClean="0"/>
              <a:t> Methods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8487960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63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CrudController</a:t>
            </a:r>
            <a:r>
              <a:rPr lang="en-US" dirty="0" smtClean="0"/>
              <a:t> Methods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9829800" cy="579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887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product.html - Form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9296400" cy="577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40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product.html - Table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599"/>
            <a:ext cx="10896600" cy="57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2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6.2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trang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2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Sort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Pagination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009286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29000"/>
            <a:ext cx="10972800" cy="3276600"/>
          </a:xfrm>
        </p:spPr>
        <p:txBody>
          <a:bodyPr/>
          <a:lstStyle/>
          <a:p>
            <a:r>
              <a:rPr lang="en-US" dirty="0"/>
              <a:t>Direction</a:t>
            </a:r>
          </a:p>
          <a:p>
            <a:pPr lvl="1"/>
            <a:r>
              <a:rPr lang="en-US" dirty="0" err="1"/>
              <a:t>Direction.ASC</a:t>
            </a:r>
            <a:endParaRPr lang="en-US" dirty="0"/>
          </a:p>
          <a:p>
            <a:pPr lvl="1"/>
            <a:r>
              <a:rPr lang="en-US" dirty="0" err="1"/>
              <a:t>Direction.DESC</a:t>
            </a:r>
            <a:endParaRPr lang="en-US" dirty="0"/>
          </a:p>
          <a:p>
            <a:r>
              <a:rPr lang="en-US" dirty="0"/>
              <a:t>Sort</a:t>
            </a:r>
          </a:p>
          <a:p>
            <a:pPr lvl="1"/>
            <a:r>
              <a:rPr lang="en-US" dirty="0"/>
              <a:t>Sort.by(String…properties)</a:t>
            </a:r>
          </a:p>
          <a:p>
            <a:pPr lvl="1"/>
            <a:r>
              <a:rPr lang="en-US" dirty="0"/>
              <a:t>Sort.by(Direction </a:t>
            </a:r>
            <a:r>
              <a:rPr lang="en-US" dirty="0" err="1"/>
              <a:t>direction</a:t>
            </a:r>
            <a:r>
              <a:rPr lang="en-US" dirty="0"/>
              <a:t>, String…properties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95400"/>
            <a:ext cx="6325483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8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8545118" cy="515374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6131" y="1676400"/>
            <a:ext cx="3352800" cy="320040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sz="1800" dirty="0" err="1" smtClean="0"/>
              <a:t>Pageable</a:t>
            </a:r>
            <a:endParaRPr lang="en-US" sz="1800" dirty="0" smtClean="0"/>
          </a:p>
          <a:p>
            <a:r>
              <a:rPr lang="en-US" sz="1800" dirty="0" err="1" smtClean="0"/>
              <a:t>PageRequest</a:t>
            </a:r>
            <a:endParaRPr lang="en-US" sz="1800" dirty="0" smtClean="0"/>
          </a:p>
          <a:p>
            <a:pPr lvl="1"/>
            <a:r>
              <a:rPr lang="en-US" sz="1600" dirty="0" err="1" smtClean="0"/>
              <a:t>PageRequest.of</a:t>
            </a:r>
            <a:r>
              <a:rPr lang="en-US" sz="1600" dirty="0" smtClean="0"/>
              <a:t>()</a:t>
            </a:r>
          </a:p>
          <a:p>
            <a:r>
              <a:rPr lang="en-US" sz="1800" dirty="0" smtClean="0"/>
              <a:t>Page</a:t>
            </a:r>
          </a:p>
          <a:p>
            <a:pPr lvl="1"/>
            <a:r>
              <a:rPr lang="en-US" sz="1600" dirty="0" err="1" smtClean="0"/>
              <a:t>getContent</a:t>
            </a:r>
            <a:r>
              <a:rPr lang="en-US" sz="1600" dirty="0" smtClean="0"/>
              <a:t>()</a:t>
            </a:r>
          </a:p>
          <a:p>
            <a:pPr lvl="1"/>
            <a:r>
              <a:rPr lang="en-US" sz="1600" dirty="0" err="1" smtClean="0"/>
              <a:t>getNumber</a:t>
            </a:r>
            <a:r>
              <a:rPr lang="en-US" sz="1600" dirty="0" smtClean="0"/>
              <a:t>()</a:t>
            </a:r>
          </a:p>
          <a:p>
            <a:pPr lvl="1"/>
            <a:r>
              <a:rPr lang="en-US" sz="1600" dirty="0" err="1" smtClean="0"/>
              <a:t>getSize</a:t>
            </a:r>
            <a:r>
              <a:rPr lang="en-US" sz="1600" dirty="0" smtClean="0"/>
              <a:t>()</a:t>
            </a:r>
          </a:p>
          <a:p>
            <a:pPr lvl="1"/>
            <a:r>
              <a:rPr lang="en-US" sz="1600" dirty="0" err="1" smtClean="0"/>
              <a:t>getNumberOfElements</a:t>
            </a:r>
            <a:r>
              <a:rPr lang="en-US" sz="1600" dirty="0" smtClean="0"/>
              <a:t>()</a:t>
            </a:r>
          </a:p>
          <a:p>
            <a:pPr lvl="1"/>
            <a:r>
              <a:rPr lang="en-US" sz="1600" dirty="0" err="1" smtClean="0"/>
              <a:t>getTotalElements</a:t>
            </a:r>
            <a:r>
              <a:rPr lang="en-US" sz="1600" dirty="0" smtClean="0"/>
              <a:t>()</a:t>
            </a:r>
          </a:p>
          <a:p>
            <a:pPr lvl="1"/>
            <a:r>
              <a:rPr lang="en-US" sz="1600" dirty="0" err="1" smtClean="0"/>
              <a:t>getTotalPages</a:t>
            </a:r>
            <a:r>
              <a:rPr lang="en-US" sz="1600" dirty="0" smtClean="0"/>
              <a:t>()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73829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Pageable</a:t>
            </a:r>
            <a:r>
              <a:rPr lang="en-US" dirty="0" smtClean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trang</a:t>
            </a:r>
            <a:endParaRPr lang="en-US" dirty="0" smtClean="0"/>
          </a:p>
          <a:p>
            <a:pPr lvl="1"/>
            <a:r>
              <a:rPr lang="en-US" dirty="0" err="1"/>
              <a:t>Pageable.ofSize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pageSize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Pageable.unpaged</a:t>
            </a:r>
            <a:r>
              <a:rPr lang="en-US" dirty="0"/>
              <a:t>()</a:t>
            </a:r>
          </a:p>
          <a:p>
            <a:r>
              <a:rPr lang="en-US" dirty="0" err="1" smtClean="0"/>
              <a:t>PageRequest</a:t>
            </a:r>
            <a:r>
              <a:rPr lang="en-US" dirty="0" smtClean="0"/>
              <a:t>: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tiện</a:t>
            </a:r>
            <a:r>
              <a:rPr lang="en-US" dirty="0" smtClean="0"/>
              <a:t> </a:t>
            </a:r>
            <a:r>
              <a:rPr lang="en-US" dirty="0" err="1" smtClean="0"/>
              <a:t>ích</a:t>
            </a:r>
            <a:r>
              <a:rPr lang="en-US" dirty="0" smtClean="0"/>
              <a:t> </a:t>
            </a:r>
            <a:r>
              <a:rPr lang="en-US" dirty="0" err="1" smtClean="0"/>
              <a:t>hỗ</a:t>
            </a:r>
            <a:r>
              <a:rPr lang="en-US" dirty="0" smtClean="0"/>
              <a:t> </a:t>
            </a:r>
            <a:r>
              <a:rPr lang="en-US" dirty="0" err="1" smtClean="0"/>
              <a:t>trợ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Pageable</a:t>
            </a:r>
            <a:endParaRPr lang="en-US" dirty="0" smtClean="0"/>
          </a:p>
          <a:p>
            <a:pPr lvl="1"/>
            <a:r>
              <a:rPr lang="en-US" dirty="0" err="1" smtClean="0"/>
              <a:t>PageRequest.of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number, </a:t>
            </a:r>
            <a:r>
              <a:rPr lang="en-US" dirty="0" err="1" smtClean="0"/>
              <a:t>int</a:t>
            </a:r>
            <a:r>
              <a:rPr lang="en-US" dirty="0" smtClean="0"/>
              <a:t> size)</a:t>
            </a:r>
          </a:p>
          <a:p>
            <a:pPr lvl="1"/>
            <a:r>
              <a:rPr lang="en-US" dirty="0" err="1" smtClean="0"/>
              <a:t>PageRequest.of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number, </a:t>
            </a:r>
            <a:r>
              <a:rPr lang="en-US" dirty="0" err="1" smtClean="0"/>
              <a:t>int</a:t>
            </a:r>
            <a:r>
              <a:rPr lang="en-US" dirty="0" smtClean="0"/>
              <a:t> size, Sort sort)</a:t>
            </a:r>
          </a:p>
          <a:p>
            <a:pPr lvl="1"/>
            <a:r>
              <a:rPr lang="en-US" dirty="0" err="1" smtClean="0"/>
              <a:t>PageRequest.of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number, </a:t>
            </a:r>
            <a:r>
              <a:rPr lang="en-US" dirty="0" err="1" smtClean="0"/>
              <a:t>int</a:t>
            </a:r>
            <a:r>
              <a:rPr lang="en-US" dirty="0" smtClean="0"/>
              <a:t> size, Direction </a:t>
            </a:r>
            <a:r>
              <a:rPr lang="en-US" dirty="0" err="1" smtClean="0"/>
              <a:t>direction</a:t>
            </a:r>
            <a:r>
              <a:rPr lang="en-US" dirty="0" smtClean="0"/>
              <a:t>, String…properties)</a:t>
            </a:r>
          </a:p>
        </p:txBody>
      </p:sp>
    </p:spTree>
    <p:extLst>
      <p:ext uri="{BB962C8B-B14F-4D97-AF65-F5344CB8AC3E}">
        <p14:creationId xmlns:p14="http://schemas.microsoft.com/office/powerpoint/2010/main" val="107981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Page&lt;T&gt; API –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5029200" cy="5759003"/>
          </a:xfrm>
        </p:spPr>
        <p:txBody>
          <a:bodyPr>
            <a:normAutofit/>
          </a:bodyPr>
          <a:lstStyle/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trang</a:t>
            </a:r>
            <a:endParaRPr lang="en-US" dirty="0" smtClean="0"/>
          </a:p>
          <a:p>
            <a:pPr lvl="1"/>
            <a:r>
              <a:rPr lang="en-US" dirty="0" err="1" smtClean="0"/>
              <a:t>getContent</a:t>
            </a:r>
            <a:r>
              <a:rPr lang="en-US" dirty="0" smtClean="0"/>
              <a:t>(): List&lt;T&gt;</a:t>
            </a:r>
          </a:p>
          <a:p>
            <a:pPr lvl="1"/>
            <a:r>
              <a:rPr lang="en-US" dirty="0" err="1" smtClean="0"/>
              <a:t>toList</a:t>
            </a:r>
            <a:r>
              <a:rPr lang="en-US" dirty="0" smtClean="0"/>
              <a:t>(): List&lt;T&gt;</a:t>
            </a:r>
          </a:p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endParaRPr lang="en-US" dirty="0" smtClean="0"/>
          </a:p>
          <a:p>
            <a:pPr lvl="1"/>
            <a:r>
              <a:rPr lang="en-US" dirty="0" err="1" smtClean="0"/>
              <a:t>getNumber</a:t>
            </a:r>
            <a:r>
              <a:rPr lang="en-US" dirty="0" smtClean="0"/>
              <a:t>():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1"/>
            <a:r>
              <a:rPr lang="en-US" dirty="0" err="1" smtClean="0"/>
              <a:t>getSize</a:t>
            </a:r>
            <a:r>
              <a:rPr lang="en-US" dirty="0" smtClean="0"/>
              <a:t>():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1"/>
            <a:r>
              <a:rPr lang="en-US" dirty="0" err="1" smtClean="0"/>
              <a:t>getTotalPages</a:t>
            </a:r>
            <a:r>
              <a:rPr lang="en-US" dirty="0" smtClean="0"/>
              <a:t>():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1"/>
            <a:r>
              <a:rPr lang="en-US" dirty="0" err="1" smtClean="0"/>
              <a:t>getNumberOfElements</a:t>
            </a:r>
            <a:r>
              <a:rPr lang="en-US" dirty="0" smtClean="0"/>
              <a:t>():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1"/>
            <a:r>
              <a:rPr lang="en-US" dirty="0" err="1" smtClean="0"/>
              <a:t>getTotalElements</a:t>
            </a:r>
            <a:r>
              <a:rPr lang="en-US" dirty="0" smtClean="0"/>
              <a:t>(): </a:t>
            </a:r>
            <a:r>
              <a:rPr lang="en-US" dirty="0" err="1" smtClean="0"/>
              <a:t>int</a:t>
            </a:r>
            <a:endParaRPr lang="en-US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638800" y="946596"/>
            <a:ext cx="5943600" cy="57590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endParaRPr lang="en-US" dirty="0" smtClean="0"/>
          </a:p>
          <a:p>
            <a:pPr lvl="1"/>
            <a:r>
              <a:rPr lang="en-US" dirty="0" err="1" smtClean="0"/>
              <a:t>isEmpty</a:t>
            </a:r>
            <a:r>
              <a:rPr lang="en-US" dirty="0" smtClean="0"/>
              <a:t>() : </a:t>
            </a:r>
            <a:r>
              <a:rPr lang="en-US" dirty="0" err="1" smtClean="0"/>
              <a:t>boolean</a:t>
            </a:r>
            <a:endParaRPr lang="en-US" dirty="0" smtClean="0"/>
          </a:p>
          <a:p>
            <a:pPr lvl="1"/>
            <a:r>
              <a:rPr lang="en-US" dirty="0" err="1" smtClean="0"/>
              <a:t>isFirst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boolean</a:t>
            </a:r>
            <a:endParaRPr lang="en-US" dirty="0" smtClean="0"/>
          </a:p>
          <a:p>
            <a:pPr lvl="1"/>
            <a:r>
              <a:rPr lang="en-US" dirty="0" err="1" smtClean="0"/>
              <a:t>isLast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boolean</a:t>
            </a:r>
            <a:endParaRPr lang="en-US" dirty="0" smtClean="0"/>
          </a:p>
          <a:p>
            <a:pPr lvl="1"/>
            <a:r>
              <a:rPr lang="en-US" dirty="0" err="1" smtClean="0"/>
              <a:t>hasContent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boolean</a:t>
            </a:r>
            <a:endParaRPr lang="en-US" dirty="0" smtClean="0"/>
          </a:p>
          <a:p>
            <a:pPr lvl="1"/>
            <a:r>
              <a:rPr lang="en-US" dirty="0" err="1" smtClean="0"/>
              <a:t>hasNext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boolean</a:t>
            </a:r>
            <a:endParaRPr lang="en-US" dirty="0" smtClean="0"/>
          </a:p>
          <a:p>
            <a:pPr lvl="1"/>
            <a:r>
              <a:rPr lang="en-US" dirty="0" err="1" smtClean="0"/>
              <a:t>hasPrevious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boolean</a:t>
            </a:r>
            <a:endParaRPr lang="en-US" dirty="0" smtClean="0"/>
          </a:p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endParaRPr lang="en-US" dirty="0" smtClean="0"/>
          </a:p>
          <a:p>
            <a:pPr lvl="1"/>
            <a:r>
              <a:rPr lang="en-US" dirty="0" err="1" smtClean="0"/>
              <a:t>getPageable</a:t>
            </a:r>
            <a:r>
              <a:rPr lang="en-US" dirty="0" smtClean="0"/>
              <a:t>(): </a:t>
            </a:r>
            <a:r>
              <a:rPr lang="en-US" dirty="0" err="1"/>
              <a:t>Pageable</a:t>
            </a:r>
            <a:endParaRPr lang="en-US" dirty="0" smtClean="0"/>
          </a:p>
          <a:p>
            <a:pPr lvl="1"/>
            <a:r>
              <a:rPr lang="en-US" dirty="0" err="1" smtClean="0"/>
              <a:t>previousPageable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Pageable</a:t>
            </a:r>
            <a:endParaRPr lang="en-US" dirty="0" smtClean="0"/>
          </a:p>
          <a:p>
            <a:pPr lvl="1"/>
            <a:r>
              <a:rPr lang="en-US" dirty="0" err="1" smtClean="0"/>
              <a:t>previousOrFirstPageable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Pageable</a:t>
            </a:r>
            <a:endParaRPr lang="en-US" dirty="0" smtClean="0"/>
          </a:p>
          <a:p>
            <a:pPr lvl="1"/>
            <a:r>
              <a:rPr lang="en-US" dirty="0" err="1" smtClean="0"/>
              <a:t>nextPageable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Pageable</a:t>
            </a:r>
            <a:endParaRPr lang="en-US" dirty="0" smtClean="0"/>
          </a:p>
          <a:p>
            <a:pPr lvl="1"/>
            <a:r>
              <a:rPr lang="en-US" dirty="0" err="1" smtClean="0"/>
              <a:t>nextOrLastPageable</a:t>
            </a:r>
            <a:r>
              <a:rPr lang="en-US" dirty="0" smtClean="0"/>
              <a:t>()</a:t>
            </a:r>
            <a:r>
              <a:rPr lang="en-US" dirty="0"/>
              <a:t> : </a:t>
            </a:r>
            <a:r>
              <a:rPr lang="en-US" dirty="0" err="1"/>
              <a:t>Pageable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4676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Phân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trang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sản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phẩm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659724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Pagination Application Prototype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6863274" cy="5658408"/>
          </a:xfrm>
          <a:prstGeom prst="rect">
            <a:avLst/>
          </a:prstGeom>
        </p:spPr>
      </p:pic>
      <p:sp>
        <p:nvSpPr>
          <p:cNvPr id="10" name="Right Brace 9"/>
          <p:cNvSpPr/>
          <p:nvPr/>
        </p:nvSpPr>
        <p:spPr>
          <a:xfrm>
            <a:off x="7924800" y="1143000"/>
            <a:ext cx="609600" cy="2895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7924800" y="4191000"/>
            <a:ext cx="609600" cy="2381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564880" y="2390496"/>
            <a:ext cx="2790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Liệt</a:t>
            </a:r>
            <a:r>
              <a:rPr lang="en-US" dirty="0" smtClean="0"/>
              <a:t> </a:t>
            </a:r>
            <a:r>
              <a:rPr lang="en-US" dirty="0" err="1" smtClean="0"/>
              <a:t>kê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#</a:t>
            </a:r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564880" y="5181600"/>
            <a:ext cx="323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trang</a:t>
            </a:r>
            <a:r>
              <a:rPr lang="en-US" dirty="0" smtClean="0"/>
              <a:t> #</a:t>
            </a:r>
            <a:r>
              <a:rPr lang="en-US" dirty="0" err="1" smtClean="0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70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/>
          <p:cNvSpPr/>
          <p:nvPr/>
        </p:nvSpPr>
        <p:spPr>
          <a:xfrm>
            <a:off x="609600" y="2102941"/>
            <a:ext cx="5542417" cy="460265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Request Handling</a:t>
            </a:r>
            <a:endParaRPr lang="en-US" dirty="0"/>
          </a:p>
        </p:txBody>
      </p:sp>
      <p:sp>
        <p:nvSpPr>
          <p:cNvPr id="4" name="Flowchart: Internal Storage 3"/>
          <p:cNvSpPr/>
          <p:nvPr/>
        </p:nvSpPr>
        <p:spPr>
          <a:xfrm>
            <a:off x="7162800" y="1600201"/>
            <a:ext cx="4419600" cy="4419600"/>
          </a:xfrm>
          <a:prstGeom prst="flowChartInternalStorag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62279" y="3892035"/>
            <a:ext cx="76184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err="1" smtClean="0">
                <a:solidFill>
                  <a:srgbClr val="0000FF"/>
                </a:solidFill>
              </a:rPr>
              <a:t>Prev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1" y="4574918"/>
            <a:ext cx="76199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Next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1" y="5257801"/>
            <a:ext cx="76199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Last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3846" y="3892035"/>
            <a:ext cx="434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@{|/product/page/${number - 1}|}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523846" y="4576525"/>
            <a:ext cx="434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@{|/product/page/${number + 1}|}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23846" y="5257801"/>
            <a:ext cx="434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@{/product/page/{</a:t>
            </a:r>
            <a:r>
              <a:rPr lang="en-US" dirty="0" err="1" smtClean="0"/>
              <a:t>totalPages</a:t>
            </a:r>
            <a:r>
              <a:rPr lang="en-US" dirty="0" smtClean="0"/>
              <a:t> - 1}}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828417" y="2346068"/>
            <a:ext cx="3601583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@/product/page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7828417" y="4110335"/>
            <a:ext cx="3601583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 smtClean="0"/>
              <a:t>@/product/page/{number}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609600" y="1645643"/>
            <a:ext cx="1905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page.html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62800" y="1136764"/>
            <a:ext cx="2133600" cy="461665"/>
          </a:xfrm>
          <a:prstGeom prst="rect">
            <a:avLst/>
          </a:prstGeom>
          <a:solidFill>
            <a:srgbClr val="0070C0"/>
          </a:solidFill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PageController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24" name="Straight Arrow Connector 23"/>
          <p:cNvCxnSpPr>
            <a:stCxn id="29" idx="3"/>
            <a:endCxn id="18" idx="1"/>
          </p:cNvCxnSpPr>
          <p:nvPr/>
        </p:nvCxnSpPr>
        <p:spPr>
          <a:xfrm>
            <a:off x="5867400" y="2574726"/>
            <a:ext cx="1961017" cy="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33" idx="3"/>
            <a:endCxn id="19" idx="1"/>
          </p:cNvCxnSpPr>
          <p:nvPr/>
        </p:nvCxnSpPr>
        <p:spPr>
          <a:xfrm>
            <a:off x="5867122" y="3325713"/>
            <a:ext cx="1961295" cy="1015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2" idx="3"/>
            <a:endCxn id="19" idx="1"/>
          </p:cNvCxnSpPr>
          <p:nvPr/>
        </p:nvCxnSpPr>
        <p:spPr>
          <a:xfrm>
            <a:off x="5867400" y="4076701"/>
            <a:ext cx="1961017" cy="264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3"/>
            <a:endCxn id="19" idx="1"/>
          </p:cNvCxnSpPr>
          <p:nvPr/>
        </p:nvCxnSpPr>
        <p:spPr>
          <a:xfrm flipV="1">
            <a:off x="5867400" y="4341168"/>
            <a:ext cx="1961017" cy="420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" idx="3"/>
            <a:endCxn id="19" idx="1"/>
          </p:cNvCxnSpPr>
          <p:nvPr/>
        </p:nvCxnSpPr>
        <p:spPr>
          <a:xfrm flipV="1">
            <a:off x="5867400" y="4341168"/>
            <a:ext cx="1961017" cy="110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2279" y="2390060"/>
            <a:ext cx="76184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Open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3846" y="2390060"/>
            <a:ext cx="434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@{|/product/page|}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62001" y="3141047"/>
            <a:ext cx="76184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 smtClean="0">
                <a:solidFill>
                  <a:srgbClr val="0000FF"/>
                </a:solidFill>
              </a:rPr>
              <a:t>First</a:t>
            </a:r>
            <a:endParaRPr lang="en-US" u="sng" dirty="0">
              <a:solidFill>
                <a:srgbClr val="0000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23568" y="3141047"/>
            <a:ext cx="434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dirty="0" err="1" smtClean="0"/>
              <a:t>h:href</a:t>
            </a:r>
            <a:r>
              <a:rPr lang="en-US" dirty="0" smtClean="0"/>
              <a:t>: @{|/product/page/0|}</a:t>
            </a:r>
            <a:endParaRPr lang="en-US" dirty="0"/>
          </a:p>
        </p:txBody>
      </p:sp>
      <p:cxnSp>
        <p:nvCxnSpPr>
          <p:cNvPr id="52" name="Straight Arrow Connector 51"/>
          <p:cNvCxnSpPr>
            <a:stCxn id="18" idx="2"/>
            <a:endCxn id="19" idx="0"/>
          </p:cNvCxnSpPr>
          <p:nvPr/>
        </p:nvCxnSpPr>
        <p:spPr>
          <a:xfrm>
            <a:off x="9629209" y="2807733"/>
            <a:ext cx="0" cy="1302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338811" y="3184346"/>
            <a:ext cx="2580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orward:/product/page/0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5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Pagination Application Architecture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971801" y="2438400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PageController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410201" y="2438400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err="1" smtClean="0"/>
              <a:t>ProductService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48601" y="2438400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err="1" smtClean="0"/>
              <a:t>ProductDAO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71801" y="5638800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page.html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10201" y="1066800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ProductServiceImpl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0287000" y="1066800"/>
            <a:ext cx="1295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Product</a:t>
            </a:r>
            <a:endParaRPr lang="en-US" dirty="0"/>
          </a:p>
        </p:txBody>
      </p:sp>
      <p:sp>
        <p:nvSpPr>
          <p:cNvPr id="10" name="Flowchart: Magnetic Disk 9"/>
          <p:cNvSpPr/>
          <p:nvPr/>
        </p:nvSpPr>
        <p:spPr>
          <a:xfrm>
            <a:off x="10287000" y="2438400"/>
            <a:ext cx="1295400" cy="9144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Products</a:t>
            </a:r>
            <a:endParaRPr lang="en-US" dirty="0"/>
          </a:p>
        </p:txBody>
      </p:sp>
      <p:cxnSp>
        <p:nvCxnSpPr>
          <p:cNvPr id="22" name="Straight Arrow Connector 21"/>
          <p:cNvCxnSpPr>
            <a:stCxn id="8" idx="2"/>
            <a:endCxn id="5" idx="0"/>
          </p:cNvCxnSpPr>
          <p:nvPr/>
        </p:nvCxnSpPr>
        <p:spPr>
          <a:xfrm>
            <a:off x="6438901" y="1981200"/>
            <a:ext cx="0" cy="4572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848601" y="1066800"/>
            <a:ext cx="2057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&lt;&lt;interface&gt;&gt;</a:t>
            </a:r>
          </a:p>
          <a:p>
            <a:pPr algn="ctr"/>
            <a:r>
              <a:rPr lang="en-US" dirty="0" err="1" smtClean="0"/>
              <a:t>JpaRepository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6" idx="0"/>
            <a:endCxn id="26" idx="2"/>
          </p:cNvCxnSpPr>
          <p:nvPr/>
        </p:nvCxnSpPr>
        <p:spPr>
          <a:xfrm flipV="1">
            <a:off x="8877301" y="1981200"/>
            <a:ext cx="0" cy="45720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2"/>
            <a:endCxn id="7" idx="0"/>
          </p:cNvCxnSpPr>
          <p:nvPr/>
        </p:nvCxnSpPr>
        <p:spPr>
          <a:xfrm>
            <a:off x="4000501" y="3352800"/>
            <a:ext cx="0" cy="22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owchart: Direct Access Storage 30"/>
          <p:cNvSpPr/>
          <p:nvPr/>
        </p:nvSpPr>
        <p:spPr>
          <a:xfrm>
            <a:off x="5410201" y="4000500"/>
            <a:ext cx="1752600" cy="990600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cxnSp>
        <p:nvCxnSpPr>
          <p:cNvPr id="33" name="Straight Arrow Connector 32"/>
          <p:cNvCxnSpPr>
            <a:stCxn id="4" idx="2"/>
            <a:endCxn id="31" idx="1"/>
          </p:cNvCxnSpPr>
          <p:nvPr/>
        </p:nvCxnSpPr>
        <p:spPr>
          <a:xfrm>
            <a:off x="4000501" y="3352800"/>
            <a:ext cx="14097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7" idx="0"/>
            <a:endCxn id="31" idx="1"/>
          </p:cNvCxnSpPr>
          <p:nvPr/>
        </p:nvCxnSpPr>
        <p:spPr>
          <a:xfrm flipV="1">
            <a:off x="4000501" y="4495800"/>
            <a:ext cx="14097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84198" y="4038600"/>
            <a:ext cx="165100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</a:t>
            </a:r>
            <a:endParaRPr lang="en-US" dirty="0"/>
          </a:p>
        </p:txBody>
      </p:sp>
      <p:cxnSp>
        <p:nvCxnSpPr>
          <p:cNvPr id="42" name="Elbow Connector 41"/>
          <p:cNvCxnSpPr>
            <a:stCxn id="40" idx="0"/>
            <a:endCxn id="4" idx="1"/>
          </p:cNvCxnSpPr>
          <p:nvPr/>
        </p:nvCxnSpPr>
        <p:spPr>
          <a:xfrm rot="5400000" flipH="1" flipV="1">
            <a:off x="1619250" y="2686050"/>
            <a:ext cx="1143000" cy="15621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7" idx="1"/>
            <a:endCxn id="40" idx="2"/>
          </p:cNvCxnSpPr>
          <p:nvPr/>
        </p:nvCxnSpPr>
        <p:spPr>
          <a:xfrm rot="10800000">
            <a:off x="1409701" y="4953000"/>
            <a:ext cx="1562101" cy="1143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" idx="3"/>
            <a:endCxn id="5" idx="1"/>
          </p:cNvCxnSpPr>
          <p:nvPr/>
        </p:nvCxnSpPr>
        <p:spPr>
          <a:xfrm>
            <a:off x="5029201" y="28956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5" idx="3"/>
            <a:endCxn id="6" idx="1"/>
          </p:cNvCxnSpPr>
          <p:nvPr/>
        </p:nvCxnSpPr>
        <p:spPr>
          <a:xfrm>
            <a:off x="7467601" y="2895600"/>
            <a:ext cx="381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6" idx="3"/>
            <a:endCxn id="10" idx="2"/>
          </p:cNvCxnSpPr>
          <p:nvPr/>
        </p:nvCxnSpPr>
        <p:spPr>
          <a:xfrm>
            <a:off x="9906001" y="2895600"/>
            <a:ext cx="380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2"/>
            <a:endCxn id="10" idx="1"/>
          </p:cNvCxnSpPr>
          <p:nvPr/>
        </p:nvCxnSpPr>
        <p:spPr>
          <a:xfrm>
            <a:off x="10934700" y="19812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572001" y="3531326"/>
            <a:ext cx="1979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addAttribute</a:t>
            </a:r>
            <a:r>
              <a:rPr lang="en-US" dirty="0" smtClean="0"/>
              <a:t>(page)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4572000" y="5143500"/>
            <a:ext cx="900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${page}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 rot="5400000">
            <a:off x="3379512" y="4311134"/>
            <a:ext cx="925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forward</a:t>
            </a:r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1289862" y="2482334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</a:t>
            </a:r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1290311" y="6119614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619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 Check List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783479"/>
              </p:ext>
            </p:extLst>
          </p:nvPr>
        </p:nvGraphicFramePr>
        <p:xfrm>
          <a:off x="609600" y="990600"/>
          <a:ext cx="109728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2514600"/>
                <a:gridCol w="5105400"/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Class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kern="120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ProductDAO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Sẵn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sàng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ProductService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Symbol" panose="05050102010706020507" pitchFamily="18" charset="2"/>
                        <a:buChar char="Å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ProductServiceImpl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@Service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Symbol" panose="05050102010706020507" pitchFamily="18" charset="2"/>
                        <a:buChar char="Å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PageController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 Class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Symbol" panose="05050102010706020507" pitchFamily="18" charset="2"/>
                        <a:buChar char="Å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page.html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Symbol" panose="05050102010706020507" pitchFamily="18" charset="2"/>
                        <a:buChar char="Å"/>
                      </a:pPr>
                      <a:r>
                        <a:rPr lang="en-US" sz="24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Chưa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xây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67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ProductService</a:t>
            </a:r>
            <a:r>
              <a:rPr lang="en-US" dirty="0" smtClean="0"/>
              <a:t> &amp; </a:t>
            </a:r>
            <a:r>
              <a:rPr lang="en-US" dirty="0" err="1" smtClean="0"/>
              <a:t>ProductServiceImpl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554" y="1044859"/>
            <a:ext cx="9764488" cy="1219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590800"/>
            <a:ext cx="8106906" cy="399153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19200" y="1044859"/>
            <a:ext cx="9768842" cy="12193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219200" y="2590800"/>
            <a:ext cx="9768842" cy="399153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>
            <a:stCxn id="7" idx="0"/>
            <a:endCxn id="6" idx="2"/>
          </p:cNvCxnSpPr>
          <p:nvPr/>
        </p:nvCxnSpPr>
        <p:spPr>
          <a:xfrm flipV="1">
            <a:off x="6103621" y="2264229"/>
            <a:ext cx="0" cy="32657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372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PageController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098" y="946150"/>
            <a:ext cx="10377803" cy="57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15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roduct.html – </a:t>
            </a:r>
            <a:r>
              <a:rPr lang="en-US" dirty="0" err="1" smtClean="0"/>
              <a:t>Liệt</a:t>
            </a:r>
            <a:r>
              <a:rPr lang="en-US" dirty="0" smtClean="0"/>
              <a:t> </a:t>
            </a:r>
            <a:r>
              <a:rPr lang="en-US" dirty="0" err="1" smtClean="0"/>
              <a:t>kê</a:t>
            </a:r>
            <a:r>
              <a:rPr lang="en-US" dirty="0" smtClean="0"/>
              <a:t> </a:t>
            </a:r>
            <a:r>
              <a:rPr lang="en-US" dirty="0" err="1" smtClean="0"/>
              <a:t>sản</a:t>
            </a:r>
            <a:r>
              <a:rPr lang="en-US" dirty="0" smtClean="0"/>
              <a:t> </a:t>
            </a:r>
            <a:r>
              <a:rPr lang="en-US" dirty="0" err="1" smtClean="0"/>
              <a:t>phẩm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0600"/>
            <a:ext cx="10240804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009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roduct.html –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trang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946597"/>
            <a:ext cx="9592195" cy="575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5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585826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þ"/>
            </a:pPr>
            <a:r>
              <a:rPr lang="en-US" dirty="0" err="1"/>
              <a:t>JpaRepository</a:t>
            </a:r>
            <a:r>
              <a:rPr lang="en-US" dirty="0"/>
              <a:t> API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thiệu</a:t>
            </a:r>
            <a:r>
              <a:rPr lang="en-US" sz="2400" dirty="0"/>
              <a:t> CSDL </a:t>
            </a:r>
            <a:r>
              <a:rPr lang="en-US" sz="2400" dirty="0" err="1"/>
              <a:t>mẫu</a:t>
            </a:r>
            <a:r>
              <a:rPr lang="en-US" sz="2400" dirty="0"/>
              <a:t> J5Shop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endParaRPr lang="en-US" sz="2400" dirty="0"/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thừa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JpaRepository</a:t>
            </a:r>
            <a:r>
              <a:rPr lang="en-US" sz="2400" dirty="0"/>
              <a:t> 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DAO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J5Shop</a:t>
            </a:r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CRUD</a:t>
            </a:r>
          </a:p>
          <a:p>
            <a:pPr>
              <a:buFont typeface="Wingdings" pitchFamily="2" charset="2"/>
              <a:buChar char="þ"/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JpaRepository</a:t>
            </a:r>
            <a:endParaRPr lang="en-US" dirty="0"/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endParaRPr lang="en-US" sz="2400" dirty="0"/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endParaRPr lang="en-US" sz="2400" dirty="0"/>
          </a:p>
          <a:p>
            <a:pPr marL="742950" lvl="2" indent="-342900">
              <a:buFont typeface="Wingdings" pitchFamily="2" charset="2"/>
              <a:buChar char="þ"/>
            </a:pPr>
            <a:r>
              <a:rPr lang="en-US" sz="2400" dirty="0" err="1"/>
              <a:t>Sắp</a:t>
            </a:r>
            <a:r>
              <a:rPr lang="en-US" sz="2400" dirty="0"/>
              <a:t> </a:t>
            </a:r>
            <a:r>
              <a:rPr lang="en-US" sz="2400" dirty="0" err="1"/>
              <a:t>xếp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trang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15646</TotalTime>
  <Words>1141</Words>
  <Application>Microsoft Office PowerPoint</Application>
  <PresentationFormat>Widescreen</PresentationFormat>
  <Paragraphs>374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8" baseType="lpstr">
      <vt:lpstr>Arial</vt:lpstr>
      <vt:lpstr>Arial Narrow</vt:lpstr>
      <vt:lpstr>Barlow Condensed Thin</vt:lpstr>
      <vt:lpstr>Calibri</vt:lpstr>
      <vt:lpstr>Calibri Light</vt:lpstr>
      <vt:lpstr>Cambria</vt:lpstr>
      <vt:lpstr>Courier New</vt:lpstr>
      <vt:lpstr>Roboto</vt:lpstr>
      <vt:lpstr>Roboto Lt</vt:lpstr>
      <vt:lpstr>Segoe UI</vt:lpstr>
      <vt:lpstr>Symbol</vt:lpstr>
      <vt:lpstr>Times New Roman</vt:lpstr>
      <vt:lpstr>Wingdings</vt:lpstr>
      <vt:lpstr>Custom Design</vt:lpstr>
      <vt:lpstr>JpaRepository API</vt:lpstr>
      <vt:lpstr>Agenda</vt:lpstr>
      <vt:lpstr>PowerPoint Presentation</vt:lpstr>
      <vt:lpstr>Giới thiệu JpaRepository</vt:lpstr>
      <vt:lpstr>Ứng dụng JpaRepository</vt:lpstr>
      <vt:lpstr>JpaRepository API</vt:lpstr>
      <vt:lpstr>Category - Entity Class</vt:lpstr>
      <vt:lpstr>CategoryDAO and CategoryService</vt:lpstr>
      <vt:lpstr>CategoryServiceImpl</vt:lpstr>
      <vt:lpstr>Pom.xml - Thư viện cần thiết</vt:lpstr>
      <vt:lpstr>Application.properties - Thông số kết nối CSDL</vt:lpstr>
      <vt:lpstr>PowerPoint Presentation</vt:lpstr>
      <vt:lpstr>WebShop Database Introduction</vt:lpstr>
      <vt:lpstr>Entity Relational Diagram</vt:lpstr>
      <vt:lpstr>PowerPoint Presentation</vt:lpstr>
      <vt:lpstr>WebShop DAO Class Diagram</vt:lpstr>
      <vt:lpstr>WebShop DAO Implementation</vt:lpstr>
      <vt:lpstr>PowerPoint Presentation</vt:lpstr>
      <vt:lpstr>CRUD Application Prototype</vt:lpstr>
      <vt:lpstr>Request Handling</vt:lpstr>
      <vt:lpstr>CRUD Application Architecture</vt:lpstr>
      <vt:lpstr>Component Check List</vt:lpstr>
      <vt:lpstr>CrudController Structure</vt:lpstr>
      <vt:lpstr>CrudController Methods</vt:lpstr>
      <vt:lpstr>CrudController Methods</vt:lpstr>
      <vt:lpstr>product.html - Form</vt:lpstr>
      <vt:lpstr>product.html - Table</vt:lpstr>
      <vt:lpstr>Sắp xếp và phân trang</vt:lpstr>
      <vt:lpstr>PowerPoint Presentation</vt:lpstr>
      <vt:lpstr>Sắp xếp</vt:lpstr>
      <vt:lpstr>Phân trang</vt:lpstr>
      <vt:lpstr>Sắp xếp và phân trang</vt:lpstr>
      <vt:lpstr>Page&lt;T&gt; API – Kết quả phân trang</vt:lpstr>
      <vt:lpstr>PowerPoint Presentation</vt:lpstr>
      <vt:lpstr>Pagination Application Prototype</vt:lpstr>
      <vt:lpstr>Request Handling</vt:lpstr>
      <vt:lpstr>Pagination Application Architecture</vt:lpstr>
      <vt:lpstr>Component Check List</vt:lpstr>
      <vt:lpstr>ProductService &amp; ProductServiceImpl</vt:lpstr>
      <vt:lpstr>PageController</vt:lpstr>
      <vt:lpstr>product.html – Liệt kê sản phẩm của trang</vt:lpstr>
      <vt:lpstr>product.html – Điều hướng và thông tin trang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2124</cp:revision>
  <dcterms:created xsi:type="dcterms:W3CDTF">2013-04-23T08:05:33Z</dcterms:created>
  <dcterms:modified xsi:type="dcterms:W3CDTF">2024-12-21T07:35:12Z</dcterms:modified>
</cp:coreProperties>
</file>
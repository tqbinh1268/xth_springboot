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8"/>
  </p:notesMasterIdLst>
  <p:sldIdLst>
    <p:sldId id="541" r:id="rId2"/>
    <p:sldId id="693" r:id="rId3"/>
    <p:sldId id="765" r:id="rId4"/>
    <p:sldId id="746" r:id="rId5"/>
    <p:sldId id="766" r:id="rId6"/>
    <p:sldId id="767" r:id="rId7"/>
    <p:sldId id="768" r:id="rId8"/>
    <p:sldId id="774" r:id="rId9"/>
    <p:sldId id="769" r:id="rId10"/>
    <p:sldId id="770" r:id="rId11"/>
    <p:sldId id="787" r:id="rId12"/>
    <p:sldId id="778" r:id="rId13"/>
    <p:sldId id="779" r:id="rId14"/>
    <p:sldId id="728" r:id="rId15"/>
    <p:sldId id="777" r:id="rId16"/>
    <p:sldId id="781" r:id="rId17"/>
    <p:sldId id="759" r:id="rId18"/>
    <p:sldId id="711" r:id="rId19"/>
    <p:sldId id="761" r:id="rId20"/>
    <p:sldId id="760" r:id="rId21"/>
    <p:sldId id="736" r:id="rId22"/>
    <p:sldId id="783" r:id="rId23"/>
    <p:sldId id="737" r:id="rId24"/>
    <p:sldId id="730" r:id="rId25"/>
    <p:sldId id="716" r:id="rId26"/>
    <p:sldId id="784" r:id="rId27"/>
    <p:sldId id="785" r:id="rId28"/>
    <p:sldId id="763" r:id="rId29"/>
    <p:sldId id="744" r:id="rId30"/>
    <p:sldId id="742" r:id="rId31"/>
    <p:sldId id="740" r:id="rId32"/>
    <p:sldId id="743" r:id="rId33"/>
    <p:sldId id="786" r:id="rId34"/>
    <p:sldId id="764" r:id="rId35"/>
    <p:sldId id="707" r:id="rId36"/>
    <p:sldId id="62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F9F9F9"/>
    <a:srgbClr val="FF5A33"/>
    <a:srgbClr val="5C0000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82206" autoAdjust="0"/>
  </p:normalViewPr>
  <p:slideViewPr>
    <p:cSldViewPr>
      <p:cViewPr varScale="1">
        <p:scale>
          <a:sx n="73" d="100"/>
          <a:sy n="73" d="100"/>
        </p:scale>
        <p:origin x="55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B819-52DA-49C3-A43B-E9B25D00089E}" type="doc">
      <dgm:prSet loTypeId="urn:microsoft.com/office/officeart/2005/8/layout/chevron2" loCatId="list" qsTypeId="urn:microsoft.com/office/officeart/2005/8/quickstyle/3d1" qsCatId="3D" csTypeId="urn:microsoft.com/office/officeart/2005/8/colors/accent0_3" csCatId="mainScheme" phldr="1"/>
      <dgm:spPr>
        <a:scene3d>
          <a:camera prst="perspectiveRelaxedModerately"/>
          <a:lightRig rig="threePt" dir="t"/>
        </a:scene3d>
      </dgm:spPr>
      <dgm:t>
        <a:bodyPr/>
        <a:lstStyle/>
        <a:p>
          <a:endParaRPr lang="en-US"/>
        </a:p>
      </dgm:t>
    </dgm:pt>
    <dgm:pt modelId="{E72B5A35-49AE-455A-B0CA-2B75F41AB8A2}">
      <dgm:prSet phldrT="[Text]" custT="1"/>
      <dgm:spPr/>
      <dgm:t>
        <a:bodyPr/>
        <a:lstStyle/>
        <a:p>
          <a:endParaRPr lang="en-US" sz="3600" b="1" dirty="0"/>
        </a:p>
      </dgm:t>
    </dgm:pt>
    <dgm:pt modelId="{51549DE7-10B6-4D0F-9C50-EBE1D7D45838}" type="parTrans" cxnId="{C16B8C54-D9EF-4CA2-A47B-3194667A8601}">
      <dgm:prSet/>
      <dgm:spPr/>
      <dgm:t>
        <a:bodyPr/>
        <a:lstStyle/>
        <a:p>
          <a:endParaRPr lang="en-US" sz="3600"/>
        </a:p>
      </dgm:t>
    </dgm:pt>
    <dgm:pt modelId="{653F5C4B-6CEF-4518-83E3-4363B54DA6BA}" type="sibTrans" cxnId="{C16B8C54-D9EF-4CA2-A47B-3194667A8601}">
      <dgm:prSet/>
      <dgm:spPr/>
      <dgm:t>
        <a:bodyPr/>
        <a:lstStyle/>
        <a:p>
          <a:endParaRPr lang="en-US" sz="3600"/>
        </a:p>
      </dgm:t>
    </dgm:pt>
    <dgm:pt modelId="{DB211840-668E-460E-BFA7-431C971B8159}">
      <dgm:prSet phldrT="[Text]" custT="1"/>
      <dgm:spPr/>
      <dgm:t>
        <a:bodyPr/>
        <a:lstStyle/>
        <a:p>
          <a:r>
            <a:rPr lang="en-US" sz="3600" dirty="0" smtClean="0"/>
            <a:t>OAuth2 Authentication</a:t>
          </a:r>
          <a:endParaRPr lang="en-US" sz="3600" dirty="0"/>
        </a:p>
      </dgm:t>
    </dgm:pt>
    <dgm:pt modelId="{DAC12827-DA93-476C-8CF9-78E03E2BD90D}" type="parTrans" cxnId="{1E7C29C8-62FF-4DE9-AA3C-087210EB6293}">
      <dgm:prSet/>
      <dgm:spPr/>
      <dgm:t>
        <a:bodyPr/>
        <a:lstStyle/>
        <a:p>
          <a:endParaRPr lang="en-US" sz="3600"/>
        </a:p>
      </dgm:t>
    </dgm:pt>
    <dgm:pt modelId="{E3B14B82-95A9-4C26-8B55-DA9CE8370440}" type="sibTrans" cxnId="{1E7C29C8-62FF-4DE9-AA3C-087210EB6293}">
      <dgm:prSet/>
      <dgm:spPr/>
      <dgm:t>
        <a:bodyPr/>
        <a:lstStyle/>
        <a:p>
          <a:endParaRPr lang="en-US" sz="3600"/>
        </a:p>
      </dgm:t>
    </dgm:pt>
    <dgm:pt modelId="{3162A7DB-0E88-45BB-ADDB-6C5B802E0634}">
      <dgm:prSet phldrT="[Text]" custT="1"/>
      <dgm:spPr/>
      <dgm:t>
        <a:bodyPr/>
        <a:lstStyle/>
        <a:p>
          <a:r>
            <a:rPr lang="en-US" sz="3600" b="0" dirty="0" smtClean="0"/>
            <a:t>Authentication Database</a:t>
          </a:r>
          <a:endParaRPr lang="en-US" sz="3600" b="0" dirty="0"/>
        </a:p>
      </dgm:t>
    </dgm:pt>
    <dgm:pt modelId="{08BDACC8-BF35-4691-9887-972341764BBA}" type="parTrans" cxnId="{B6D9DC1D-9632-4A2D-81B3-591D6052FBF1}">
      <dgm:prSet/>
      <dgm:spPr/>
      <dgm:t>
        <a:bodyPr/>
        <a:lstStyle/>
        <a:p>
          <a:endParaRPr lang="en-US" sz="3600"/>
        </a:p>
      </dgm:t>
    </dgm:pt>
    <dgm:pt modelId="{74899099-5BC0-4280-8A23-2A5CEF19D3A1}" type="sibTrans" cxnId="{B6D9DC1D-9632-4A2D-81B3-591D6052FBF1}">
      <dgm:prSet/>
      <dgm:spPr/>
      <dgm:t>
        <a:bodyPr/>
        <a:lstStyle/>
        <a:p>
          <a:endParaRPr lang="en-US" sz="3600"/>
        </a:p>
      </dgm:t>
    </dgm:pt>
    <dgm:pt modelId="{4A75FCCE-8A8B-49A9-8BB1-EA22910AA91A}">
      <dgm:prSet phldrT="[Text]" custT="1"/>
      <dgm:spPr/>
      <dgm:t>
        <a:bodyPr/>
        <a:lstStyle/>
        <a:p>
          <a:endParaRPr lang="en-US" sz="3600" b="1" dirty="0"/>
        </a:p>
      </dgm:t>
    </dgm:pt>
    <dgm:pt modelId="{1700BD30-1EA9-4155-ACF4-E7E0B5EB78C3}" type="parTrans" cxnId="{71BE05ED-24A0-4695-8D48-487C359C0293}">
      <dgm:prSet/>
      <dgm:spPr/>
      <dgm:t>
        <a:bodyPr/>
        <a:lstStyle/>
        <a:p>
          <a:endParaRPr lang="en-US" sz="3600"/>
        </a:p>
      </dgm:t>
    </dgm:pt>
    <dgm:pt modelId="{EF91A14D-62C1-40DC-A5CB-A3305D0D10FA}" type="sibTrans" cxnId="{71BE05ED-24A0-4695-8D48-487C359C0293}">
      <dgm:prSet/>
      <dgm:spPr/>
      <dgm:t>
        <a:bodyPr/>
        <a:lstStyle/>
        <a:p>
          <a:endParaRPr lang="en-US" sz="3600"/>
        </a:p>
      </dgm:t>
    </dgm:pt>
    <dgm:pt modelId="{71FBC026-CF10-4E54-9422-565BB16B6687}">
      <dgm:prSet phldrT="[Text]" custT="1"/>
      <dgm:spPr/>
      <dgm:t>
        <a:bodyPr/>
        <a:lstStyle/>
        <a:p>
          <a:endParaRPr lang="en-US" sz="3600" b="1" dirty="0"/>
        </a:p>
      </dgm:t>
    </dgm:pt>
    <dgm:pt modelId="{0F060D1E-7341-48AE-9F8F-8A0302C33AD1}" type="parTrans" cxnId="{F66D570C-DD87-4657-A240-625A97D52011}">
      <dgm:prSet/>
      <dgm:spPr/>
      <dgm:t>
        <a:bodyPr/>
        <a:lstStyle/>
        <a:p>
          <a:endParaRPr lang="en-US" sz="3600"/>
        </a:p>
      </dgm:t>
    </dgm:pt>
    <dgm:pt modelId="{3C43307C-D11D-4BFB-9F32-2C46DE0D1DFA}" type="sibTrans" cxnId="{F66D570C-DD87-4657-A240-625A97D52011}">
      <dgm:prSet/>
      <dgm:spPr/>
      <dgm:t>
        <a:bodyPr/>
        <a:lstStyle/>
        <a:p>
          <a:endParaRPr lang="en-US" sz="3600"/>
        </a:p>
      </dgm:t>
    </dgm:pt>
    <dgm:pt modelId="{3096356E-AA77-42F0-AD44-6392EB0A0001}">
      <dgm:prSet phldrT="[Text]" custT="1"/>
      <dgm:spPr/>
      <dgm:t>
        <a:bodyPr/>
        <a:lstStyle/>
        <a:p>
          <a:r>
            <a:rPr lang="en-US" sz="3600" b="0" dirty="0" smtClean="0"/>
            <a:t>Authentication Manager</a:t>
          </a:r>
          <a:endParaRPr lang="en-US" sz="3600" b="0" dirty="0"/>
        </a:p>
      </dgm:t>
    </dgm:pt>
    <dgm:pt modelId="{1CF6B9AA-24B5-45E0-B0D5-F08A490F6E08}" type="parTrans" cxnId="{832EBF50-7184-4FAF-8480-DBAC69081694}">
      <dgm:prSet/>
      <dgm:spPr/>
      <dgm:t>
        <a:bodyPr/>
        <a:lstStyle/>
        <a:p>
          <a:endParaRPr lang="en-US" sz="3600"/>
        </a:p>
      </dgm:t>
    </dgm:pt>
    <dgm:pt modelId="{3BEA5072-3E2D-44A4-85F7-B217939D469C}" type="sibTrans" cxnId="{832EBF50-7184-4FAF-8480-DBAC69081694}">
      <dgm:prSet/>
      <dgm:spPr/>
      <dgm:t>
        <a:bodyPr/>
        <a:lstStyle/>
        <a:p>
          <a:endParaRPr lang="en-US" sz="3600"/>
        </a:p>
      </dgm:t>
    </dgm:pt>
    <dgm:pt modelId="{6630F297-4A5A-4DA9-862A-F49E336C2315}">
      <dgm:prSet phldrT="[Text]" custT="1"/>
      <dgm:spPr/>
      <dgm:t>
        <a:bodyPr/>
        <a:lstStyle/>
        <a:p>
          <a:r>
            <a:rPr lang="en-US" sz="3600" dirty="0" smtClean="0"/>
            <a:t>Consume Secured REST API</a:t>
          </a:r>
          <a:endParaRPr lang="en-US" sz="3600" dirty="0"/>
        </a:p>
      </dgm:t>
    </dgm:pt>
    <dgm:pt modelId="{837749B2-D8AC-4BF3-9387-BF96CF1CB573}" type="parTrans" cxnId="{0E0B2352-474B-4B21-9869-1EA50AC6541B}">
      <dgm:prSet/>
      <dgm:spPr/>
      <dgm:t>
        <a:bodyPr/>
        <a:lstStyle/>
        <a:p>
          <a:endParaRPr lang="en-US"/>
        </a:p>
      </dgm:t>
    </dgm:pt>
    <dgm:pt modelId="{F6A98D7F-AE93-47CA-A4B7-77AEE76618EF}" type="sibTrans" cxnId="{0E0B2352-474B-4B21-9869-1EA50AC6541B}">
      <dgm:prSet/>
      <dgm:spPr/>
      <dgm:t>
        <a:bodyPr/>
        <a:lstStyle/>
        <a:p>
          <a:endParaRPr lang="en-US"/>
        </a:p>
      </dgm:t>
    </dgm:pt>
    <dgm:pt modelId="{18D06080-2A7D-46A5-BFD7-D640995CFE3C}">
      <dgm:prSet phldrT="[Text]" custT="1"/>
      <dgm:spPr/>
      <dgm:t>
        <a:bodyPr/>
        <a:lstStyle/>
        <a:p>
          <a:endParaRPr lang="en-US" sz="3600" dirty="0"/>
        </a:p>
      </dgm:t>
    </dgm:pt>
    <dgm:pt modelId="{0812F458-5676-409B-A585-D0E01B21CDCB}" type="parTrans" cxnId="{67452ABB-A170-4036-880D-D16D8901ADE4}">
      <dgm:prSet/>
      <dgm:spPr/>
      <dgm:t>
        <a:bodyPr/>
        <a:lstStyle/>
        <a:p>
          <a:endParaRPr lang="en-US"/>
        </a:p>
      </dgm:t>
    </dgm:pt>
    <dgm:pt modelId="{C29A9870-6BB8-4903-8CCE-28DBFD0453A1}" type="sibTrans" cxnId="{67452ABB-A170-4036-880D-D16D8901ADE4}">
      <dgm:prSet/>
      <dgm:spPr/>
      <dgm:t>
        <a:bodyPr/>
        <a:lstStyle/>
        <a:p>
          <a:endParaRPr lang="en-US"/>
        </a:p>
      </dgm:t>
    </dgm:pt>
    <dgm:pt modelId="{8178D5E9-81A5-4F57-A9E9-B5F004A13590}" type="pres">
      <dgm:prSet presAssocID="{1B2CB819-52DA-49C3-A43B-E9B25D00089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5EC3D03-1661-4196-ABFF-EDFF42B55E46}" type="pres">
      <dgm:prSet presAssocID="{71FBC026-CF10-4E54-9422-565BB16B6687}" presName="composite" presStyleCnt="0"/>
      <dgm:spPr/>
    </dgm:pt>
    <dgm:pt modelId="{C9F090F4-808E-4FFA-BB04-05EF62B77227}" type="pres">
      <dgm:prSet presAssocID="{71FBC026-CF10-4E54-9422-565BB16B6687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8257F8-0530-4CF0-BD01-2DCB77038B71}" type="pres">
      <dgm:prSet presAssocID="{71FBC026-CF10-4E54-9422-565BB16B6687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A535F8-D345-48FF-A751-E04941AF9243}" type="pres">
      <dgm:prSet presAssocID="{3C43307C-D11D-4BFB-9F32-2C46DE0D1DFA}" presName="sp" presStyleCnt="0"/>
      <dgm:spPr/>
    </dgm:pt>
    <dgm:pt modelId="{5E3FF0AB-E6F9-4AB3-AE94-223D95E24F7F}" type="pres">
      <dgm:prSet presAssocID="{4A75FCCE-8A8B-49A9-8BB1-EA22910AA91A}" presName="composite" presStyleCnt="0"/>
      <dgm:spPr/>
    </dgm:pt>
    <dgm:pt modelId="{AAC5DE1D-D515-48B2-B189-92334E4A5199}" type="pres">
      <dgm:prSet presAssocID="{4A75FCCE-8A8B-49A9-8BB1-EA22910AA91A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82BD1F-7804-4208-B38F-85D34F171B10}" type="pres">
      <dgm:prSet presAssocID="{4A75FCCE-8A8B-49A9-8BB1-EA22910AA91A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4629EC-D9E8-48A0-8B45-B314484810ED}" type="pres">
      <dgm:prSet presAssocID="{EF91A14D-62C1-40DC-A5CB-A3305D0D10FA}" presName="sp" presStyleCnt="0"/>
      <dgm:spPr/>
    </dgm:pt>
    <dgm:pt modelId="{E86D8275-9A6E-4409-AE55-B2799CDEC400}" type="pres">
      <dgm:prSet presAssocID="{E72B5A35-49AE-455A-B0CA-2B75F41AB8A2}" presName="composite" presStyleCnt="0"/>
      <dgm:spPr/>
      <dgm:t>
        <a:bodyPr/>
        <a:lstStyle/>
        <a:p>
          <a:endParaRPr lang="en-US"/>
        </a:p>
      </dgm:t>
    </dgm:pt>
    <dgm:pt modelId="{CC5BD74F-4AEF-4CF1-97B3-5250CA436957}" type="pres">
      <dgm:prSet presAssocID="{E72B5A35-49AE-455A-B0CA-2B75F41AB8A2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9E5729-E37D-4A01-93E6-8ADE010AC066}" type="pres">
      <dgm:prSet presAssocID="{E72B5A35-49AE-455A-B0CA-2B75F41AB8A2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0EF2CC-A3C6-44AF-8147-E9E0421E3BCE}" type="pres">
      <dgm:prSet presAssocID="{653F5C4B-6CEF-4518-83E3-4363B54DA6BA}" presName="sp" presStyleCnt="0"/>
      <dgm:spPr/>
    </dgm:pt>
    <dgm:pt modelId="{B1B97E60-42F4-43FC-8B1A-8E117DC3122F}" type="pres">
      <dgm:prSet presAssocID="{18D06080-2A7D-46A5-BFD7-D640995CFE3C}" presName="composite" presStyleCnt="0"/>
      <dgm:spPr/>
    </dgm:pt>
    <dgm:pt modelId="{C948BC00-FE3C-4D78-A892-71987DF49950}" type="pres">
      <dgm:prSet presAssocID="{18D06080-2A7D-46A5-BFD7-D640995CFE3C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DEAD6B-EA95-4739-A56F-B632B36B3BB7}" type="pres">
      <dgm:prSet presAssocID="{18D06080-2A7D-46A5-BFD7-D640995CFE3C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DD840B-4AE6-45EB-B7E0-5E5CEE9780CB}" type="presOf" srcId="{1B2CB819-52DA-49C3-A43B-E9B25D00089E}" destId="{8178D5E9-81A5-4F57-A9E9-B5F004A13590}" srcOrd="0" destOrd="0" presId="urn:microsoft.com/office/officeart/2005/8/layout/chevron2"/>
    <dgm:cxn modelId="{069A8254-9C53-420A-A2C7-3E3DC4D616E2}" type="presOf" srcId="{4A75FCCE-8A8B-49A9-8BB1-EA22910AA91A}" destId="{AAC5DE1D-D515-48B2-B189-92334E4A5199}" srcOrd="0" destOrd="0" presId="urn:microsoft.com/office/officeart/2005/8/layout/chevron2"/>
    <dgm:cxn modelId="{09371E60-7139-4E7B-BCC0-3D3A5D07D5EC}" type="presOf" srcId="{3096356E-AA77-42F0-AD44-6392EB0A0001}" destId="{538257F8-0530-4CF0-BD01-2DCB77038B71}" srcOrd="0" destOrd="0" presId="urn:microsoft.com/office/officeart/2005/8/layout/chevron2"/>
    <dgm:cxn modelId="{2CA8073B-7280-4225-84DA-1AA526AF99D3}" type="presOf" srcId="{71FBC026-CF10-4E54-9422-565BB16B6687}" destId="{C9F090F4-808E-4FFA-BB04-05EF62B77227}" srcOrd="0" destOrd="0" presId="urn:microsoft.com/office/officeart/2005/8/layout/chevron2"/>
    <dgm:cxn modelId="{C16B8C54-D9EF-4CA2-A47B-3194667A8601}" srcId="{1B2CB819-52DA-49C3-A43B-E9B25D00089E}" destId="{E72B5A35-49AE-455A-B0CA-2B75F41AB8A2}" srcOrd="2" destOrd="0" parTransId="{51549DE7-10B6-4D0F-9C50-EBE1D7D45838}" sibTransId="{653F5C4B-6CEF-4518-83E3-4363B54DA6BA}"/>
    <dgm:cxn modelId="{F66D570C-DD87-4657-A240-625A97D52011}" srcId="{1B2CB819-52DA-49C3-A43B-E9B25D00089E}" destId="{71FBC026-CF10-4E54-9422-565BB16B6687}" srcOrd="0" destOrd="0" parTransId="{0F060D1E-7341-48AE-9F8F-8A0302C33AD1}" sibTransId="{3C43307C-D11D-4BFB-9F32-2C46DE0D1DFA}"/>
    <dgm:cxn modelId="{67452ABB-A170-4036-880D-D16D8901ADE4}" srcId="{1B2CB819-52DA-49C3-A43B-E9B25D00089E}" destId="{18D06080-2A7D-46A5-BFD7-D640995CFE3C}" srcOrd="3" destOrd="0" parTransId="{0812F458-5676-409B-A585-D0E01B21CDCB}" sibTransId="{C29A9870-6BB8-4903-8CCE-28DBFD0453A1}"/>
    <dgm:cxn modelId="{1E7C29C8-62FF-4DE9-AA3C-087210EB6293}" srcId="{E72B5A35-49AE-455A-B0CA-2B75F41AB8A2}" destId="{DB211840-668E-460E-BFA7-431C971B8159}" srcOrd="0" destOrd="0" parTransId="{DAC12827-DA93-476C-8CF9-78E03E2BD90D}" sibTransId="{E3B14B82-95A9-4C26-8B55-DA9CE8370440}"/>
    <dgm:cxn modelId="{0E0B2352-474B-4B21-9869-1EA50AC6541B}" srcId="{18D06080-2A7D-46A5-BFD7-D640995CFE3C}" destId="{6630F297-4A5A-4DA9-862A-F49E336C2315}" srcOrd="0" destOrd="0" parTransId="{837749B2-D8AC-4BF3-9387-BF96CF1CB573}" sibTransId="{F6A98D7F-AE93-47CA-A4B7-77AEE76618EF}"/>
    <dgm:cxn modelId="{F1129AAE-C5DE-4BAF-B2D3-AB3C0F2935DA}" type="presOf" srcId="{3162A7DB-0E88-45BB-ADDB-6C5B802E0634}" destId="{B782BD1F-7804-4208-B38F-85D34F171B10}" srcOrd="0" destOrd="0" presId="urn:microsoft.com/office/officeart/2005/8/layout/chevron2"/>
    <dgm:cxn modelId="{B6D9DC1D-9632-4A2D-81B3-591D6052FBF1}" srcId="{4A75FCCE-8A8B-49A9-8BB1-EA22910AA91A}" destId="{3162A7DB-0E88-45BB-ADDB-6C5B802E0634}" srcOrd="0" destOrd="0" parTransId="{08BDACC8-BF35-4691-9887-972341764BBA}" sibTransId="{74899099-5BC0-4280-8A23-2A5CEF19D3A1}"/>
    <dgm:cxn modelId="{743DF65C-81B8-4E6F-948E-790AB9317DDE}" type="presOf" srcId="{18D06080-2A7D-46A5-BFD7-D640995CFE3C}" destId="{C948BC00-FE3C-4D78-A892-71987DF49950}" srcOrd="0" destOrd="0" presId="urn:microsoft.com/office/officeart/2005/8/layout/chevron2"/>
    <dgm:cxn modelId="{132B665D-5511-46A8-8FD7-470318FBB09B}" type="presOf" srcId="{DB211840-668E-460E-BFA7-431C971B8159}" destId="{149E5729-E37D-4A01-93E6-8ADE010AC066}" srcOrd="0" destOrd="0" presId="urn:microsoft.com/office/officeart/2005/8/layout/chevron2"/>
    <dgm:cxn modelId="{832EBF50-7184-4FAF-8480-DBAC69081694}" srcId="{71FBC026-CF10-4E54-9422-565BB16B6687}" destId="{3096356E-AA77-42F0-AD44-6392EB0A0001}" srcOrd="0" destOrd="0" parTransId="{1CF6B9AA-24B5-45E0-B0D5-F08A490F6E08}" sibTransId="{3BEA5072-3E2D-44A4-85F7-B217939D469C}"/>
    <dgm:cxn modelId="{71BE05ED-24A0-4695-8D48-487C359C0293}" srcId="{1B2CB819-52DA-49C3-A43B-E9B25D00089E}" destId="{4A75FCCE-8A8B-49A9-8BB1-EA22910AA91A}" srcOrd="1" destOrd="0" parTransId="{1700BD30-1EA9-4155-ACF4-E7E0B5EB78C3}" sibTransId="{EF91A14D-62C1-40DC-A5CB-A3305D0D10FA}"/>
    <dgm:cxn modelId="{A3A03F8E-B37E-4F8A-A3FB-A3A834BF21C2}" type="presOf" srcId="{6630F297-4A5A-4DA9-862A-F49E336C2315}" destId="{00DEAD6B-EA95-4739-A56F-B632B36B3BB7}" srcOrd="0" destOrd="0" presId="urn:microsoft.com/office/officeart/2005/8/layout/chevron2"/>
    <dgm:cxn modelId="{374B37A2-A5D6-4879-9AC3-551398E9E343}" type="presOf" srcId="{E72B5A35-49AE-455A-B0CA-2B75F41AB8A2}" destId="{CC5BD74F-4AEF-4CF1-97B3-5250CA436957}" srcOrd="0" destOrd="0" presId="urn:microsoft.com/office/officeart/2005/8/layout/chevron2"/>
    <dgm:cxn modelId="{6BC4099D-D6A9-4D82-95DE-69E83E2FDD05}" type="presParOf" srcId="{8178D5E9-81A5-4F57-A9E9-B5F004A13590}" destId="{A5EC3D03-1661-4196-ABFF-EDFF42B55E46}" srcOrd="0" destOrd="0" presId="urn:microsoft.com/office/officeart/2005/8/layout/chevron2"/>
    <dgm:cxn modelId="{F6854489-1199-47F2-84B9-2F16B5B077C9}" type="presParOf" srcId="{A5EC3D03-1661-4196-ABFF-EDFF42B55E46}" destId="{C9F090F4-808E-4FFA-BB04-05EF62B77227}" srcOrd="0" destOrd="0" presId="urn:microsoft.com/office/officeart/2005/8/layout/chevron2"/>
    <dgm:cxn modelId="{CCB9EFF8-A58D-4F72-A199-444746D674DA}" type="presParOf" srcId="{A5EC3D03-1661-4196-ABFF-EDFF42B55E46}" destId="{538257F8-0530-4CF0-BD01-2DCB77038B71}" srcOrd="1" destOrd="0" presId="urn:microsoft.com/office/officeart/2005/8/layout/chevron2"/>
    <dgm:cxn modelId="{A4136652-6CFE-4F15-8D2F-24E83C2D3688}" type="presParOf" srcId="{8178D5E9-81A5-4F57-A9E9-B5F004A13590}" destId="{5AA535F8-D345-48FF-A751-E04941AF9243}" srcOrd="1" destOrd="0" presId="urn:microsoft.com/office/officeart/2005/8/layout/chevron2"/>
    <dgm:cxn modelId="{C25BA196-0070-4DD2-8CBF-CBE46D8EED6C}" type="presParOf" srcId="{8178D5E9-81A5-4F57-A9E9-B5F004A13590}" destId="{5E3FF0AB-E6F9-4AB3-AE94-223D95E24F7F}" srcOrd="2" destOrd="0" presId="urn:microsoft.com/office/officeart/2005/8/layout/chevron2"/>
    <dgm:cxn modelId="{FEAF7470-5060-42A9-AA2B-BC59CDFF67E4}" type="presParOf" srcId="{5E3FF0AB-E6F9-4AB3-AE94-223D95E24F7F}" destId="{AAC5DE1D-D515-48B2-B189-92334E4A5199}" srcOrd="0" destOrd="0" presId="urn:microsoft.com/office/officeart/2005/8/layout/chevron2"/>
    <dgm:cxn modelId="{5E5041ED-139A-4167-900B-4B5296AD36DB}" type="presParOf" srcId="{5E3FF0AB-E6F9-4AB3-AE94-223D95E24F7F}" destId="{B782BD1F-7804-4208-B38F-85D34F171B10}" srcOrd="1" destOrd="0" presId="urn:microsoft.com/office/officeart/2005/8/layout/chevron2"/>
    <dgm:cxn modelId="{F2250BE0-6E94-4080-B18A-8B8B78ECCB83}" type="presParOf" srcId="{8178D5E9-81A5-4F57-A9E9-B5F004A13590}" destId="{1D4629EC-D9E8-48A0-8B45-B314484810ED}" srcOrd="3" destOrd="0" presId="urn:microsoft.com/office/officeart/2005/8/layout/chevron2"/>
    <dgm:cxn modelId="{DFC709F8-3DAB-467E-91FA-5A201AC7C6B3}" type="presParOf" srcId="{8178D5E9-81A5-4F57-A9E9-B5F004A13590}" destId="{E86D8275-9A6E-4409-AE55-B2799CDEC400}" srcOrd="4" destOrd="0" presId="urn:microsoft.com/office/officeart/2005/8/layout/chevron2"/>
    <dgm:cxn modelId="{501CC5C0-EA31-4761-BB5E-EF9A8B98CBE3}" type="presParOf" srcId="{E86D8275-9A6E-4409-AE55-B2799CDEC400}" destId="{CC5BD74F-4AEF-4CF1-97B3-5250CA436957}" srcOrd="0" destOrd="0" presId="urn:microsoft.com/office/officeart/2005/8/layout/chevron2"/>
    <dgm:cxn modelId="{8593D568-3A72-4345-8D1F-12F4A3DAD285}" type="presParOf" srcId="{E86D8275-9A6E-4409-AE55-B2799CDEC400}" destId="{149E5729-E37D-4A01-93E6-8ADE010AC066}" srcOrd="1" destOrd="0" presId="urn:microsoft.com/office/officeart/2005/8/layout/chevron2"/>
    <dgm:cxn modelId="{2C8D927C-7805-40D6-8EF1-6B14AFEE07F6}" type="presParOf" srcId="{8178D5E9-81A5-4F57-A9E9-B5F004A13590}" destId="{480EF2CC-A3C6-44AF-8147-E9E0421E3BCE}" srcOrd="5" destOrd="0" presId="urn:microsoft.com/office/officeart/2005/8/layout/chevron2"/>
    <dgm:cxn modelId="{06A86B71-CC99-4A05-886D-1271ABADB015}" type="presParOf" srcId="{8178D5E9-81A5-4F57-A9E9-B5F004A13590}" destId="{B1B97E60-42F4-43FC-8B1A-8E117DC3122F}" srcOrd="6" destOrd="0" presId="urn:microsoft.com/office/officeart/2005/8/layout/chevron2"/>
    <dgm:cxn modelId="{8DDC7365-B8B9-42CC-9BB1-D78624B9404E}" type="presParOf" srcId="{B1B97E60-42F4-43FC-8B1A-8E117DC3122F}" destId="{C948BC00-FE3C-4D78-A892-71987DF49950}" srcOrd="0" destOrd="0" presId="urn:microsoft.com/office/officeart/2005/8/layout/chevron2"/>
    <dgm:cxn modelId="{0C527032-A751-4206-8DF7-9D272F479C9F}" type="presParOf" srcId="{B1B97E60-42F4-43FC-8B1A-8E117DC3122F}" destId="{00DEAD6B-EA95-4739-A56F-B632B36B3BB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090F4-808E-4FFA-BB04-05EF62B77227}">
      <dsp:nvSpPr>
        <dsp:cNvPr id="0" name=""/>
        <dsp:cNvSpPr/>
      </dsp:nvSpPr>
      <dsp:spPr>
        <a:xfrm rot="5400000">
          <a:off x="-228484" y="229036"/>
          <a:ext cx="1523230" cy="106626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 dirty="0"/>
        </a:p>
      </dsp:txBody>
      <dsp:txXfrm rot="-5400000">
        <a:off x="1" y="533683"/>
        <a:ext cx="1066261" cy="456969"/>
      </dsp:txXfrm>
    </dsp:sp>
    <dsp:sp modelId="{538257F8-0530-4CF0-BD01-2DCB77038B71}">
      <dsp:nvSpPr>
        <dsp:cNvPr id="0" name=""/>
        <dsp:cNvSpPr/>
      </dsp:nvSpPr>
      <dsp:spPr>
        <a:xfrm rot="5400000">
          <a:off x="4000480" y="-2933667"/>
          <a:ext cx="990099" cy="685853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b="0" kern="1200" dirty="0" smtClean="0"/>
            <a:t>Authentication Manager</a:t>
          </a:r>
          <a:endParaRPr lang="en-US" sz="3600" b="0" kern="1200" dirty="0"/>
        </a:p>
      </dsp:txBody>
      <dsp:txXfrm rot="-5400000">
        <a:off x="1066261" y="48885"/>
        <a:ext cx="6810205" cy="893433"/>
      </dsp:txXfrm>
    </dsp:sp>
    <dsp:sp modelId="{AAC5DE1D-D515-48B2-B189-92334E4A5199}">
      <dsp:nvSpPr>
        <dsp:cNvPr id="0" name=""/>
        <dsp:cNvSpPr/>
      </dsp:nvSpPr>
      <dsp:spPr>
        <a:xfrm rot="5400000">
          <a:off x="-228484" y="1608145"/>
          <a:ext cx="1523230" cy="106626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 dirty="0"/>
        </a:p>
      </dsp:txBody>
      <dsp:txXfrm rot="-5400000">
        <a:off x="1" y="1912792"/>
        <a:ext cx="1066261" cy="456969"/>
      </dsp:txXfrm>
    </dsp:sp>
    <dsp:sp modelId="{B782BD1F-7804-4208-B38F-85D34F171B10}">
      <dsp:nvSpPr>
        <dsp:cNvPr id="0" name=""/>
        <dsp:cNvSpPr/>
      </dsp:nvSpPr>
      <dsp:spPr>
        <a:xfrm rot="5400000">
          <a:off x="4000480" y="-1554558"/>
          <a:ext cx="990099" cy="685853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b="0" kern="1200" dirty="0" smtClean="0"/>
            <a:t>Authentication Database</a:t>
          </a:r>
          <a:endParaRPr lang="en-US" sz="3600" b="0" kern="1200" dirty="0"/>
        </a:p>
      </dsp:txBody>
      <dsp:txXfrm rot="-5400000">
        <a:off x="1066261" y="1427994"/>
        <a:ext cx="6810205" cy="893433"/>
      </dsp:txXfrm>
    </dsp:sp>
    <dsp:sp modelId="{CC5BD74F-4AEF-4CF1-97B3-5250CA436957}">
      <dsp:nvSpPr>
        <dsp:cNvPr id="0" name=""/>
        <dsp:cNvSpPr/>
      </dsp:nvSpPr>
      <dsp:spPr>
        <a:xfrm rot="5400000">
          <a:off x="-228484" y="2987254"/>
          <a:ext cx="1523230" cy="106626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 dirty="0"/>
        </a:p>
      </dsp:txBody>
      <dsp:txXfrm rot="-5400000">
        <a:off x="1" y="3291901"/>
        <a:ext cx="1066261" cy="456969"/>
      </dsp:txXfrm>
    </dsp:sp>
    <dsp:sp modelId="{149E5729-E37D-4A01-93E6-8ADE010AC066}">
      <dsp:nvSpPr>
        <dsp:cNvPr id="0" name=""/>
        <dsp:cNvSpPr/>
      </dsp:nvSpPr>
      <dsp:spPr>
        <a:xfrm rot="5400000">
          <a:off x="4000480" y="-175449"/>
          <a:ext cx="990099" cy="685853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OAuth2 Authentication</a:t>
          </a:r>
          <a:endParaRPr lang="en-US" sz="3600" kern="1200" dirty="0"/>
        </a:p>
      </dsp:txBody>
      <dsp:txXfrm rot="-5400000">
        <a:off x="1066261" y="2807103"/>
        <a:ext cx="6810205" cy="893433"/>
      </dsp:txXfrm>
    </dsp:sp>
    <dsp:sp modelId="{C948BC00-FE3C-4D78-A892-71987DF49950}">
      <dsp:nvSpPr>
        <dsp:cNvPr id="0" name=""/>
        <dsp:cNvSpPr/>
      </dsp:nvSpPr>
      <dsp:spPr>
        <a:xfrm rot="5400000">
          <a:off x="-228484" y="4366363"/>
          <a:ext cx="1523230" cy="106626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 dirty="0"/>
        </a:p>
      </dsp:txBody>
      <dsp:txXfrm rot="-5400000">
        <a:off x="1" y="4671010"/>
        <a:ext cx="1066261" cy="456969"/>
      </dsp:txXfrm>
    </dsp:sp>
    <dsp:sp modelId="{00DEAD6B-EA95-4739-A56F-B632B36B3BB7}">
      <dsp:nvSpPr>
        <dsp:cNvPr id="0" name=""/>
        <dsp:cNvSpPr/>
      </dsp:nvSpPr>
      <dsp:spPr>
        <a:xfrm rot="5400000">
          <a:off x="4000480" y="1203659"/>
          <a:ext cx="990099" cy="685853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Consume Secured REST API</a:t>
          </a:r>
          <a:endParaRPr lang="en-US" sz="3600" kern="1200" dirty="0"/>
        </a:p>
      </dsp:txBody>
      <dsp:txXfrm rot="-5400000">
        <a:off x="1066261" y="4186212"/>
        <a:ext cx="6810205" cy="893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3/9/2021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41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34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59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slideLayout" Target="../slideLayouts/slideLayout7.xml"/><Relationship Id="rId7" Type="http://schemas.microsoft.com/office/2007/relationships/hdphoto" Target="../media/hdphoto4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notesSlide" Target="../notesSlides/notesSlide6.xml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Advaned</a:t>
            </a:r>
            <a:r>
              <a:rPr lang="en-US" dirty="0" smtClean="0"/>
              <a:t> Spring Security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72305016"/>
              </p:ext>
            </p:extLst>
          </p:nvPr>
        </p:nvGraphicFramePr>
        <p:xfrm>
          <a:off x="1219200" y="733697"/>
          <a:ext cx="7924800" cy="5661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3124200" y="1752600"/>
            <a:ext cx="8458200" cy="4495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276600" y="2057400"/>
            <a:ext cx="2667000" cy="396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781800" y="2057400"/>
            <a:ext cx="4648200" cy="396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&amp; Authorization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2460172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@Url1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3581400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@Url2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4702628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</a:t>
            </a:r>
            <a:r>
              <a:rPr lang="en-US" sz="2400" dirty="0" err="1" smtClean="0"/>
              <a:t>UrlN</a:t>
            </a:r>
            <a:endParaRPr lang="en-US" sz="2400" dirty="0"/>
          </a:p>
        </p:txBody>
      </p:sp>
      <p:sp>
        <p:nvSpPr>
          <p:cNvPr id="7" name="Frame 6"/>
          <p:cNvSpPr/>
          <p:nvPr/>
        </p:nvSpPr>
        <p:spPr>
          <a:xfrm>
            <a:off x="3433352" y="3429000"/>
            <a:ext cx="2311400" cy="1066800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Authorizing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85000" y="2460172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Role1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6976291" y="3581400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Role2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6976291" y="4702628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RoleN</a:t>
            </a:r>
            <a:endParaRPr lang="en-US" sz="2400" dirty="0"/>
          </a:p>
        </p:txBody>
      </p:sp>
      <p:cxnSp>
        <p:nvCxnSpPr>
          <p:cNvPr id="12" name="Straight Arrow Connector 11"/>
          <p:cNvCxnSpPr>
            <a:stCxn id="4" idx="3"/>
            <a:endCxn id="7" idx="1"/>
          </p:cNvCxnSpPr>
          <p:nvPr/>
        </p:nvCxnSpPr>
        <p:spPr>
          <a:xfrm>
            <a:off x="2082800" y="2841172"/>
            <a:ext cx="1350552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>
            <a:off x="2082800" y="3962400"/>
            <a:ext cx="135055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  <a:endCxn id="7" idx="1"/>
          </p:cNvCxnSpPr>
          <p:nvPr/>
        </p:nvCxnSpPr>
        <p:spPr>
          <a:xfrm flipV="1">
            <a:off x="2082800" y="3962400"/>
            <a:ext cx="1350552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8" idx="1"/>
          </p:cNvCxnSpPr>
          <p:nvPr/>
        </p:nvCxnSpPr>
        <p:spPr>
          <a:xfrm flipV="1">
            <a:off x="5744752" y="2841172"/>
            <a:ext cx="1240248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9" idx="1"/>
          </p:cNvCxnSpPr>
          <p:nvPr/>
        </p:nvCxnSpPr>
        <p:spPr>
          <a:xfrm>
            <a:off x="5744752" y="3962400"/>
            <a:ext cx="1231539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10" idx="1"/>
          </p:cNvCxnSpPr>
          <p:nvPr/>
        </p:nvCxnSpPr>
        <p:spPr>
          <a:xfrm>
            <a:off x="5744752" y="3962400"/>
            <a:ext cx="1231539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ultidocument 23"/>
          <p:cNvSpPr/>
          <p:nvPr/>
        </p:nvSpPr>
        <p:spPr>
          <a:xfrm>
            <a:off x="9448800" y="3390900"/>
            <a:ext cx="1752600" cy="1143000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Users</a:t>
            </a:r>
            <a:endParaRPr lang="en-US" sz="2400" dirty="0"/>
          </a:p>
        </p:txBody>
      </p:sp>
      <p:cxnSp>
        <p:nvCxnSpPr>
          <p:cNvPr id="26" name="Straight Connector 25"/>
          <p:cNvCxnSpPr>
            <a:stCxn id="24" idx="1"/>
            <a:endCxn id="8" idx="3"/>
          </p:cNvCxnSpPr>
          <p:nvPr/>
        </p:nvCxnSpPr>
        <p:spPr>
          <a:xfrm flipH="1" flipV="1">
            <a:off x="8382000" y="2841172"/>
            <a:ext cx="1066800" cy="112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4" idx="1"/>
            <a:endCxn id="9" idx="3"/>
          </p:cNvCxnSpPr>
          <p:nvPr/>
        </p:nvCxnSpPr>
        <p:spPr>
          <a:xfrm flipH="1">
            <a:off x="8373291" y="3962400"/>
            <a:ext cx="10755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4" idx="1"/>
            <a:endCxn id="10" idx="3"/>
          </p:cNvCxnSpPr>
          <p:nvPr/>
        </p:nvCxnSpPr>
        <p:spPr>
          <a:xfrm flipH="1">
            <a:off x="8373291" y="3962400"/>
            <a:ext cx="1075509" cy="112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lded Corner 71"/>
          <p:cNvSpPr/>
          <p:nvPr/>
        </p:nvSpPr>
        <p:spPr>
          <a:xfrm>
            <a:off x="3433352" y="2264228"/>
            <a:ext cx="2311400" cy="9144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Login, Logoff, Error</a:t>
            </a:r>
            <a:endParaRPr lang="en-US" sz="2400" dirty="0"/>
          </a:p>
        </p:txBody>
      </p:sp>
      <p:cxnSp>
        <p:nvCxnSpPr>
          <p:cNvPr id="74" name="Straight Connector 73"/>
          <p:cNvCxnSpPr>
            <a:stCxn id="7" idx="0"/>
            <a:endCxn id="72" idx="2"/>
          </p:cNvCxnSpPr>
          <p:nvPr/>
        </p:nvCxnSpPr>
        <p:spPr>
          <a:xfrm flipV="1">
            <a:off x="4589052" y="3178628"/>
            <a:ext cx="0" cy="250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loud 74"/>
          <p:cNvSpPr/>
          <p:nvPr/>
        </p:nvSpPr>
        <p:spPr>
          <a:xfrm>
            <a:off x="9448800" y="1219200"/>
            <a:ext cx="1676400" cy="1099455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OAuth</a:t>
            </a:r>
            <a:endParaRPr lang="en-US" sz="2400" dirty="0"/>
          </a:p>
        </p:txBody>
      </p:sp>
      <p:cxnSp>
        <p:nvCxnSpPr>
          <p:cNvPr id="77" name="Straight Connector 76"/>
          <p:cNvCxnSpPr>
            <a:stCxn id="75" idx="1"/>
          </p:cNvCxnSpPr>
          <p:nvPr/>
        </p:nvCxnSpPr>
        <p:spPr>
          <a:xfrm>
            <a:off x="10287000" y="2317484"/>
            <a:ext cx="0" cy="1073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170642" y="5486400"/>
            <a:ext cx="4106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err="1" smtClean="0">
                <a:solidFill>
                  <a:srgbClr val="FF0000"/>
                </a:solidFill>
              </a:rPr>
              <a:t>AuthenticationManagerBuilder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707506" y="5486400"/>
            <a:ext cx="1763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err="1" smtClean="0">
                <a:solidFill>
                  <a:srgbClr val="FF0000"/>
                </a:solidFill>
              </a:rPr>
              <a:t>HttpSecurity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3503" y="4567535"/>
            <a:ext cx="10310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OK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215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Manager 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635" y="4783997"/>
            <a:ext cx="7619999" cy="166986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Nguồn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cố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endParaRPr lang="en-US" i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dưới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dạng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database,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quyền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qua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10972800" cy="3371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09107" y="4335506"/>
            <a:ext cx="2895600" cy="2362200"/>
            <a:chOff x="8305800" y="3886200"/>
            <a:chExt cx="2895600" cy="2362200"/>
          </a:xfrm>
        </p:grpSpPr>
        <p:sp>
          <p:nvSpPr>
            <p:cNvPr id="6" name="Rounded Rectangle 5"/>
            <p:cNvSpPr/>
            <p:nvPr/>
          </p:nvSpPr>
          <p:spPr>
            <a:xfrm>
              <a:off x="8305800" y="3886200"/>
              <a:ext cx="2895600" cy="2362200"/>
            </a:xfrm>
            <a:prstGeom prst="roundRect">
              <a:avLst>
                <a:gd name="adj" fmla="val 5873"/>
              </a:avLst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28082" y="440436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user1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528082" y="5022669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user2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528082" y="562356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user3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9982200" y="440436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GUEST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82200" y="502158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982200" y="562356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ADMIN</a:t>
              </a:r>
              <a:endParaRPr lang="en-US" dirty="0"/>
            </a:p>
          </p:txBody>
        </p:sp>
        <p:cxnSp>
          <p:nvCxnSpPr>
            <p:cNvPr id="13" name="Straight Arrow Connector 12"/>
            <p:cNvCxnSpPr>
              <a:stCxn id="7" idx="3"/>
              <a:endCxn id="10" idx="1"/>
            </p:cNvCxnSpPr>
            <p:nvPr/>
          </p:nvCxnSpPr>
          <p:spPr>
            <a:xfrm>
              <a:off x="9525000" y="4594860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3"/>
              <a:endCxn id="10" idx="1"/>
            </p:cNvCxnSpPr>
            <p:nvPr/>
          </p:nvCxnSpPr>
          <p:spPr>
            <a:xfrm flipV="1">
              <a:off x="9525000" y="4594860"/>
              <a:ext cx="457200" cy="61830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11" idx="1"/>
            </p:cNvCxnSpPr>
            <p:nvPr/>
          </p:nvCxnSpPr>
          <p:spPr>
            <a:xfrm flipV="1">
              <a:off x="9525000" y="5212080"/>
              <a:ext cx="457200" cy="108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3"/>
              <a:endCxn id="10" idx="1"/>
            </p:cNvCxnSpPr>
            <p:nvPr/>
          </p:nvCxnSpPr>
          <p:spPr>
            <a:xfrm flipV="1">
              <a:off x="9525000" y="4594860"/>
              <a:ext cx="457200" cy="12192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11" idx="1"/>
            </p:cNvCxnSpPr>
            <p:nvPr/>
          </p:nvCxnSpPr>
          <p:spPr>
            <a:xfrm flipV="1">
              <a:off x="9525000" y="5212080"/>
              <a:ext cx="457200" cy="6019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  <a:endCxn id="12" idx="1"/>
            </p:cNvCxnSpPr>
            <p:nvPr/>
          </p:nvCxnSpPr>
          <p:spPr>
            <a:xfrm>
              <a:off x="9525000" y="5814060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8528082" y="3934581"/>
              <a:ext cx="7746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Users</a:t>
              </a:r>
              <a:endParaRPr lang="en-US" sz="20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213172" y="3934581"/>
              <a:ext cx="757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 smtClean="0"/>
                <a:t>Roles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585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69909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Authentication Database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0867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Database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5" y="1276350"/>
            <a:ext cx="6467475" cy="207645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76350"/>
            <a:ext cx="2809875" cy="166687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cxnSp>
        <p:nvCxnSpPr>
          <p:cNvPr id="8" name="Elbow Connector 7"/>
          <p:cNvCxnSpPr>
            <a:stCxn id="7" idx="1"/>
            <a:endCxn id="5" idx="2"/>
          </p:cNvCxnSpPr>
          <p:nvPr/>
        </p:nvCxnSpPr>
        <p:spPr>
          <a:xfrm rot="10800000">
            <a:off x="2014539" y="2943225"/>
            <a:ext cx="906259" cy="2269424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7" idx="3"/>
            <a:endCxn id="4" idx="2"/>
          </p:cNvCxnSpPr>
          <p:nvPr/>
        </p:nvCxnSpPr>
        <p:spPr>
          <a:xfrm flipV="1">
            <a:off x="6321222" y="3352800"/>
            <a:ext cx="2027441" cy="1859849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8686800" y="4286250"/>
            <a:ext cx="2895600" cy="2362200"/>
            <a:chOff x="8305800" y="3886200"/>
            <a:chExt cx="2895600" cy="2362200"/>
          </a:xfrm>
        </p:grpSpPr>
        <p:sp>
          <p:nvSpPr>
            <p:cNvPr id="34" name="Rounded Rectangle 33"/>
            <p:cNvSpPr/>
            <p:nvPr/>
          </p:nvSpPr>
          <p:spPr>
            <a:xfrm>
              <a:off x="8305800" y="3886200"/>
              <a:ext cx="2895600" cy="2362200"/>
            </a:xfrm>
            <a:prstGeom prst="roundRect">
              <a:avLst>
                <a:gd name="adj" fmla="val 5873"/>
              </a:avLst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528082" y="440436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user1</a:t>
              </a:r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28082" y="5022669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user2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28082" y="562356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user3</a:t>
              </a:r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982200" y="440436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GUEST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982200" y="502158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</a:t>
              </a: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982200" y="562356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ADMIN</a:t>
              </a:r>
              <a:endParaRPr lang="en-US" dirty="0"/>
            </a:p>
          </p:txBody>
        </p:sp>
        <p:cxnSp>
          <p:nvCxnSpPr>
            <p:cNvPr id="41" name="Straight Arrow Connector 40"/>
            <p:cNvCxnSpPr>
              <a:stCxn id="35" idx="3"/>
              <a:endCxn id="38" idx="1"/>
            </p:cNvCxnSpPr>
            <p:nvPr/>
          </p:nvCxnSpPr>
          <p:spPr>
            <a:xfrm>
              <a:off x="9525000" y="4594860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6" idx="3"/>
              <a:endCxn id="38" idx="1"/>
            </p:cNvCxnSpPr>
            <p:nvPr/>
          </p:nvCxnSpPr>
          <p:spPr>
            <a:xfrm flipV="1">
              <a:off x="9525000" y="4594860"/>
              <a:ext cx="457200" cy="61830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6" idx="3"/>
              <a:endCxn id="39" idx="1"/>
            </p:cNvCxnSpPr>
            <p:nvPr/>
          </p:nvCxnSpPr>
          <p:spPr>
            <a:xfrm flipV="1">
              <a:off x="9525000" y="5212080"/>
              <a:ext cx="457200" cy="108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7" idx="3"/>
              <a:endCxn id="38" idx="1"/>
            </p:cNvCxnSpPr>
            <p:nvPr/>
          </p:nvCxnSpPr>
          <p:spPr>
            <a:xfrm flipV="1">
              <a:off x="9525000" y="4594860"/>
              <a:ext cx="457200" cy="12192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endCxn id="39" idx="1"/>
            </p:cNvCxnSpPr>
            <p:nvPr/>
          </p:nvCxnSpPr>
          <p:spPr>
            <a:xfrm flipV="1">
              <a:off x="9525000" y="5212080"/>
              <a:ext cx="457200" cy="6019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37" idx="3"/>
              <a:endCxn id="40" idx="1"/>
            </p:cNvCxnSpPr>
            <p:nvPr/>
          </p:nvCxnSpPr>
          <p:spPr>
            <a:xfrm>
              <a:off x="9525000" y="5814060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8528082" y="3934581"/>
              <a:ext cx="7746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Users</a:t>
              </a:r>
              <a:endParaRPr lang="en-US" sz="20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213172" y="3934581"/>
              <a:ext cx="757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 smtClean="0"/>
                <a:t>Roles</a:t>
              </a:r>
              <a:endParaRPr lang="en-US" sz="2000" b="1" dirty="0"/>
            </a:p>
          </p:txBody>
        </p:sp>
      </p:grpSp>
      <p:sp>
        <p:nvSpPr>
          <p:cNvPr id="50" name="Left-Right Arrow 49"/>
          <p:cNvSpPr/>
          <p:nvPr/>
        </p:nvSpPr>
        <p:spPr>
          <a:xfrm>
            <a:off x="6543504" y="5781294"/>
            <a:ext cx="1981200" cy="484632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599" y="814685"/>
            <a:ext cx="871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Roles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9685" y="814685"/>
            <a:ext cx="1566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Employees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19400" y="3284134"/>
            <a:ext cx="2129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EmployeeRoles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797" y="3745799"/>
            <a:ext cx="3400425" cy="293370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2225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3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Database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00651"/>
            <a:ext cx="10972800" cy="507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7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Database Manager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1524000"/>
            <a:ext cx="22098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&lt;&lt;Interface&gt;&gt;</a:t>
            </a:r>
          </a:p>
          <a:p>
            <a:pPr algn="ctr"/>
            <a:r>
              <a:rPr lang="en-US" sz="2000" b="1" dirty="0" err="1" smtClean="0">
                <a:solidFill>
                  <a:schemeClr val="bg1"/>
                </a:solidFill>
              </a:rPr>
              <a:t>EmployeeDAO</a:t>
            </a:r>
            <a:endParaRPr lang="en-US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933700"/>
            <a:ext cx="22098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&lt;&lt;Interface&gt;&gt;</a:t>
            </a:r>
          </a:p>
          <a:p>
            <a:pPr algn="ctr"/>
            <a:r>
              <a:rPr lang="en-US" sz="2000" b="1" dirty="0" err="1" smtClean="0">
                <a:solidFill>
                  <a:schemeClr val="bg1"/>
                </a:solidFill>
              </a:rPr>
              <a:t>EmployeeRoleDAO</a:t>
            </a:r>
            <a:endParaRPr lang="en-US" sz="2000" b="1" dirty="0" smtClean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4343400"/>
            <a:ext cx="22098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&lt;&lt;Interface&gt;&gt;</a:t>
            </a:r>
          </a:p>
          <a:p>
            <a:pPr algn="ctr"/>
            <a:r>
              <a:rPr lang="en-US" sz="2000" b="1" dirty="0" err="1" smtClean="0">
                <a:solidFill>
                  <a:schemeClr val="bg1"/>
                </a:solidFill>
              </a:rPr>
              <a:t>RoleDAO</a:t>
            </a:r>
            <a:endParaRPr lang="en-US" sz="2000" b="1" dirty="0" smtClean="0">
              <a:solidFill>
                <a:schemeClr val="bg1"/>
              </a:solidFill>
            </a:endParaRPr>
          </a:p>
        </p:txBody>
      </p:sp>
      <p:sp>
        <p:nvSpPr>
          <p:cNvPr id="8" name="Can 7"/>
          <p:cNvSpPr/>
          <p:nvPr/>
        </p:nvSpPr>
        <p:spPr>
          <a:xfrm>
            <a:off x="9601200" y="2667000"/>
            <a:ext cx="1905000" cy="1447800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Authentication Database</a:t>
            </a:r>
            <a:endParaRPr lang="en-US" dirty="0"/>
          </a:p>
        </p:txBody>
      </p:sp>
      <p:cxnSp>
        <p:nvCxnSpPr>
          <p:cNvPr id="16" name="Elbow Connector 15"/>
          <p:cNvCxnSpPr>
            <a:stCxn id="24" idx="3"/>
            <a:endCxn id="8" idx="2"/>
          </p:cNvCxnSpPr>
          <p:nvPr/>
        </p:nvCxnSpPr>
        <p:spPr>
          <a:xfrm>
            <a:off x="7315200" y="1981200"/>
            <a:ext cx="2286000" cy="1409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26" idx="3"/>
            <a:endCxn id="8" idx="2"/>
          </p:cNvCxnSpPr>
          <p:nvPr/>
        </p:nvCxnSpPr>
        <p:spPr>
          <a:xfrm flipV="1">
            <a:off x="7315200" y="3390900"/>
            <a:ext cx="2286000" cy="1409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05400" y="15240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00FF"/>
                </a:solidFill>
              </a:rPr>
              <a:t>@Entity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5400" y="29337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00FF"/>
                </a:solidFill>
              </a:rPr>
              <a:t>@Entity</a:t>
            </a:r>
          </a:p>
          <a:p>
            <a:pPr algn="ctr"/>
            <a:r>
              <a:rPr lang="en-US" sz="2000" b="1" dirty="0" err="1" smtClean="0">
                <a:solidFill>
                  <a:schemeClr val="tx1"/>
                </a:solidFill>
              </a:rPr>
              <a:t>EmployeeRole</a:t>
            </a:r>
            <a:endParaRPr lang="en-US" sz="2000" b="1" dirty="0" smtClean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05400" y="43434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00FF"/>
                </a:solidFill>
              </a:rPr>
              <a:t>@Entity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Role</a:t>
            </a:r>
          </a:p>
        </p:txBody>
      </p:sp>
      <p:cxnSp>
        <p:nvCxnSpPr>
          <p:cNvPr id="12" name="Straight Arrow Connector 11"/>
          <p:cNvCxnSpPr>
            <a:stCxn id="25" idx="2"/>
            <a:endCxn id="26" idx="0"/>
          </p:cNvCxnSpPr>
          <p:nvPr/>
        </p:nvCxnSpPr>
        <p:spPr>
          <a:xfrm>
            <a:off x="6210300" y="384810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5" idx="0"/>
            <a:endCxn id="24" idx="2"/>
          </p:cNvCxnSpPr>
          <p:nvPr/>
        </p:nvCxnSpPr>
        <p:spPr>
          <a:xfrm flipV="1">
            <a:off x="6210300" y="243840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3"/>
            <a:endCxn id="24" idx="1"/>
          </p:cNvCxnSpPr>
          <p:nvPr/>
        </p:nvCxnSpPr>
        <p:spPr>
          <a:xfrm>
            <a:off x="2895600" y="1981200"/>
            <a:ext cx="2209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3"/>
            <a:endCxn id="25" idx="1"/>
          </p:cNvCxnSpPr>
          <p:nvPr/>
        </p:nvCxnSpPr>
        <p:spPr>
          <a:xfrm>
            <a:off x="2895600" y="3390900"/>
            <a:ext cx="2209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7" idx="3"/>
            <a:endCxn id="26" idx="1"/>
          </p:cNvCxnSpPr>
          <p:nvPr/>
        </p:nvCxnSpPr>
        <p:spPr>
          <a:xfrm>
            <a:off x="2895600" y="4800600"/>
            <a:ext cx="2209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25" idx="3"/>
          </p:cNvCxnSpPr>
          <p:nvPr/>
        </p:nvCxnSpPr>
        <p:spPr>
          <a:xfrm flipH="1">
            <a:off x="7315200" y="3390900"/>
            <a:ext cx="2286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1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79562"/>
            <a:ext cx="4410075" cy="327660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9562"/>
            <a:ext cx="4086225" cy="278130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cxnSp>
        <p:nvCxnSpPr>
          <p:cNvPr id="7" name="Elbow Connector 6"/>
          <p:cNvCxnSpPr>
            <a:stCxn id="2" idx="1"/>
            <a:endCxn id="5" idx="2"/>
          </p:cNvCxnSpPr>
          <p:nvPr/>
        </p:nvCxnSpPr>
        <p:spPr>
          <a:xfrm rot="10800000">
            <a:off x="2195514" y="2860862"/>
            <a:ext cx="490537" cy="2088216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2" idx="3"/>
            <a:endCxn id="4" idx="2"/>
          </p:cNvCxnSpPr>
          <p:nvPr/>
        </p:nvCxnSpPr>
        <p:spPr>
          <a:xfrm flipV="1">
            <a:off x="8763000" y="3356162"/>
            <a:ext cx="1062038" cy="1592916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3120278"/>
            <a:ext cx="6076950" cy="365760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533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DAO Class Diagram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2590800"/>
            <a:ext cx="2488579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cap="small" dirty="0"/>
              <a:t>&lt;&lt;Interface</a:t>
            </a:r>
            <a:r>
              <a:rPr lang="en-US" cap="small" dirty="0" smtClean="0"/>
              <a:t>&gt;&gt;</a:t>
            </a:r>
            <a:endParaRPr lang="en-US" b="1" cap="small" dirty="0" smtClean="0"/>
          </a:p>
          <a:p>
            <a:pPr algn="ctr"/>
            <a:r>
              <a:rPr lang="en-US" sz="2400" b="1" cap="small" dirty="0" err="1" smtClean="0">
                <a:solidFill>
                  <a:srgbClr val="0000FF"/>
                </a:solidFill>
              </a:rPr>
              <a:t>EmployeeDAO</a:t>
            </a:r>
            <a:endParaRPr lang="en-US" sz="2400" b="1" cap="small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07345" y="2590800"/>
            <a:ext cx="2522655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cap="small" dirty="0"/>
              <a:t>&lt;&lt;Interface&gt;&gt;</a:t>
            </a:r>
          </a:p>
          <a:p>
            <a:pPr algn="ctr"/>
            <a:r>
              <a:rPr lang="en-US" sz="2400" b="1" cap="small" dirty="0" err="1" smtClean="0">
                <a:solidFill>
                  <a:srgbClr val="0000FF"/>
                </a:solidFill>
              </a:rPr>
              <a:t>RoleDAO</a:t>
            </a:r>
            <a:endParaRPr lang="en-US" sz="2400" b="1" cap="small" dirty="0">
              <a:solidFill>
                <a:srgbClr val="0000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125" y="2590800"/>
            <a:ext cx="2459152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cap="small" dirty="0"/>
              <a:t>&lt;&lt;Interface&gt;&gt;</a:t>
            </a:r>
          </a:p>
          <a:p>
            <a:pPr algn="ctr"/>
            <a:r>
              <a:rPr lang="en-US" sz="2400" b="1" cap="small" dirty="0" err="1" smtClean="0">
                <a:solidFill>
                  <a:srgbClr val="0000FF"/>
                </a:solidFill>
              </a:rPr>
              <a:t>EmployeeRoleDAO</a:t>
            </a:r>
            <a:endParaRPr lang="en-US" sz="2400" b="1" cap="small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68952" y="1143000"/>
            <a:ext cx="287484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cap="small" dirty="0" smtClean="0"/>
              <a:t>&lt;&lt;Interface&gt;&gt;</a:t>
            </a:r>
          </a:p>
          <a:p>
            <a:pPr algn="ctr"/>
            <a:r>
              <a:rPr lang="en-US" sz="2400" b="1" cap="small" dirty="0" err="1" smtClean="0"/>
              <a:t>JpaRepository</a:t>
            </a:r>
            <a:r>
              <a:rPr lang="en-US" sz="2400" b="1" cap="small" dirty="0" smtClean="0"/>
              <a:t>&lt;E, K&gt;</a:t>
            </a:r>
            <a:endParaRPr lang="en-US" sz="2400" b="1" cap="small" dirty="0"/>
          </a:p>
        </p:txBody>
      </p:sp>
      <p:cxnSp>
        <p:nvCxnSpPr>
          <p:cNvPr id="12" name="Elbow Connector 11"/>
          <p:cNvCxnSpPr>
            <a:stCxn id="4" idx="0"/>
            <a:endCxn id="10" idx="2"/>
          </p:cNvCxnSpPr>
          <p:nvPr/>
        </p:nvCxnSpPr>
        <p:spPr>
          <a:xfrm rot="5400000" flipH="1" flipV="1">
            <a:off x="3713433" y="197857"/>
            <a:ext cx="685800" cy="41000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0"/>
            <a:endCxn id="10" idx="2"/>
          </p:cNvCxnSpPr>
          <p:nvPr/>
        </p:nvCxnSpPr>
        <p:spPr>
          <a:xfrm rot="16200000" flipV="1">
            <a:off x="5764639" y="2246737"/>
            <a:ext cx="685800" cy="23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0"/>
            <a:endCxn id="10" idx="2"/>
          </p:cNvCxnSpPr>
          <p:nvPr/>
        </p:nvCxnSpPr>
        <p:spPr>
          <a:xfrm rot="16200000" flipV="1">
            <a:off x="7794625" y="216751"/>
            <a:ext cx="685800" cy="40622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6" y="4071440"/>
            <a:ext cx="10949124" cy="210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1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om.xml &amp; </a:t>
            </a:r>
            <a:r>
              <a:rPr lang="en-US" dirty="0" err="1" smtClean="0"/>
              <a:t>application.properties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55" y="958193"/>
            <a:ext cx="6446345" cy="30042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447" y="4194947"/>
            <a:ext cx="9144000" cy="23735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150664" y="218567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pom.xml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-679308" y="5150907"/>
            <a:ext cx="2939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</a:rPr>
              <a:t>application.properties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0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Permission Management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354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9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06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71118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Authentication Manager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4719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715000" y="1295400"/>
            <a:ext cx="5791200" cy="419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2286000" y="2514600"/>
            <a:ext cx="751386" cy="2590800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User from database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1" y="1524000"/>
            <a:ext cx="3636372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&lt;&lt;Interface&gt;&gt;</a:t>
            </a:r>
          </a:p>
          <a:p>
            <a:pPr algn="ctr"/>
            <a:r>
              <a:rPr lang="en-US" sz="2000" b="1" dirty="0" err="1" smtClean="0">
                <a:solidFill>
                  <a:schemeClr val="bg1"/>
                </a:solidFill>
              </a:rPr>
              <a:t>EmployeeDAO</a:t>
            </a:r>
            <a:endParaRPr lang="en-US" sz="2000" b="1" dirty="0" smtClean="0">
              <a:solidFill>
                <a:schemeClr val="bg1"/>
              </a:solidFill>
            </a:endParaRPr>
          </a:p>
        </p:txBody>
      </p:sp>
      <p:sp>
        <p:nvSpPr>
          <p:cNvPr id="8" name="Can 7"/>
          <p:cNvSpPr/>
          <p:nvPr/>
        </p:nvSpPr>
        <p:spPr>
          <a:xfrm>
            <a:off x="9372600" y="2667000"/>
            <a:ext cx="1905000" cy="1447800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Authentication Database</a:t>
            </a:r>
            <a:endParaRPr lang="en-US" dirty="0"/>
          </a:p>
        </p:txBody>
      </p:sp>
      <p:cxnSp>
        <p:nvCxnSpPr>
          <p:cNvPr id="16" name="Elbow Connector 15"/>
          <p:cNvCxnSpPr>
            <a:stCxn id="24" idx="3"/>
            <a:endCxn id="8" idx="2"/>
          </p:cNvCxnSpPr>
          <p:nvPr/>
        </p:nvCxnSpPr>
        <p:spPr>
          <a:xfrm>
            <a:off x="8229600" y="1981200"/>
            <a:ext cx="1143000" cy="1409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26" idx="3"/>
            <a:endCxn id="8" idx="2"/>
          </p:cNvCxnSpPr>
          <p:nvPr/>
        </p:nvCxnSpPr>
        <p:spPr>
          <a:xfrm flipV="1">
            <a:off x="8229600" y="3390900"/>
            <a:ext cx="1143000" cy="1409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19800" y="15240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@Entity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9800" y="29337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@Entity</a:t>
            </a:r>
          </a:p>
          <a:p>
            <a:pPr algn="ctr"/>
            <a:r>
              <a:rPr lang="en-US" sz="2000" b="1" dirty="0" err="1" smtClean="0">
                <a:solidFill>
                  <a:schemeClr val="tx1"/>
                </a:solidFill>
              </a:rPr>
              <a:t>EmployeeRole</a:t>
            </a:r>
            <a:endParaRPr lang="en-US" sz="2000" b="1" dirty="0" smtClean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19800" y="4343400"/>
            <a:ext cx="2209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@Entity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Role</a:t>
            </a:r>
          </a:p>
        </p:txBody>
      </p:sp>
      <p:cxnSp>
        <p:nvCxnSpPr>
          <p:cNvPr id="12" name="Straight Arrow Connector 11"/>
          <p:cNvCxnSpPr>
            <a:stCxn id="25" idx="2"/>
            <a:endCxn id="26" idx="0"/>
          </p:cNvCxnSpPr>
          <p:nvPr/>
        </p:nvCxnSpPr>
        <p:spPr>
          <a:xfrm>
            <a:off x="7124700" y="384810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5" idx="0"/>
            <a:endCxn id="24" idx="2"/>
          </p:cNvCxnSpPr>
          <p:nvPr/>
        </p:nvCxnSpPr>
        <p:spPr>
          <a:xfrm flipV="1">
            <a:off x="7124700" y="243840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3"/>
            <a:endCxn id="24" idx="1"/>
          </p:cNvCxnSpPr>
          <p:nvPr/>
        </p:nvCxnSpPr>
        <p:spPr>
          <a:xfrm>
            <a:off x="4550773" y="1981200"/>
            <a:ext cx="14690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25" idx="3"/>
          </p:cNvCxnSpPr>
          <p:nvPr/>
        </p:nvCxnSpPr>
        <p:spPr>
          <a:xfrm flipH="1">
            <a:off x="8229600" y="3390900"/>
            <a:ext cx="1143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14400" y="5105400"/>
            <a:ext cx="3636373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chemeClr val="bg1"/>
                </a:solidFill>
              </a:rPr>
              <a:t>AuthenticationManagerBuilder</a:t>
            </a:r>
            <a:endParaRPr lang="en-US" sz="2000" b="1" dirty="0" smtClean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3048000"/>
            <a:ext cx="3636373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(username) -&gt;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UserDetails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749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User from </a:t>
            </a:r>
            <a:r>
              <a:rPr lang="en-US" dirty="0" smtClean="0"/>
              <a:t>database Implementation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2100"/>
            <a:ext cx="10972800" cy="3086100"/>
          </a:xfrm>
          <a:prstGeom prst="rect">
            <a:avLst/>
          </a:prstGeom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04875"/>
            <a:ext cx="10972800" cy="55996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04098"/>
            <a:ext cx="2418957" cy="6587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2" y="2870921"/>
            <a:ext cx="7462739" cy="166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4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046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67446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OAuth2 Authentication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47614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OAuth2 Case Study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19400" y="2057400"/>
            <a:ext cx="67056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48000" y="2286000"/>
            <a:ext cx="3657600" cy="231375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76600" y="2514600"/>
            <a:ext cx="3200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Username?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76600" y="3128554"/>
            <a:ext cx="3200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Password?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76600" y="3727268"/>
            <a:ext cx="228600" cy="2351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638800" y="4038600"/>
            <a:ext cx="838200" cy="35759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Login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934200" y="2286000"/>
            <a:ext cx="2362200" cy="231375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62800" y="2560320"/>
            <a:ext cx="1905000" cy="732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7162800" y="3604651"/>
            <a:ext cx="1905000" cy="732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31326" y="3648585"/>
            <a:ext cx="168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Remember me?</a:t>
            </a:r>
            <a:endParaRPr lang="en-US" dirty="0"/>
          </a:p>
        </p:txBody>
      </p:sp>
      <p:pic>
        <p:nvPicPr>
          <p:cNvPr id="1026" name="Picture 2" descr="Google logo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707212"/>
            <a:ext cx="1463653" cy="49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ject Partners | Define the Line - McGill Universit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143" y="3756212"/>
            <a:ext cx="1776351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5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OAuth?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1" y="2133600"/>
            <a:ext cx="7086599" cy="3352800"/>
          </a:xfrm>
        </p:spPr>
        <p:txBody>
          <a:bodyPr>
            <a:normAutofit/>
          </a:bodyPr>
          <a:lstStyle/>
          <a:p>
            <a:pPr algn="just"/>
            <a:r>
              <a:rPr lang="vi-VN" b="1" i="1" dirty="0"/>
              <a:t>OAuth</a:t>
            </a:r>
            <a:r>
              <a:rPr lang="vi-VN" i="1" dirty="0"/>
              <a:t> </a:t>
            </a:r>
            <a:r>
              <a:rPr lang="vi-VN" i="1" dirty="0" smtClean="0"/>
              <a:t>(</a:t>
            </a:r>
            <a:r>
              <a:rPr lang="en-US" i="1" dirty="0" smtClean="0"/>
              <a:t>Open Authorization</a:t>
            </a:r>
            <a:r>
              <a:rPr lang="vi-VN" i="1" dirty="0" smtClean="0"/>
              <a:t>) </a:t>
            </a:r>
            <a:r>
              <a:rPr lang="vi-VN" i="1" dirty="0"/>
              <a:t>là một </a:t>
            </a:r>
            <a:r>
              <a:rPr lang="en-US" i="1" dirty="0" smtClean="0"/>
              <a:t>framework </a:t>
            </a:r>
            <a:r>
              <a:rPr lang="vi-VN" i="1" dirty="0" smtClean="0"/>
              <a:t>ủy </a:t>
            </a:r>
            <a:r>
              <a:rPr lang="vi-VN" i="1" dirty="0"/>
              <a:t>quyền </a:t>
            </a:r>
            <a:r>
              <a:rPr lang="vi-VN" i="1" dirty="0" smtClean="0"/>
              <a:t>chuẩn </a:t>
            </a:r>
            <a:r>
              <a:rPr lang="vi-VN" i="1" dirty="0"/>
              <a:t>mở </a:t>
            </a:r>
            <a:r>
              <a:rPr lang="vi-VN" i="1" dirty="0" smtClean="0"/>
              <a:t>dựa </a:t>
            </a:r>
            <a:r>
              <a:rPr lang="vi-VN" i="1" dirty="0"/>
              <a:t>trên </a:t>
            </a:r>
            <a:r>
              <a:rPr lang="en-US" i="1" dirty="0" err="1" smtClean="0"/>
              <a:t>nền</a:t>
            </a:r>
            <a:r>
              <a:rPr lang="en-US" i="1" dirty="0" smtClean="0"/>
              <a:t> </a:t>
            </a:r>
            <a:r>
              <a:rPr lang="en-US" i="1" dirty="0" err="1" smtClean="0"/>
              <a:t>tảng</a:t>
            </a:r>
            <a:r>
              <a:rPr lang="vi-VN" i="1" dirty="0" smtClean="0"/>
              <a:t> </a:t>
            </a:r>
            <a:r>
              <a:rPr lang="vi-VN" i="1" dirty="0"/>
              <a:t>internet. </a:t>
            </a:r>
            <a:endParaRPr lang="en-US" i="1" dirty="0" smtClean="0"/>
          </a:p>
          <a:p>
            <a:pPr algn="just"/>
            <a:r>
              <a:rPr lang="vi-VN" b="1" i="1" dirty="0" smtClean="0"/>
              <a:t>O</a:t>
            </a:r>
            <a:r>
              <a:rPr lang="en-US" b="1" i="1" dirty="0" smtClean="0"/>
              <a:t>A</a:t>
            </a:r>
            <a:r>
              <a:rPr lang="vi-VN" b="1" i="1" dirty="0" smtClean="0"/>
              <a:t>uth</a:t>
            </a:r>
            <a:r>
              <a:rPr lang="en-US" b="1" i="1" dirty="0" smtClean="0"/>
              <a:t> </a:t>
            </a:r>
            <a:r>
              <a:rPr lang="en-US" i="1" dirty="0" smtClean="0"/>
              <a:t>(</a:t>
            </a:r>
            <a:r>
              <a:rPr lang="vi-VN" i="1" dirty="0" smtClean="0"/>
              <a:t>phát </a:t>
            </a:r>
            <a:r>
              <a:rPr lang="vi-VN" i="1" dirty="0"/>
              <a:t>âm là "</a:t>
            </a:r>
            <a:r>
              <a:rPr lang="vi-VN" i="1" dirty="0" smtClean="0"/>
              <a:t>oh-auth“</a:t>
            </a:r>
            <a:r>
              <a:rPr lang="en-US" i="1" dirty="0" smtClean="0"/>
              <a:t>)</a:t>
            </a:r>
            <a:r>
              <a:rPr lang="vi-VN" i="1" dirty="0" smtClean="0"/>
              <a:t> </a:t>
            </a:r>
            <a:r>
              <a:rPr lang="vi-VN" i="1" dirty="0"/>
              <a:t>cho phép các dịch vụ của bên thứ </a:t>
            </a:r>
            <a:r>
              <a:rPr lang="vi-VN" i="1" dirty="0" smtClean="0"/>
              <a:t>ba</a:t>
            </a:r>
            <a:r>
              <a:rPr lang="en-US" i="1" dirty="0" smtClean="0"/>
              <a:t> </a:t>
            </a:r>
            <a:r>
              <a:rPr lang="vi-VN" i="1" dirty="0" smtClean="0"/>
              <a:t>như </a:t>
            </a:r>
            <a:r>
              <a:rPr lang="vi-VN" i="1" dirty="0"/>
              <a:t>Facebook và </a:t>
            </a:r>
            <a:r>
              <a:rPr lang="vi-VN" i="1" dirty="0" smtClean="0"/>
              <a:t>Google</a:t>
            </a:r>
            <a:r>
              <a:rPr lang="en-US" i="1" dirty="0" smtClean="0"/>
              <a:t>…</a:t>
            </a:r>
            <a:r>
              <a:rPr lang="vi-VN" i="1" dirty="0" smtClean="0"/>
              <a:t>, </a:t>
            </a:r>
            <a:r>
              <a:rPr lang="en-US" i="1" dirty="0" err="1" smtClean="0"/>
              <a:t>cung</a:t>
            </a:r>
            <a:r>
              <a:rPr lang="en-US" i="1" dirty="0" smtClean="0"/>
              <a:t> </a:t>
            </a:r>
            <a:r>
              <a:rPr lang="en-US" i="1" dirty="0" err="1" smtClean="0"/>
              <a:t>cấp</a:t>
            </a:r>
            <a:r>
              <a:rPr lang="en-US" i="1" dirty="0" smtClean="0"/>
              <a:t> </a:t>
            </a:r>
            <a:r>
              <a:rPr lang="vi-VN" i="1" dirty="0" smtClean="0"/>
              <a:t>thông </a:t>
            </a:r>
            <a:r>
              <a:rPr lang="vi-VN" i="1" dirty="0"/>
              <a:t>tin tài khoản của người </a:t>
            </a:r>
            <a:r>
              <a:rPr lang="en-US" i="1" dirty="0" err="1" smtClean="0"/>
              <a:t>sử</a:t>
            </a:r>
            <a:r>
              <a:rPr lang="en-US" i="1" dirty="0" smtClean="0"/>
              <a:t> </a:t>
            </a:r>
            <a:r>
              <a:rPr lang="en-US" i="1" dirty="0" err="1" smtClean="0"/>
              <a:t>dụng</a:t>
            </a:r>
            <a:r>
              <a:rPr lang="vi-VN" i="1" dirty="0" smtClean="0"/>
              <a:t> </a:t>
            </a:r>
            <a:r>
              <a:rPr lang="en-US" i="1" dirty="0" smtClean="0"/>
              <a:t>m</a:t>
            </a:r>
            <a:r>
              <a:rPr lang="vi-VN" i="1" dirty="0" smtClean="0"/>
              <a:t>à </a:t>
            </a:r>
            <a:r>
              <a:rPr lang="vi-VN" i="1" dirty="0"/>
              <a:t>không để </a:t>
            </a:r>
            <a:r>
              <a:rPr lang="vi-VN" i="1" dirty="0" smtClean="0"/>
              <a:t>lộ. </a:t>
            </a:r>
            <a:endParaRPr lang="en-US" i="1" dirty="0" smtClean="0"/>
          </a:p>
        </p:txBody>
      </p:sp>
      <p:pic>
        <p:nvPicPr>
          <p:cNvPr id="1026" name="Picture 2" descr="AddTh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1966002"/>
            <a:ext cx="3581400" cy="355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94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508863" y="1600200"/>
            <a:ext cx="2743200" cy="3352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839200" y="1600200"/>
            <a:ext cx="2743200" cy="3352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Oauth</a:t>
            </a:r>
            <a:r>
              <a:rPr lang="en-US" dirty="0" smtClean="0"/>
              <a:t> Application Model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29200" y="2590800"/>
            <a:ext cx="167640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Security Web App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9453154" y="2438400"/>
            <a:ext cx="1676400" cy="6226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Google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9453154" y="3270068"/>
            <a:ext cx="1676400" cy="6226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Facebook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659674" y="2362200"/>
            <a:ext cx="2464526" cy="1371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cap="small" dirty="0" smtClean="0"/>
              <a:t>Web Browser</a:t>
            </a:r>
            <a:endParaRPr lang="en-US" sz="2600" b="1" cap="small" dirty="0"/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6705600" y="2749732"/>
            <a:ext cx="2747554" cy="2982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Magnetic Disk 12"/>
          <p:cNvSpPr/>
          <p:nvPr/>
        </p:nvSpPr>
        <p:spPr>
          <a:xfrm>
            <a:off x="5410200" y="4003766"/>
            <a:ext cx="914400" cy="612648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4" idx="2"/>
            <a:endCxn id="13" idx="1"/>
          </p:cNvCxnSpPr>
          <p:nvPr/>
        </p:nvCxnSpPr>
        <p:spPr>
          <a:xfrm>
            <a:off x="5867400" y="3505200"/>
            <a:ext cx="0" cy="4985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69652" y="1676400"/>
            <a:ext cx="159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cap="small" dirty="0" smtClean="0">
                <a:solidFill>
                  <a:srgbClr val="FF0000"/>
                </a:solidFill>
              </a:rPr>
              <a:t>Web Server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47345" y="1676400"/>
            <a:ext cx="2526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cap="small" dirty="0" smtClean="0">
                <a:solidFill>
                  <a:srgbClr val="FF0000"/>
                </a:solidFill>
              </a:rPr>
              <a:t>Third-party Service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>
            <a:stCxn id="4" idx="3"/>
            <a:endCxn id="6" idx="1"/>
          </p:cNvCxnSpPr>
          <p:nvPr/>
        </p:nvCxnSpPr>
        <p:spPr>
          <a:xfrm>
            <a:off x="6705600" y="3048000"/>
            <a:ext cx="2747554" cy="533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453154" y="4097382"/>
            <a:ext cx="1676400" cy="6226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Twister</a:t>
            </a:r>
            <a:endParaRPr lang="en-US" sz="2400" b="1" dirty="0"/>
          </a:p>
        </p:txBody>
      </p:sp>
      <p:cxnSp>
        <p:nvCxnSpPr>
          <p:cNvPr id="33" name="Straight Arrow Connector 32"/>
          <p:cNvCxnSpPr>
            <a:stCxn id="4" idx="3"/>
            <a:endCxn id="32" idx="1"/>
          </p:cNvCxnSpPr>
          <p:nvPr/>
        </p:nvCxnSpPr>
        <p:spPr>
          <a:xfrm>
            <a:off x="6705600" y="3048000"/>
            <a:ext cx="2747554" cy="13607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3"/>
            <a:endCxn id="4" idx="1"/>
          </p:cNvCxnSpPr>
          <p:nvPr/>
        </p:nvCxnSpPr>
        <p:spPr>
          <a:xfrm>
            <a:off x="3124200" y="3048000"/>
            <a:ext cx="1905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16200000">
            <a:off x="7067847" y="3060544"/>
            <a:ext cx="21711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Authorization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210" y="5557240"/>
            <a:ext cx="109865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đăng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ký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xã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hội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lấy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bí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mật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2400" i="1" dirty="0" smtClean="0">
                <a:solidFill>
                  <a:srgbClr val="FF33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app-id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smtClean="0">
                <a:solidFill>
                  <a:srgbClr val="FF33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secret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 Application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24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endParaRPr lang="en-US" sz="2400" i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3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 animBg="1"/>
      <p:bldP spid="4" grpId="0" animBg="1"/>
      <p:bldP spid="5" grpId="0" animBg="1"/>
      <p:bldP spid="6" grpId="0" animBg="1"/>
      <p:bldP spid="7" grpId="0" animBg="1"/>
      <p:bldP spid="13" grpId="0" animBg="1"/>
      <p:bldP spid="19" grpId="0"/>
      <p:bldP spid="20" grpId="0"/>
      <p:bldP spid="32" grpId="0" animBg="1"/>
      <p:bldP spid="38" grpId="0" animBg="1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loud 76"/>
          <p:cNvSpPr/>
          <p:nvPr/>
        </p:nvSpPr>
        <p:spPr>
          <a:xfrm>
            <a:off x="7543800" y="1416422"/>
            <a:ext cx="3905250" cy="3688978"/>
          </a:xfrm>
          <a:prstGeom prst="cloud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62000" y="1416422"/>
            <a:ext cx="6146801" cy="43747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Oauth</a:t>
            </a:r>
            <a:r>
              <a:rPr lang="en-US" dirty="0" smtClean="0"/>
              <a:t> Communication Flow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3058" y="1591236"/>
            <a:ext cx="1536698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@Secure </a:t>
            </a:r>
            <a:r>
              <a:rPr lang="en-US" b="1" cap="small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Url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84105" y="2531038"/>
            <a:ext cx="1536699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LOGIN Links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04306" y="2272554"/>
            <a:ext cx="1527082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LOGIN PAGE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84106" y="5100919"/>
            <a:ext cx="1536698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Success()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4" name="Straight Arrow Connector 13"/>
          <p:cNvCxnSpPr>
            <a:stCxn id="6" idx="2"/>
            <a:endCxn id="65" idx="0"/>
          </p:cNvCxnSpPr>
          <p:nvPr/>
        </p:nvCxnSpPr>
        <p:spPr>
          <a:xfrm>
            <a:off x="9467847" y="2756646"/>
            <a:ext cx="0" cy="649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9" idx="3"/>
            <a:endCxn id="6" idx="3"/>
          </p:cNvCxnSpPr>
          <p:nvPr/>
        </p:nvCxnSpPr>
        <p:spPr>
          <a:xfrm flipV="1">
            <a:off x="9726564" y="2514600"/>
            <a:ext cx="504824" cy="1703294"/>
          </a:xfrm>
          <a:prstGeom prst="bentConnector3">
            <a:avLst>
              <a:gd name="adj1" fmla="val 145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062538" y="5096437"/>
            <a:ext cx="1536698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63058" y="5100919"/>
            <a:ext cx="1536698" cy="48409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Elbow Connector 34"/>
          <p:cNvCxnSpPr>
            <a:stCxn id="5" idx="3"/>
            <a:endCxn id="6" idx="1"/>
          </p:cNvCxnSpPr>
          <p:nvPr/>
        </p:nvCxnSpPr>
        <p:spPr>
          <a:xfrm flipV="1">
            <a:off x="6620804" y="2514600"/>
            <a:ext cx="2083502" cy="2584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Decision 35"/>
          <p:cNvSpPr/>
          <p:nvPr/>
        </p:nvSpPr>
        <p:spPr>
          <a:xfrm>
            <a:off x="3572170" y="4016188"/>
            <a:ext cx="517434" cy="403412"/>
          </a:xfrm>
          <a:prstGeom prst="flowChartDecision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Decision 38"/>
          <p:cNvSpPr/>
          <p:nvPr/>
        </p:nvSpPr>
        <p:spPr>
          <a:xfrm>
            <a:off x="9209130" y="4016188"/>
            <a:ext cx="517434" cy="403412"/>
          </a:xfrm>
          <a:prstGeom prst="flowChartDecision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Elbow Connector 41"/>
          <p:cNvCxnSpPr>
            <a:stCxn id="36" idx="1"/>
            <a:endCxn id="25" idx="0"/>
          </p:cNvCxnSpPr>
          <p:nvPr/>
        </p:nvCxnSpPr>
        <p:spPr>
          <a:xfrm rot="10800000" flipV="1">
            <a:off x="1831408" y="4217893"/>
            <a:ext cx="1740763" cy="883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/>
          <p:cNvSpPr/>
          <p:nvPr/>
        </p:nvSpPr>
        <p:spPr>
          <a:xfrm>
            <a:off x="3572170" y="2570631"/>
            <a:ext cx="517434" cy="403412"/>
          </a:xfrm>
          <a:prstGeom prst="flowChartDecision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>
            <a:stCxn id="50" idx="3"/>
            <a:endCxn id="5" idx="1"/>
          </p:cNvCxnSpPr>
          <p:nvPr/>
        </p:nvCxnSpPr>
        <p:spPr>
          <a:xfrm>
            <a:off x="4089604" y="2772337"/>
            <a:ext cx="994501" cy="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0" idx="2"/>
            <a:endCxn id="63" idx="0"/>
          </p:cNvCxnSpPr>
          <p:nvPr/>
        </p:nvCxnSpPr>
        <p:spPr>
          <a:xfrm>
            <a:off x="3830887" y="2974043"/>
            <a:ext cx="0" cy="45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6" idx="2"/>
            <a:endCxn id="22" idx="0"/>
          </p:cNvCxnSpPr>
          <p:nvPr/>
        </p:nvCxnSpPr>
        <p:spPr>
          <a:xfrm>
            <a:off x="3830887" y="4419600"/>
            <a:ext cx="0" cy="676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4" idx="3"/>
            <a:endCxn id="62" idx="0"/>
          </p:cNvCxnSpPr>
          <p:nvPr/>
        </p:nvCxnSpPr>
        <p:spPr>
          <a:xfrm>
            <a:off x="2599756" y="1833282"/>
            <a:ext cx="1231131" cy="1479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023711" y="1981200"/>
            <a:ext cx="1614352" cy="425825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Authenticated?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023711" y="3433481"/>
            <a:ext cx="1614352" cy="425825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Authorized?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660671" y="3406587"/>
            <a:ext cx="1614352" cy="425825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Social Check?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7" name="Elbow Connector 66"/>
          <p:cNvCxnSpPr>
            <a:stCxn id="39" idx="1"/>
            <a:endCxn id="8" idx="0"/>
          </p:cNvCxnSpPr>
          <p:nvPr/>
        </p:nvCxnSpPr>
        <p:spPr>
          <a:xfrm rot="10800000" flipV="1">
            <a:off x="5852456" y="4217893"/>
            <a:ext cx="3356675" cy="883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411883" y="2884411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4049142" y="245207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169124" y="3865606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834758" y="438644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8805308" y="3868271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9658320" y="3863787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86" name="Rectangle 85"/>
          <p:cNvSpPr/>
          <p:nvPr/>
        </p:nvSpPr>
        <p:spPr>
          <a:xfrm>
            <a:off x="2570767" y="5943600"/>
            <a:ext cx="25202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small" dirty="0" smtClean="0">
                <a:ln/>
                <a:solidFill>
                  <a:schemeClr val="accent3"/>
                </a:solidFill>
              </a:rPr>
              <a:t>Web Application</a:t>
            </a:r>
            <a:endParaRPr lang="en-US" sz="2800" b="1" cap="small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308517" y="5170393"/>
            <a:ext cx="24331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small" dirty="0" smtClean="0">
                <a:ln/>
                <a:solidFill>
                  <a:schemeClr val="accent3"/>
                </a:solidFill>
              </a:rPr>
              <a:t>Social Network</a:t>
            </a:r>
            <a:endParaRPr lang="en-US" sz="2800" b="1" cap="small" spc="0" dirty="0">
              <a:ln/>
              <a:solidFill>
                <a:schemeClr val="accent3"/>
              </a:solidFill>
              <a:effectLst/>
            </a:endParaRPr>
          </a:p>
        </p:txBody>
      </p:sp>
      <p:cxnSp>
        <p:nvCxnSpPr>
          <p:cNvPr id="90" name="Straight Arrow Connector 89"/>
          <p:cNvCxnSpPr>
            <a:stCxn id="62" idx="2"/>
            <a:endCxn id="50" idx="0"/>
          </p:cNvCxnSpPr>
          <p:nvPr/>
        </p:nvCxnSpPr>
        <p:spPr>
          <a:xfrm>
            <a:off x="3830887" y="2407025"/>
            <a:ext cx="0" cy="163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3" idx="2"/>
          </p:cNvCxnSpPr>
          <p:nvPr/>
        </p:nvCxnSpPr>
        <p:spPr>
          <a:xfrm>
            <a:off x="3830887" y="3859306"/>
            <a:ext cx="0" cy="156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65" idx="2"/>
            <a:endCxn id="39" idx="0"/>
          </p:cNvCxnSpPr>
          <p:nvPr/>
        </p:nvCxnSpPr>
        <p:spPr>
          <a:xfrm>
            <a:off x="9467847" y="3832412"/>
            <a:ext cx="0" cy="18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4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22" grpId="0" animBg="1"/>
      <p:bldP spid="25" grpId="0" animBg="1"/>
      <p:bldP spid="36" grpId="0" animBg="1"/>
      <p:bldP spid="39" grpId="0" animBg="1"/>
      <p:bldP spid="50" grpId="0" animBg="1"/>
      <p:bldP spid="62" grpId="0" animBg="1"/>
      <p:bldP spid="63" grpId="0" animBg="1"/>
      <p:bldP spid="65" grpId="0" animBg="1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Client Credentials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91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developer </a:t>
            </a:r>
            <a:r>
              <a:rPr lang="en-US" dirty="0" err="1" smtClean="0"/>
              <a:t>trên</a:t>
            </a:r>
            <a:r>
              <a:rPr lang="en-US" dirty="0" smtClean="0"/>
              <a:t> Google </a:t>
            </a:r>
            <a:r>
              <a:rPr lang="en-US" dirty="0" err="1" smtClean="0"/>
              <a:t>và</a:t>
            </a:r>
            <a:r>
              <a:rPr lang="en-US" dirty="0" smtClean="0"/>
              <a:t> Facebook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b="1" dirty="0" smtClean="0"/>
              <a:t>credentials </a:t>
            </a:r>
            <a:r>
              <a:rPr lang="en-US" dirty="0" smtClean="0"/>
              <a:t>(</a:t>
            </a:r>
            <a:r>
              <a:rPr lang="en-US" i="1" dirty="0" smtClean="0">
                <a:solidFill>
                  <a:srgbClr val="FF0000"/>
                </a:solidFill>
              </a:rPr>
              <a:t>app-id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FF0000"/>
                </a:solidFill>
              </a:rPr>
              <a:t>secret code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Google API Console</a:t>
            </a:r>
          </a:p>
          <a:p>
            <a:pPr lvl="2"/>
            <a:r>
              <a:rPr lang="en-US" b="1" dirty="0" smtClean="0"/>
              <a:t>https://console.developers.google.com/</a:t>
            </a:r>
          </a:p>
          <a:p>
            <a:pPr lvl="1"/>
            <a:r>
              <a:rPr lang="en-US" dirty="0" smtClean="0"/>
              <a:t>Facebook for Developers</a:t>
            </a:r>
          </a:p>
          <a:p>
            <a:pPr lvl="2"/>
            <a:r>
              <a:rPr lang="en-US" b="1" dirty="0" smtClean="0"/>
              <a:t>https://developers.facebook.com/docs/facebook-login</a:t>
            </a:r>
          </a:p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Redirect URI (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Google API Console (Authorized Redirect URI)</a:t>
            </a:r>
          </a:p>
          <a:p>
            <a:pPr lvl="2"/>
            <a:r>
              <a:rPr lang="en-US" b="1" dirty="0" smtClean="0"/>
              <a:t>http://</a:t>
            </a:r>
            <a:r>
              <a:rPr lang="en-US" b="1" dirty="0" smtClean="0">
                <a:solidFill>
                  <a:srgbClr val="FF0000"/>
                </a:solidFill>
              </a:rPr>
              <a:t>localhost:8080</a:t>
            </a:r>
            <a:r>
              <a:rPr lang="en-US" b="1" dirty="0" smtClean="0"/>
              <a:t>/login/oauth2/code/google</a:t>
            </a:r>
          </a:p>
          <a:p>
            <a:pPr lvl="1"/>
            <a:r>
              <a:rPr lang="en-US" dirty="0" smtClean="0"/>
              <a:t>Facebook for Developers (Valid OAuth Redirect URI)</a:t>
            </a:r>
          </a:p>
          <a:p>
            <a:pPr lvl="2"/>
            <a:r>
              <a:rPr lang="en-US" b="1" dirty="0" smtClean="0"/>
              <a:t>http://</a:t>
            </a:r>
            <a:r>
              <a:rPr lang="en-US" b="1" dirty="0" smtClean="0">
                <a:solidFill>
                  <a:srgbClr val="FF0000"/>
                </a:solidFill>
              </a:rPr>
              <a:t>localhost:8080</a:t>
            </a:r>
            <a:r>
              <a:rPr lang="en-US" b="1" dirty="0" smtClean="0"/>
              <a:t>/login/oauth2/code/facebook</a:t>
            </a:r>
          </a:p>
          <a:p>
            <a:r>
              <a:rPr lang="en-US" dirty="0" err="1" smtClean="0"/>
              <a:t>Lấy</a:t>
            </a:r>
            <a:r>
              <a:rPr lang="en-US" dirty="0" smtClean="0"/>
              <a:t> credentials (</a:t>
            </a:r>
            <a:r>
              <a:rPr lang="en-US" b="1" i="1" dirty="0" smtClean="0">
                <a:solidFill>
                  <a:srgbClr val="FF0000"/>
                </a:solidFill>
              </a:rPr>
              <a:t>app-id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b="1" i="1" dirty="0" smtClean="0">
                <a:solidFill>
                  <a:srgbClr val="FF0000"/>
                </a:solidFill>
              </a:rPr>
              <a:t>secret</a:t>
            </a:r>
            <a:r>
              <a:rPr lang="en-US" dirty="0" smtClean="0"/>
              <a:t>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application.properties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2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Pom.xml và application.properties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334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Google</a:t>
            </a:r>
          </a:p>
          <a:p>
            <a:pPr lvl="1"/>
            <a:r>
              <a:rPr lang="en-US" dirty="0" smtClean="0"/>
              <a:t>spring.security.oauth2.client.registration.</a:t>
            </a:r>
            <a:r>
              <a:rPr lang="en-US" b="1" dirty="0" smtClean="0">
                <a:solidFill>
                  <a:srgbClr val="FF0000"/>
                </a:solidFill>
              </a:rPr>
              <a:t>google</a:t>
            </a:r>
            <a:r>
              <a:rPr lang="en-US" dirty="0" smtClean="0"/>
              <a:t>.client-id=</a:t>
            </a:r>
            <a:r>
              <a:rPr lang="en-US" b="1" i="1" dirty="0" smtClean="0">
                <a:solidFill>
                  <a:srgbClr val="00B050"/>
                </a:solidFill>
              </a:rPr>
              <a:t>&lt;app-id&gt;</a:t>
            </a:r>
          </a:p>
          <a:p>
            <a:pPr lvl="1"/>
            <a:r>
              <a:rPr lang="en-US" dirty="0" smtClean="0"/>
              <a:t>spring.security.oauth2.client.registration.</a:t>
            </a:r>
            <a:r>
              <a:rPr lang="en-US" b="1" dirty="0" smtClean="0">
                <a:solidFill>
                  <a:srgbClr val="FF0000"/>
                </a:solidFill>
              </a:rPr>
              <a:t>google</a:t>
            </a:r>
            <a:r>
              <a:rPr lang="en-US" dirty="0" smtClean="0"/>
              <a:t>.client-secret=</a:t>
            </a:r>
            <a:r>
              <a:rPr lang="en-US" b="1" i="1" dirty="0">
                <a:solidFill>
                  <a:srgbClr val="00B050"/>
                </a:solidFill>
              </a:rPr>
              <a:t>&lt;secret&gt;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Facebook</a:t>
            </a:r>
          </a:p>
          <a:p>
            <a:pPr lvl="1"/>
            <a:r>
              <a:rPr lang="en-US" dirty="0" smtClean="0"/>
              <a:t>spring.security.oauth2.client.registration.</a:t>
            </a:r>
            <a:r>
              <a:rPr lang="en-US" b="1" dirty="0" smtClean="0">
                <a:solidFill>
                  <a:srgbClr val="0000FF"/>
                </a:solidFill>
              </a:rPr>
              <a:t>facebook</a:t>
            </a:r>
            <a:r>
              <a:rPr lang="en-US" dirty="0" smtClean="0"/>
              <a:t>.client-id =</a:t>
            </a:r>
            <a:r>
              <a:rPr lang="en-US" b="1" i="1" dirty="0">
                <a:solidFill>
                  <a:srgbClr val="00B050"/>
                </a:solidFill>
              </a:rPr>
              <a:t>&lt;app-id&gt;</a:t>
            </a:r>
          </a:p>
          <a:p>
            <a:pPr lvl="1"/>
            <a:r>
              <a:rPr lang="en-US" dirty="0" smtClean="0"/>
              <a:t>spring.security.oauth2.client.registration.</a:t>
            </a:r>
            <a:r>
              <a:rPr lang="en-US" b="1" dirty="0" smtClean="0">
                <a:solidFill>
                  <a:srgbClr val="0000FF"/>
                </a:solidFill>
              </a:rPr>
              <a:t>facebook</a:t>
            </a:r>
            <a:r>
              <a:rPr lang="en-US" dirty="0" smtClean="0"/>
              <a:t>.client-secret=</a:t>
            </a:r>
            <a:r>
              <a:rPr lang="en-US" b="1" i="1" dirty="0">
                <a:solidFill>
                  <a:srgbClr val="00B050"/>
                </a:solidFill>
              </a:rPr>
              <a:t>&lt;secret</a:t>
            </a:r>
            <a:r>
              <a:rPr lang="en-US" b="1" i="1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1" dirty="0" err="1" smtClean="0">
                <a:solidFill>
                  <a:srgbClr val="C00000"/>
                </a:solidFill>
              </a:rPr>
              <a:t>Thư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viện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cần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thiết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382499"/>
            <a:ext cx="10363200" cy="20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6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OAuth2 Configuration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115675" cy="5524500"/>
          </a:xfrm>
          <a:prstGeom prst="rect">
            <a:avLst/>
          </a:prstGeom>
        </p:spPr>
      </p:pic>
      <p:sp>
        <p:nvSpPr>
          <p:cNvPr id="10" name="Folded Corner 9"/>
          <p:cNvSpPr/>
          <p:nvPr/>
        </p:nvSpPr>
        <p:spPr>
          <a:xfrm>
            <a:off x="7162800" y="1066800"/>
            <a:ext cx="4410075" cy="9144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</a:t>
            </a:r>
            <a:r>
              <a:rPr lang="en-US" b="1" dirty="0">
                <a:solidFill>
                  <a:srgbClr val="FF3300"/>
                </a:solidFill>
              </a:rPr>
              <a:t>/oauth2/authorization</a:t>
            </a:r>
            <a:r>
              <a:rPr lang="en-US" b="1" dirty="0">
                <a:solidFill>
                  <a:srgbClr val="0000FF"/>
                </a:solidFill>
              </a:rPr>
              <a:t>/google</a:t>
            </a:r>
            <a:r>
              <a:rPr lang="en-US" dirty="0"/>
              <a:t>"&gt;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</a:t>
            </a:r>
            <a:r>
              <a:rPr lang="en-US" b="1" dirty="0">
                <a:solidFill>
                  <a:srgbClr val="FF3300"/>
                </a:solidFill>
              </a:rPr>
              <a:t>/oauth2/authorization</a:t>
            </a:r>
            <a:r>
              <a:rPr lang="en-US" b="1" dirty="0">
                <a:solidFill>
                  <a:srgbClr val="0000FF"/>
                </a:solidFill>
              </a:rPr>
              <a:t>/</a:t>
            </a:r>
            <a:r>
              <a:rPr lang="en-US" b="1" dirty="0" err="1">
                <a:solidFill>
                  <a:srgbClr val="0000FF"/>
                </a:solidFill>
              </a:rPr>
              <a:t>facebook</a:t>
            </a:r>
            <a:r>
              <a:rPr lang="en-US" dirty="0"/>
              <a:t>"&gt;</a:t>
            </a:r>
          </a:p>
        </p:txBody>
      </p:sp>
      <p:cxnSp>
        <p:nvCxnSpPr>
          <p:cNvPr id="12" name="Elbow Connector 11"/>
          <p:cNvCxnSpPr>
            <a:endCxn id="10" idx="2"/>
          </p:cNvCxnSpPr>
          <p:nvPr/>
        </p:nvCxnSpPr>
        <p:spPr>
          <a:xfrm flipV="1">
            <a:off x="6096000" y="1981200"/>
            <a:ext cx="3271838" cy="6096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43800" y="3124200"/>
            <a:ext cx="20574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24600" y="3657600"/>
            <a:ext cx="411480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00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&amp; View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7713"/>
            <a:ext cx="8782050" cy="18954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675" y="2590800"/>
            <a:ext cx="8086725" cy="1219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62400"/>
            <a:ext cx="8782050" cy="11620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353050"/>
            <a:ext cx="8782050" cy="1200150"/>
          </a:xfrm>
          <a:prstGeom prst="rect">
            <a:avLst/>
          </a:prstGeom>
        </p:spPr>
      </p:pic>
      <p:cxnSp>
        <p:nvCxnSpPr>
          <p:cNvPr id="13" name="Elbow Connector 12"/>
          <p:cNvCxnSpPr>
            <a:endCxn id="14" idx="0"/>
          </p:cNvCxnSpPr>
          <p:nvPr/>
        </p:nvCxnSpPr>
        <p:spPr>
          <a:xfrm>
            <a:off x="4114800" y="2286000"/>
            <a:ext cx="3424238" cy="3048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ne Callout 1 19"/>
          <p:cNvSpPr/>
          <p:nvPr/>
        </p:nvSpPr>
        <p:spPr>
          <a:xfrm>
            <a:off x="7539038" y="5276850"/>
            <a:ext cx="4043362" cy="1066800"/>
          </a:xfrm>
          <a:prstGeom prst="borderCallout1">
            <a:avLst>
              <a:gd name="adj1" fmla="val 55550"/>
              <a:gd name="adj2" fmla="val -3532"/>
              <a:gd name="adj3" fmla="val -13968"/>
              <a:gd name="adj4" fmla="val -24674"/>
            </a:avLst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Lấy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xã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hội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ở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đây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đăng</a:t>
            </a:r>
            <a:r>
              <a:rPr lang="en-US" sz="24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endParaRPr lang="en-US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7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Social Login Handling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942975"/>
            <a:ext cx="10944225" cy="5686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28788"/>
            <a:ext cx="10668000" cy="1066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62926"/>
            <a:ext cx="10668000" cy="733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3689"/>
            <a:ext cx="10668000" cy="1066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097828"/>
            <a:ext cx="10668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21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695299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Consume Secured REST API</a:t>
            </a:r>
            <a:endParaRPr lang="en-US" sz="48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2745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Consume Secured REST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/>
          <a:lstStyle/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REST API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mật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request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header Authorization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&lt;</a:t>
            </a:r>
            <a:r>
              <a:rPr lang="en-US" dirty="0" err="1" smtClean="0"/>
              <a:t>auth</a:t>
            </a:r>
            <a:r>
              <a:rPr lang="en-US" dirty="0" smtClean="0"/>
              <a:t>&gt;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b="1" dirty="0" smtClean="0"/>
              <a:t>base 64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b="1" dirty="0" smtClean="0"/>
              <a:t>“</a:t>
            </a:r>
            <a:r>
              <a:rPr lang="en-US" b="1" dirty="0" err="1" smtClean="0"/>
              <a:t>username:password</a:t>
            </a:r>
            <a:r>
              <a:rPr lang="en-US" b="1" dirty="0" smtClean="0"/>
              <a:t>”</a:t>
            </a:r>
          </a:p>
          <a:p>
            <a:r>
              <a:rPr lang="en-US" dirty="0" err="1" smtClean="0"/>
              <a:t>Với</a:t>
            </a:r>
            <a:r>
              <a:rPr lang="en-US" dirty="0" smtClean="0"/>
              <a:t> JavaScript: </a:t>
            </a:r>
          </a:p>
          <a:p>
            <a:pPr lvl="1"/>
            <a:r>
              <a:rPr lang="en-US" b="1" dirty="0" err="1" smtClean="0"/>
              <a:t>btoa</a:t>
            </a:r>
            <a:r>
              <a:rPr lang="en-US" dirty="0" smtClean="0"/>
              <a:t>(“</a:t>
            </a:r>
            <a:r>
              <a:rPr lang="en-US" dirty="0" err="1" smtClean="0"/>
              <a:t>username:password</a:t>
            </a:r>
            <a:r>
              <a:rPr lang="en-US" dirty="0" smtClean="0"/>
              <a:t>”);</a:t>
            </a:r>
          </a:p>
          <a:p>
            <a:r>
              <a:rPr lang="en-US" dirty="0" err="1" smtClean="0"/>
              <a:t>Với</a:t>
            </a:r>
            <a:r>
              <a:rPr lang="en-US" dirty="0" smtClean="0"/>
              <a:t> Java (java.util.Base64): </a:t>
            </a:r>
          </a:p>
          <a:p>
            <a:pPr lvl="1"/>
            <a:r>
              <a:rPr lang="en-US" b="1" dirty="0" smtClean="0"/>
              <a:t>Base64.getEncoder().</a:t>
            </a:r>
            <a:r>
              <a:rPr lang="en-US" b="1" dirty="0" err="1" smtClean="0"/>
              <a:t>encodeToString</a:t>
            </a:r>
            <a:r>
              <a:rPr lang="en-US" dirty="0" smtClean="0"/>
              <a:t>(“</a:t>
            </a:r>
            <a:r>
              <a:rPr lang="en-US" dirty="0" err="1" smtClean="0"/>
              <a:t>username:password</a:t>
            </a:r>
            <a:r>
              <a:rPr lang="en-US" dirty="0" smtClean="0"/>
              <a:t>”.getBytes())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0" y="1981200"/>
            <a:ext cx="92703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“Authorization”: “Basic </a:t>
            </a:r>
            <a:r>
              <a:rPr lang="en-US" sz="5400" b="1" cap="none" spc="0" dirty="0" smtClean="0">
                <a:ln/>
                <a:solidFill>
                  <a:srgbClr val="FF0000"/>
                </a:solidFill>
                <a:effectLst/>
              </a:rPr>
              <a:t>&lt;</a:t>
            </a:r>
            <a:r>
              <a:rPr lang="en-US" sz="5400" b="1" cap="none" spc="0" dirty="0" err="1" smtClean="0">
                <a:ln/>
                <a:solidFill>
                  <a:srgbClr val="FF0000"/>
                </a:solidFill>
                <a:effectLst/>
              </a:rPr>
              <a:t>auth</a:t>
            </a:r>
            <a:r>
              <a:rPr lang="en-US" sz="5400" b="1" cap="none" spc="0" dirty="0" smtClean="0">
                <a:ln/>
                <a:solidFill>
                  <a:srgbClr val="FF0000"/>
                </a:solidFill>
                <a:effectLst/>
              </a:rPr>
              <a:t>&gt;</a:t>
            </a:r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”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409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9" y="1061722"/>
            <a:ext cx="10933611" cy="44246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 Secured REST API using AngularJS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4915" y="1531985"/>
            <a:ext cx="10896600" cy="1752600"/>
          </a:xfrm>
          <a:prstGeom prst="rect">
            <a:avLst/>
          </a:prstGeom>
          <a:noFill/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7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Secured REST API using </a:t>
            </a:r>
            <a:r>
              <a:rPr lang="en-US" dirty="0" smtClean="0"/>
              <a:t>URL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24302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1852" y="2527662"/>
            <a:ext cx="10896600" cy="769985"/>
          </a:xfrm>
          <a:prstGeom prst="rect">
            <a:avLst/>
          </a:prstGeom>
          <a:noFill/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Secured REST API using </a:t>
            </a:r>
            <a:r>
              <a:rPr lang="en-US" dirty="0" err="1"/>
              <a:t>RestTemplate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10972800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13722"/>
            <a:ext cx="10972800" cy="1571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51194"/>
            <a:ext cx="10972800" cy="771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888566"/>
            <a:ext cx="10972800" cy="1590675"/>
          </a:xfrm>
          <a:prstGeom prst="rect">
            <a:avLst/>
          </a:prstGeom>
        </p:spPr>
      </p:pic>
      <p:sp>
        <p:nvSpPr>
          <p:cNvPr id="8" name="Content Placeholder 8"/>
          <p:cNvSpPr>
            <a:spLocks noGrp="1"/>
          </p:cNvSpPr>
          <p:nvPr>
            <p:ph idx="1"/>
          </p:nvPr>
        </p:nvSpPr>
        <p:spPr>
          <a:xfrm>
            <a:off x="609600" y="987799"/>
            <a:ext cx="10972800" cy="457200"/>
          </a:xfr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exchange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vì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getForObject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(), </a:t>
            </a:r>
            <a:r>
              <a:rPr lang="en-US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postForObject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(),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put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delete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8153400" y="5181600"/>
            <a:ext cx="3429000" cy="612648"/>
          </a:xfrm>
          <a:prstGeom prst="borderCallout1">
            <a:avLst>
              <a:gd name="adj1" fmla="val 18750"/>
              <a:gd name="adj2" fmla="val -8333"/>
              <a:gd name="adj3" fmla="val 149813"/>
              <a:gd name="adj4" fmla="val -3049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GET, POST, PUT, DELETE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69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53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7772400" cy="579120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þ"/>
            </a:pPr>
            <a:r>
              <a:rPr lang="en-US" dirty="0" err="1" smtClean="0"/>
              <a:t>Auhentication</a:t>
            </a:r>
            <a:r>
              <a:rPr lang="en-US" dirty="0" smtClean="0"/>
              <a:t> </a:t>
            </a:r>
            <a:r>
              <a:rPr lang="en-US" dirty="0" smtClean="0"/>
              <a:t>Database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Entities </a:t>
            </a:r>
            <a:r>
              <a:rPr lang="en-US" dirty="0" err="1" smtClean="0"/>
              <a:t>và</a:t>
            </a:r>
            <a:r>
              <a:rPr lang="en-US" dirty="0" smtClean="0"/>
              <a:t> DAO</a:t>
            </a:r>
          </a:p>
          <a:p>
            <a:pPr>
              <a:buFont typeface="Wingdings" pitchFamily="2" charset="2"/>
              <a:buChar char="þ"/>
            </a:pPr>
            <a:r>
              <a:rPr lang="en-US" dirty="0" err="1" smtClean="0"/>
              <a:t>Authenticaten</a:t>
            </a:r>
            <a:r>
              <a:rPr lang="en-US" dirty="0" smtClean="0"/>
              <a:t> Manager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(username) -&gt; </a:t>
            </a:r>
            <a:r>
              <a:rPr lang="en-US" dirty="0" err="1" smtClean="0"/>
              <a:t>UserDetails</a:t>
            </a:r>
            <a:endParaRPr lang="en-US" dirty="0" smtClean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User</a:t>
            </a:r>
            <a:r>
              <a:rPr lang="en-US" dirty="0"/>
              <a:t>: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UserDetails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OAuth2</a:t>
            </a:r>
            <a:endParaRPr lang="en-US" dirty="0" smtClean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Developer account, </a:t>
            </a:r>
            <a:r>
              <a:rPr lang="en-US" dirty="0" err="1" smtClean="0"/>
              <a:t>lấy</a:t>
            </a:r>
            <a:r>
              <a:rPr lang="en-US" dirty="0" smtClean="0"/>
              <a:t> app-id </a:t>
            </a:r>
            <a:r>
              <a:rPr lang="en-US" dirty="0" err="1" smtClean="0"/>
              <a:t>và</a:t>
            </a:r>
            <a:r>
              <a:rPr lang="en-US" dirty="0" smtClean="0"/>
              <a:t> secret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pom.xml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application.properties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HttpSecurity.oauth2Page()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endParaRPr lang="en-US" dirty="0" smtClean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Consume Secured REST API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Authorization: Basic &lt;</a:t>
            </a:r>
            <a:r>
              <a:rPr lang="en-US" dirty="0" err="1" smtClean="0"/>
              <a:t>auth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0861"/>
          <a:stretch/>
        </p:blipFill>
        <p:spPr bwMode="auto">
          <a:xfrm>
            <a:off x="0" y="0"/>
            <a:ext cx="2853507" cy="6845300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787345" y="12700"/>
            <a:ext cx="9404656" cy="6832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75344" y="4724400"/>
            <a:ext cx="4506456" cy="22393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182880" rtlCol="0" anchor="ctr"/>
          <a:lstStyle/>
          <a:p>
            <a:pPr algn="ctr"/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   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Cảm</a:t>
            </a:r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ơn</a:t>
            </a:r>
            <a:endParaRPr lang="en-US" sz="5400" b="1" spc="-20" dirty="0"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66800" y="2542160"/>
            <a:ext cx="3327030" cy="4371824"/>
            <a:chOff x="-2798010" y="2616804"/>
            <a:chExt cx="2238173" cy="4371824"/>
          </a:xfrm>
        </p:grpSpPr>
        <p:sp>
          <p:nvSpPr>
            <p:cNvPr id="16" name="Freeform 15"/>
            <p:cNvSpPr/>
            <p:nvPr/>
          </p:nvSpPr>
          <p:spPr>
            <a:xfrm>
              <a:off x="-2468880" y="3032760"/>
              <a:ext cx="1737360" cy="1935480"/>
            </a:xfrm>
            <a:custGeom>
              <a:avLst/>
              <a:gdLst>
                <a:gd name="connsiteX0" fmla="*/ 0 w 1737360"/>
                <a:gd name="connsiteY0" fmla="*/ 0 h 1935480"/>
                <a:gd name="connsiteX1" fmla="*/ 228600 w 1737360"/>
                <a:gd name="connsiteY1" fmla="*/ 1158240 h 1935480"/>
                <a:gd name="connsiteX2" fmla="*/ 701040 w 1737360"/>
                <a:gd name="connsiteY2" fmla="*/ 1524000 h 1935480"/>
                <a:gd name="connsiteX3" fmla="*/ 1432560 w 1737360"/>
                <a:gd name="connsiteY3" fmla="*/ 1935480 h 1935480"/>
                <a:gd name="connsiteX4" fmla="*/ 1737360 w 1737360"/>
                <a:gd name="connsiteY4" fmla="*/ 1844040 h 1935480"/>
                <a:gd name="connsiteX5" fmla="*/ 1706880 w 1737360"/>
                <a:gd name="connsiteY5" fmla="*/ 1676400 h 1935480"/>
                <a:gd name="connsiteX6" fmla="*/ 1706880 w 1737360"/>
                <a:gd name="connsiteY6" fmla="*/ 1234440 h 1935480"/>
                <a:gd name="connsiteX7" fmla="*/ 1493520 w 1737360"/>
                <a:gd name="connsiteY7" fmla="*/ 899160 h 1935480"/>
                <a:gd name="connsiteX8" fmla="*/ 1036320 w 1737360"/>
                <a:gd name="connsiteY8" fmla="*/ 701040 h 1935480"/>
                <a:gd name="connsiteX9" fmla="*/ 350520 w 1737360"/>
                <a:gd name="connsiteY9" fmla="*/ 259080 h 1935480"/>
                <a:gd name="connsiteX10" fmla="*/ 0 w 1737360"/>
                <a:gd name="connsiteY10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7360" h="1935480">
                  <a:moveTo>
                    <a:pt x="0" y="0"/>
                  </a:moveTo>
                  <a:lnTo>
                    <a:pt x="228600" y="1158240"/>
                  </a:lnTo>
                  <a:lnTo>
                    <a:pt x="701040" y="1524000"/>
                  </a:lnTo>
                  <a:lnTo>
                    <a:pt x="1432560" y="1935480"/>
                  </a:lnTo>
                  <a:lnTo>
                    <a:pt x="1737360" y="1844040"/>
                  </a:lnTo>
                  <a:lnTo>
                    <a:pt x="1706880" y="1676400"/>
                  </a:lnTo>
                  <a:lnTo>
                    <a:pt x="1706880" y="1234440"/>
                  </a:lnTo>
                  <a:lnTo>
                    <a:pt x="1493520" y="899160"/>
                  </a:lnTo>
                  <a:lnTo>
                    <a:pt x="1036320" y="701040"/>
                  </a:lnTo>
                  <a:lnTo>
                    <a:pt x="350520" y="259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just">
                <a:lnSpc>
                  <a:spcPct val="120000"/>
                </a:lnSpc>
                <a:spcBef>
                  <a:spcPts val="600"/>
                </a:spcBef>
              </a:pPr>
              <a:endParaRPr lang="vi-VN" sz="2400" b="1"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-2798010" y="2616804"/>
              <a:ext cx="2238173" cy="4371824"/>
              <a:chOff x="100462" y="2616804"/>
              <a:chExt cx="2238173" cy="4371824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00462" y="2616804"/>
                <a:ext cx="2238173" cy="3972506"/>
                <a:chOff x="-84753" y="2896722"/>
                <a:chExt cx="2238173" cy="3972506"/>
              </a:xfrm>
            </p:grpSpPr>
            <p:sp>
              <p:nvSpPr>
                <p:cNvPr id="20" name="Freeform 19"/>
                <p:cNvSpPr/>
                <p:nvPr/>
              </p:nvSpPr>
              <p:spPr>
                <a:xfrm>
                  <a:off x="196771" y="3252486"/>
                  <a:ext cx="114172" cy="1400537"/>
                </a:xfrm>
                <a:custGeom>
                  <a:avLst/>
                  <a:gdLst>
                    <a:gd name="connsiteX0" fmla="*/ 0 w 57873"/>
                    <a:gd name="connsiteY0" fmla="*/ 0 h 1400537"/>
                    <a:gd name="connsiteX1" fmla="*/ 57873 w 57873"/>
                    <a:gd name="connsiteY1" fmla="*/ 1400537 h 1400537"/>
                    <a:gd name="connsiteX2" fmla="*/ 57873 w 57873"/>
                    <a:gd name="connsiteY2" fmla="*/ 1400537 h 1400537"/>
                    <a:gd name="connsiteX3" fmla="*/ 46298 w 57873"/>
                    <a:gd name="connsiteY3" fmla="*/ 57873 h 1400537"/>
                    <a:gd name="connsiteX4" fmla="*/ 0 w 57873"/>
                    <a:gd name="connsiteY4" fmla="*/ 0 h 1400537"/>
                    <a:gd name="connsiteX0" fmla="*/ 0 w 83739"/>
                    <a:gd name="connsiteY0" fmla="*/ 0 h 1400537"/>
                    <a:gd name="connsiteX1" fmla="*/ 57873 w 83739"/>
                    <a:gd name="connsiteY1" fmla="*/ 1400537 h 1400537"/>
                    <a:gd name="connsiteX2" fmla="*/ 57873 w 83739"/>
                    <a:gd name="connsiteY2" fmla="*/ 1400537 h 1400537"/>
                    <a:gd name="connsiteX3" fmla="*/ 83646 w 83739"/>
                    <a:gd name="connsiteY3" fmla="*/ 1142730 h 1400537"/>
                    <a:gd name="connsiteX4" fmla="*/ 46298 w 83739"/>
                    <a:gd name="connsiteY4" fmla="*/ 57873 h 1400537"/>
                    <a:gd name="connsiteX5" fmla="*/ 0 w 83739"/>
                    <a:gd name="connsiteY5" fmla="*/ 0 h 1400537"/>
                    <a:gd name="connsiteX0" fmla="*/ 0 w 114172"/>
                    <a:gd name="connsiteY0" fmla="*/ 0 h 1400537"/>
                    <a:gd name="connsiteX1" fmla="*/ 57873 w 114172"/>
                    <a:gd name="connsiteY1" fmla="*/ 1400537 h 1400537"/>
                    <a:gd name="connsiteX2" fmla="*/ 57873 w 114172"/>
                    <a:gd name="connsiteY2" fmla="*/ 1400537 h 1400537"/>
                    <a:gd name="connsiteX3" fmla="*/ 114126 w 114172"/>
                    <a:gd name="connsiteY3" fmla="*/ 1136634 h 1400537"/>
                    <a:gd name="connsiteX4" fmla="*/ 46298 w 114172"/>
                    <a:gd name="connsiteY4" fmla="*/ 57873 h 1400537"/>
                    <a:gd name="connsiteX5" fmla="*/ 0 w 114172"/>
                    <a:gd name="connsiteY5" fmla="*/ 0 h 140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172" h="1400537">
                      <a:moveTo>
                        <a:pt x="0" y="0"/>
                      </a:moveTo>
                      <a:lnTo>
                        <a:pt x="57873" y="1400537"/>
                      </a:lnTo>
                      <a:lnTo>
                        <a:pt x="57873" y="1400537"/>
                      </a:lnTo>
                      <a:cubicBezTo>
                        <a:pt x="57089" y="1327089"/>
                        <a:pt x="116055" y="1360411"/>
                        <a:pt x="114126" y="1136634"/>
                      </a:cubicBezTo>
                      <a:cubicBezTo>
                        <a:pt x="112197" y="912857"/>
                        <a:pt x="55159" y="217848"/>
                        <a:pt x="46298" y="5787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just">
                    <a:lnSpc>
                      <a:spcPct val="120000"/>
                    </a:lnSpc>
                    <a:spcBef>
                      <a:spcPts val="600"/>
                    </a:spcBef>
                  </a:pPr>
                  <a:endParaRPr lang="vi-VN" sz="2400" b="1"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1966" b="96151" l="24898" r="76658">
                              <a14:foregroundMark x1="30139" y1="9337" x2="46274" y2="16216"/>
                              <a14:foregroundMark x1="46274" y1="17609" x2="54464" y2="23014"/>
                              <a14:foregroundMark x1="56921" y1="29894" x2="69533" y2="34316"/>
                              <a14:foregroundMark x1="69861" y1="35627" x2="69533" y2="63554"/>
                              <a14:foregroundMark x1="68223" y1="62735" x2="70352" y2="43325"/>
                              <a14:foregroundMark x1="71171" y1="38084" x2="71990" y2="51515"/>
                              <a14:foregroundMark x1="66830" y1="41360" x2="67649" y2="52334"/>
                              <a14:foregroundMark x1="68468" y1="43571" x2="48485" y2="34562"/>
                              <a14:foregroundMark x1="69533" y1="48239" x2="62408" y2="37592"/>
                              <a14:foregroundMark x1="63554" y1="38657" x2="66257" y2="47174"/>
                              <a14:foregroundMark x1="53153" y1="19492" x2="54464" y2="23014"/>
                              <a14:foregroundMark x1="27109" y1="8272" x2="29566" y2="50942"/>
                              <a14:foregroundMark x1="31777" y1="40868" x2="30631" y2="20066"/>
                              <a14:foregroundMark x1="28174" y1="8845" x2="29566" y2="42506"/>
                              <a14:foregroundMark x1="36691" y1="46847" x2="42424" y2="48485"/>
                              <a14:foregroundMark x1="45455" y1="56429" x2="46519" y2="60033"/>
                              <a14:foregroundMark x1="49877" y1="44144" x2="58886" y2="65766"/>
                              <a14:foregroundMark x1="44799" y1="56429" x2="44881" y2="52252"/>
                              <a14:foregroundMark x1="64046" y1="38903" x2="62326" y2="45127"/>
                              <a14:foregroundMark x1="65684" y1="38002" x2="63964" y2="43735"/>
                              <a14:foregroundMark x1="62981" y1="38084" x2="63554" y2="41687"/>
                              <a14:foregroundMark x1="64619" y1="37838" x2="62162" y2="40295"/>
                              <a14:foregroundMark x1="64373" y1="38084" x2="65192" y2="44554"/>
                              <a14:foregroundMark x1="62735" y1="38903" x2="66257" y2="41360"/>
                              <a14:foregroundMark x1="66011" y1="45373" x2="69124" y2="50696"/>
                              <a14:foregroundMark x1="67813" y1="44963" x2="69042" y2="50123"/>
                              <a14:foregroundMark x1="69042" y1="44554" x2="69533" y2="50041"/>
                              <a14:foregroundMark x1="69451" y1="44308" x2="69861" y2="50041"/>
                              <a14:foregroundMark x1="69861" y1="45946" x2="69943" y2="51843"/>
                              <a14:foregroundMark x1="69697" y1="45536" x2="69861" y2="51515"/>
                              <a14:foregroundMark x1="69861" y1="46192" x2="70516" y2="49877"/>
                              <a14:foregroundMark x1="71499" y1="51351" x2="66011" y2="47830"/>
                              <a14:foregroundMark x1="64865" y1="38657" x2="62408" y2="41360"/>
                              <a14:foregroundMark x1="61753" y1="38247" x2="64373" y2="41933"/>
                              <a14:foregroundMark x1="59951" y1="38411" x2="66011" y2="41278"/>
                              <a14:foregroundMark x1="65684" y1="37265" x2="63964" y2="41360"/>
                              <a14:foregroundMark x1="59541" y1="37428" x2="61179" y2="42506"/>
                              <a14:foregroundMark x1="61753" y1="38411" x2="64373" y2="43489"/>
                              <a14:foregroundMark x1="62735" y1="39230" x2="62981" y2="41933"/>
                              <a14:foregroundMark x1="61507" y1="37674" x2="62817" y2="43735"/>
                              <a14:foregroundMark x1="61998" y1="38084" x2="63145" y2="42097"/>
                              <a14:foregroundMark x1="61589" y1="38247" x2="63145" y2="42670"/>
                              <a14:foregroundMark x1="62408" y1="37428" x2="64046" y2="42916"/>
                              <a14:foregroundMark x1="62981" y1="37674" x2="65029" y2="43489"/>
                              <a14:foregroundMark x1="63145" y1="35790" x2="66093" y2="44144"/>
                              <a14:foregroundMark x1="64455" y1="37265" x2="66257" y2="45536"/>
                              <a14:foregroundMark x1="64373" y1="37838" x2="67240" y2="43079"/>
                              <a14:foregroundMark x1="62981" y1="38411" x2="62817" y2="43079"/>
                              <a14:foregroundMark x1="62817" y1="42097" x2="65192" y2="45536"/>
                              <a14:foregroundMark x1="28501" y1="26454" x2="29566" y2="42752"/>
                              <a14:foregroundMark x1="26863" y1="5815" x2="33170" y2="93939"/>
                              <a14:foregroundMark x1="27355" y1="4996" x2="27109" y2="8026"/>
                              <a14:foregroundMark x1="61916" y1="36773" x2="66749" y2="41769"/>
                              <a14:foregroundMark x1="65192" y1="34889" x2="67322" y2="46192"/>
                              <a14:foregroundMark x1="68468" y1="41032" x2="69206" y2="52334"/>
                              <a14:foregroundMark x1="70762" y1="46028" x2="70188" y2="51761"/>
                              <a14:foregroundMark x1="71335" y1="47174" x2="69042" y2="52170"/>
                              <a14:foregroundMark x1="71744" y1="51188" x2="65438" y2="48157"/>
                              <a14:foregroundMark x1="67158" y1="47748" x2="70188" y2="49877"/>
                              <a14:foregroundMark x1="71581" y1="52334" x2="62326" y2="36036"/>
                              <a14:foregroundMark x1="62572" y1="35299" x2="66339" y2="40049"/>
                              <a14:foregroundMark x1="64455" y1="35053" x2="65602" y2="41196"/>
                              <a14:foregroundMark x1="64619" y1="35872" x2="66175" y2="45045"/>
                              <a14:foregroundMark x1="62899" y1="38329" x2="65192" y2="44636"/>
                              <a14:foregroundMark x1="63145" y1="37183" x2="65029" y2="44308"/>
                              <a14:foregroundMark x1="62162" y1="37183" x2="67158" y2="46765"/>
                              <a14:foregroundMark x1="63309" y1="35463" x2="68059" y2="52334"/>
                              <a14:foregroundMark x1="65192" y1="40868" x2="70434" y2="50450"/>
                              <a14:foregroundMark x1="68059" y1="41769" x2="69451" y2="50205"/>
                              <a14:foregroundMark x1="67158" y1="41605" x2="68468" y2="52744"/>
                              <a14:foregroundMark x1="68468" y1="47174" x2="69861" y2="54218"/>
                              <a14:foregroundMark x1="68059" y1="44881" x2="69451" y2="53481"/>
                              <a14:foregroundMark x1="69206" y1="45618" x2="70434" y2="55201"/>
                              <a14:foregroundMark x1="68632" y1="45618" x2="70598" y2="54054"/>
                              <a14:foregroundMark x1="69861" y1="47748" x2="69861" y2="53317"/>
                              <a14:foregroundMark x1="69861" y1="46765" x2="69861" y2="51351"/>
                              <a14:foregroundMark x1="70598" y1="45618" x2="70598" y2="52170"/>
                              <a14:foregroundMark x1="70598" y1="48894" x2="71007" y2="53645"/>
                              <a14:foregroundMark x1="70434" y1="45455" x2="70434" y2="49304"/>
                              <a14:foregroundMark x1="70434" y1="46355" x2="70434" y2="54218"/>
                              <a14:foregroundMark x1="70434" y1="46929" x2="70598" y2="52170"/>
                              <a14:foregroundMark x1="70598" y1="47338" x2="70598" y2="53890"/>
                              <a14:foregroundMark x1="70188" y1="44472" x2="70188" y2="52170"/>
                              <a14:foregroundMark x1="70188" y1="43898" x2="70762" y2="52744"/>
                              <a14:foregroundMark x1="70434" y1="47748" x2="70762" y2="53071"/>
                              <a14:foregroundMark x1="69861" y1="43161" x2="70025" y2="50450"/>
                              <a14:foregroundMark x1="66175" y1="40459" x2="67486" y2="48321"/>
                              <a14:foregroundMark x1="65192" y1="35872" x2="67895" y2="47174"/>
                              <a14:foregroundMark x1="63882" y1="36036" x2="66585" y2="44308"/>
                              <a14:foregroundMark x1="64292" y1="38903" x2="65602" y2="45209"/>
                              <a14:foregroundMark x1="63882" y1="38739" x2="65766" y2="45209"/>
                              <a14:foregroundMark x1="64046" y1="39066" x2="65192" y2="44308"/>
                              <a14:foregroundMark x1="63882" y1="41032" x2="65029" y2="45618"/>
                              <a14:foregroundMark x1="64292" y1="41605" x2="65602" y2="46929"/>
                              <a14:foregroundMark x1="70188" y1="46765" x2="70025" y2="53972"/>
                              <a14:foregroundMark x1="70352" y1="45700" x2="70352" y2="51843"/>
                              <a14:foregroundMark x1="70352" y1="43980" x2="69861" y2="52007"/>
                              <a14:foregroundMark x1="69533" y1="44308" x2="69124" y2="52334"/>
                              <a14:foregroundMark x1="68305" y1="48321" x2="68305" y2="53645"/>
                              <a14:foregroundMark x1="67895" y1="46028" x2="67731" y2="50942"/>
                              <a14:foregroundMark x1="67568" y1="47502" x2="67568" y2="53071"/>
                              <a14:foregroundMark x1="66912" y1="47093" x2="66912" y2="53071"/>
                              <a14:foregroundMark x1="66912" y1="48894" x2="66912" y2="54136"/>
                              <a14:foregroundMark x1="66912" y1="45864" x2="67240" y2="53399"/>
                              <a14:foregroundMark x1="67404" y1="46355" x2="68141" y2="53972"/>
                              <a14:foregroundMark x1="68141" y1="47420" x2="69124" y2="54791"/>
                              <a14:foregroundMark x1="70025" y1="44308" x2="70188" y2="53071"/>
                              <a14:foregroundMark x1="71253" y1="43407" x2="71253" y2="50287"/>
                              <a14:foregroundMark x1="71253" y1="47256" x2="71253" y2="55528"/>
                              <a14:foregroundMark x1="71826" y1="45536" x2="71826" y2="52907"/>
                              <a14:foregroundMark x1="71826" y1="47093" x2="71826" y2="52580"/>
                              <a14:foregroundMark x1="71663" y1="45536" x2="71663" y2="52580"/>
                              <a14:foregroundMark x1="71663" y1="46028" x2="70925" y2="53563"/>
                              <a14:foregroundMark x1="70925" y1="46765" x2="70925" y2="52907"/>
                              <a14:foregroundMark x1="70925" y1="43898" x2="70598" y2="53235"/>
                              <a14:foregroundMark x1="70598" y1="48321" x2="70352" y2="53071"/>
                              <a14:foregroundMark x1="70188" y1="47256" x2="70352" y2="53972"/>
                              <a14:foregroundMark x1="70352" y1="46601" x2="70352" y2="54136"/>
                              <a14:foregroundMark x1="70352" y1="45700" x2="70352" y2="50614"/>
                              <a14:foregroundMark x1="70352" y1="47093" x2="70352" y2="53071"/>
                              <a14:foregroundMark x1="70352" y1="47502" x2="70188" y2="54300"/>
                              <a14:foregroundMark x1="69369" y1="46028" x2="69206" y2="50614"/>
                              <a14:foregroundMark x1="69206" y1="47666" x2="69206" y2="52416"/>
                              <a14:foregroundMark x1="69206" y1="44963" x2="69206" y2="49713"/>
                              <a14:foregroundMark x1="69206" y1="45536" x2="68960" y2="49959"/>
                              <a14:foregroundMark x1="68960" y1="45209" x2="68305" y2="53563"/>
                              <a14:foregroundMark x1="67731" y1="48731" x2="67731" y2="54464"/>
                              <a14:foregroundMark x1="66912" y1="47093" x2="66912" y2="52334"/>
                              <a14:foregroundMark x1="68059" y1="46192" x2="68468" y2="52334"/>
                              <a14:foregroundMark x1="69369" y1="48321" x2="69861" y2="52580"/>
                              <a14:foregroundMark x1="70598" y1="47256" x2="70925" y2="52907"/>
                              <a14:foregroundMark x1="70925" y1="49386" x2="71417" y2="55528"/>
                              <a14:foregroundMark x1="66667" y1="39885" x2="66667" y2="43079"/>
                              <a14:foregroundMark x1="63882" y1="36364" x2="63882" y2="44144"/>
                              <a14:foregroundMark x1="27518" y1="8108" x2="28583" y2="27518"/>
                              <a14:foregroundMark x1="27846" y1="9091" x2="27928" y2="15889"/>
                              <a14:foregroundMark x1="28256" y1="9091" x2="27928" y2="15233"/>
                              <a14:foregroundMark x1="27928" y1="9582" x2="27928" y2="15315"/>
                              <a14:foregroundMark x1="27518" y1="8518" x2="28583" y2="33743"/>
                              <a14:foregroundMark x1="28010" y1="9500" x2="28256" y2="33170"/>
                              <a14:foregroundMark x1="29238" y1="17199" x2="29238" y2="27027"/>
                              <a14:foregroundMark x1="28829" y1="20147" x2="28665" y2="29484"/>
                              <a14:foregroundMark x1="28665" y1="18509" x2="28665" y2="29975"/>
                              <a14:foregroundMark x1="28419" y1="18591" x2="28337" y2="29730"/>
                              <a14:foregroundMark x1="28256" y1="16462" x2="28256" y2="25471"/>
                              <a14:foregroundMark x1="27437" y1="9173" x2="27437" y2="20147"/>
                              <a14:foregroundMark x1="28010" y1="9337" x2="28337" y2="26454"/>
                              <a14:foregroundMark x1="28665" y1="8681" x2="28665" y2="17690"/>
                              <a14:foregroundMark x1="27928" y1="9582" x2="27928" y2="16871"/>
                              <a14:foregroundMark x1="27928" y1="10074" x2="27928" y2="16380"/>
                              <a14:foregroundMark x1="27928" y1="9910" x2="28092" y2="16953"/>
                              <a14:foregroundMark x1="27518" y1="10319" x2="28993" y2="23260"/>
                              <a14:foregroundMark x1="27764" y1="16462" x2="28092" y2="24652"/>
                              <a14:foregroundMark x1="27928" y1="18755" x2="27928" y2="22113"/>
                              <a14:foregroundMark x1="27682" y1="19165" x2="28010" y2="23915"/>
                              <a14:foregroundMark x1="29238" y1="36773" x2="28911" y2="43571"/>
                              <a14:foregroundMark x1="28829" y1="37183" x2="28829" y2="41769"/>
                              <a14:foregroundMark x1="28501" y1="36691" x2="28665" y2="40704"/>
                              <a14:foregroundMark x1="28665" y1="34562" x2="29566" y2="42015"/>
                              <a14:foregroundMark x1="29566" y1="33415" x2="30221" y2="41114"/>
                              <a14:foregroundMark x1="30221" y1="32187" x2="30631" y2="40459"/>
                              <a14:foregroundMark x1="30631" y1="26699" x2="30631" y2="33989"/>
                              <a14:foregroundMark x1="29484" y1="26699" x2="29484" y2="34808"/>
                              <a14:foregroundMark x1="28993" y1="24980" x2="29075" y2="33088"/>
                              <a14:foregroundMark x1="28501" y1="23833" x2="28501" y2="32596"/>
                              <a14:foregroundMark x1="28501" y1="23260" x2="29075" y2="33661"/>
                              <a14:foregroundMark x1="28419" y1="22932" x2="28419" y2="29975"/>
                              <a14:foregroundMark x1="28419" y1="21048" x2="28665" y2="31695"/>
                              <a14:foregroundMark x1="27928" y1="24161" x2="28419" y2="33907"/>
                              <a14:foregroundMark x1="28419" y1="24324" x2="30303" y2="36937"/>
                              <a14:backgroundMark x1="26044" y1="32596" x2="27764" y2="70844"/>
                              <a14:backgroundMark x1="33661" y1="54300" x2="36118" y2="74283"/>
                              <a14:backgroundMark x1="30958" y1="4423" x2="55610" y2="12940"/>
                              <a14:backgroundMark x1="51515" y1="11548" x2="67322" y2="26044"/>
                              <a14:backgroundMark x1="61916" y1="27191" x2="71744" y2="26618"/>
                              <a14:backgroundMark x1="69533" y1="6388" x2="71744" y2="19247"/>
                              <a14:backgroundMark x1="75020" y1="32924" x2="74201" y2="94267"/>
                              <a14:backgroundMark x1="70925" y1="92056" x2="38575" y2="91237"/>
                              <a14:backgroundMark x1="32023" y1="94758" x2="26044" y2="7699"/>
                              <a14:backgroundMark x1="31450" y1="53972" x2="34480" y2="93694"/>
                              <a14:backgroundMark x1="38575" y1="94758" x2="59132" y2="95086"/>
                              <a14:backgroundMark x1="37265" y1="58067" x2="45209" y2="80835"/>
                              <a14:backgroundMark x1="43243" y1="71007" x2="67649" y2="81081"/>
                              <a14:backgroundMark x1="70106" y1="73464" x2="40213" y2="846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0048" r="23612"/>
                <a:stretch/>
              </p:blipFill>
              <p:spPr bwMode="auto">
                <a:xfrm>
                  <a:off x="-84753" y="2896722"/>
                  <a:ext cx="2238173" cy="39725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clrChange>
                  <a:clrFrom>
                    <a:srgbClr val="CBC9CC"/>
                  </a:clrFrom>
                  <a:clrTo>
                    <a:srgbClr val="CBC9C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439" b="97073" l="9016" r="6721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462" y="5057191"/>
                <a:ext cx="1150930" cy="1931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4555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12506</TotalTime>
  <Words>672</Words>
  <Application>Microsoft Office PowerPoint</Application>
  <PresentationFormat>Widescreen</PresentationFormat>
  <Paragraphs>192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Advaned Spring Security</vt:lpstr>
      <vt:lpstr>Agenda</vt:lpstr>
      <vt:lpstr>Authentication &amp; Authorization</vt:lpstr>
      <vt:lpstr>Authentication Manager Builder</vt:lpstr>
      <vt:lpstr>PowerPoint Presentation</vt:lpstr>
      <vt:lpstr>Authentication Database</vt:lpstr>
      <vt:lpstr>Authentication Database</vt:lpstr>
      <vt:lpstr>Authentication Database Manager</vt:lpstr>
      <vt:lpstr>PowerPoint Presentation</vt:lpstr>
      <vt:lpstr>DAO Class Diagram</vt:lpstr>
      <vt:lpstr>pom.xml &amp; application.properties</vt:lpstr>
      <vt:lpstr>Permission Management</vt:lpstr>
      <vt:lpstr>PowerPoint Presentation</vt:lpstr>
      <vt:lpstr>PowerPoint Presentation</vt:lpstr>
      <vt:lpstr>Load User from database</vt:lpstr>
      <vt:lpstr>Load User from database Implementation</vt:lpstr>
      <vt:lpstr>PowerPoint Presentation</vt:lpstr>
      <vt:lpstr>PowerPoint Presentation</vt:lpstr>
      <vt:lpstr>OAuth2 Case Study</vt:lpstr>
      <vt:lpstr>What is OAuth?</vt:lpstr>
      <vt:lpstr>Oauth Application Model</vt:lpstr>
      <vt:lpstr>Oauth Communication Flow</vt:lpstr>
      <vt:lpstr>Creating Client Credentials</vt:lpstr>
      <vt:lpstr>Pom.xml và application.properties</vt:lpstr>
      <vt:lpstr>OAuth2 Configuration</vt:lpstr>
      <vt:lpstr>Controller &amp; View</vt:lpstr>
      <vt:lpstr>Post Social Login Handling</vt:lpstr>
      <vt:lpstr>PowerPoint Presentation</vt:lpstr>
      <vt:lpstr>PowerPoint Presentation</vt:lpstr>
      <vt:lpstr>Consume Secured REST API</vt:lpstr>
      <vt:lpstr>Consume Secured REST API using AngularJS</vt:lpstr>
      <vt:lpstr>Consume Secured REST API using URL</vt:lpstr>
      <vt:lpstr>Consume Secured REST API using RestTemplate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1802</cp:revision>
  <dcterms:created xsi:type="dcterms:W3CDTF">2013-04-23T08:05:33Z</dcterms:created>
  <dcterms:modified xsi:type="dcterms:W3CDTF">2021-03-09T07:50:29Z</dcterms:modified>
</cp:coreProperties>
</file>
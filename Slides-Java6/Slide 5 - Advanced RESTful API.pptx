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44"/>
  </p:notesMasterIdLst>
  <p:sldIdLst>
    <p:sldId id="541" r:id="rId2"/>
    <p:sldId id="693" r:id="rId3"/>
    <p:sldId id="722" r:id="rId4"/>
    <p:sldId id="711" r:id="rId5"/>
    <p:sldId id="716" r:id="rId6"/>
    <p:sldId id="726" r:id="rId7"/>
    <p:sldId id="740" r:id="rId8"/>
    <p:sldId id="745" r:id="rId9"/>
    <p:sldId id="741" r:id="rId10"/>
    <p:sldId id="746" r:id="rId11"/>
    <p:sldId id="744" r:id="rId12"/>
    <p:sldId id="743" r:id="rId13"/>
    <p:sldId id="747" r:id="rId14"/>
    <p:sldId id="761" r:id="rId15"/>
    <p:sldId id="720" r:id="rId16"/>
    <p:sldId id="762" r:id="rId17"/>
    <p:sldId id="735" r:id="rId18"/>
    <p:sldId id="737" r:id="rId19"/>
    <p:sldId id="736" r:id="rId20"/>
    <p:sldId id="738" r:id="rId21"/>
    <p:sldId id="771" r:id="rId22"/>
    <p:sldId id="763" r:id="rId23"/>
    <p:sldId id="739" r:id="rId24"/>
    <p:sldId id="748" r:id="rId25"/>
    <p:sldId id="750" r:id="rId26"/>
    <p:sldId id="751" r:id="rId27"/>
    <p:sldId id="772" r:id="rId28"/>
    <p:sldId id="775" r:id="rId29"/>
    <p:sldId id="778" r:id="rId30"/>
    <p:sldId id="777" r:id="rId31"/>
    <p:sldId id="774" r:id="rId32"/>
    <p:sldId id="776" r:id="rId33"/>
    <p:sldId id="773" r:id="rId34"/>
    <p:sldId id="766" r:id="rId35"/>
    <p:sldId id="765" r:id="rId36"/>
    <p:sldId id="767" r:id="rId37"/>
    <p:sldId id="768" r:id="rId38"/>
    <p:sldId id="769" r:id="rId39"/>
    <p:sldId id="755" r:id="rId40"/>
    <p:sldId id="770" r:id="rId41"/>
    <p:sldId id="707" r:id="rId42"/>
    <p:sldId id="629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  <a:srgbClr val="F9F9F9"/>
    <a:srgbClr val="FF5A33"/>
    <a:srgbClr val="5C0000"/>
    <a:srgbClr val="FF9900"/>
    <a:srgbClr val="FFD1D1"/>
    <a:srgbClr val="FFB9B9"/>
    <a:srgbClr val="FF9797"/>
    <a:srgbClr val="FF8F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44" autoAdjust="0"/>
    <p:restoredTop sz="94364" autoAdjust="0"/>
  </p:normalViewPr>
  <p:slideViewPr>
    <p:cSldViewPr>
      <p:cViewPr varScale="1">
        <p:scale>
          <a:sx n="73" d="100"/>
          <a:sy n="73" d="100"/>
        </p:scale>
        <p:origin x="558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-2844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2CB819-52DA-49C3-A43B-E9B25D00089E}" type="doc">
      <dgm:prSet loTypeId="urn:microsoft.com/office/officeart/2005/8/layout/chevron2" loCatId="list" qsTypeId="urn:microsoft.com/office/officeart/2005/8/quickstyle/3d1" qsCatId="3D" csTypeId="urn:microsoft.com/office/officeart/2005/8/colors/colorful2" csCatId="colorful" phldr="1"/>
      <dgm:spPr>
        <a:scene3d>
          <a:camera prst="perspectiveRelaxedModerately"/>
          <a:lightRig rig="threePt" dir="t"/>
        </a:scene3d>
      </dgm:spPr>
      <dgm:t>
        <a:bodyPr/>
        <a:lstStyle/>
        <a:p>
          <a:endParaRPr lang="en-US"/>
        </a:p>
      </dgm:t>
    </dgm:pt>
    <dgm:pt modelId="{408E9CFE-02C4-4E9F-A2FF-1832087557B0}">
      <dgm:prSet phldrT="[Text]"/>
      <dgm:spPr/>
      <dgm:t>
        <a:bodyPr/>
        <a:lstStyle/>
        <a:p>
          <a:r>
            <a:rPr lang="en-US" dirty="0" smtClean="0"/>
            <a:t>Spring Boot REST API</a:t>
          </a:r>
          <a:endParaRPr lang="en-US" dirty="0"/>
        </a:p>
      </dgm:t>
    </dgm:pt>
    <dgm:pt modelId="{DC1BC18E-999D-4194-801D-C051843625EF}" type="parTrans" cxnId="{72A7D383-D838-4A55-8688-AE3DB17EAA0F}">
      <dgm:prSet/>
      <dgm:spPr/>
      <dgm:t>
        <a:bodyPr/>
        <a:lstStyle/>
        <a:p>
          <a:endParaRPr lang="en-US"/>
        </a:p>
      </dgm:t>
    </dgm:pt>
    <dgm:pt modelId="{665F8B6B-8366-46BB-8E4E-2855AC696B9E}" type="sibTrans" cxnId="{72A7D383-D838-4A55-8688-AE3DB17EAA0F}">
      <dgm:prSet/>
      <dgm:spPr/>
      <dgm:t>
        <a:bodyPr/>
        <a:lstStyle/>
        <a:p>
          <a:endParaRPr lang="en-US"/>
        </a:p>
      </dgm:t>
    </dgm:pt>
    <dgm:pt modelId="{F0FC9A7E-9366-43F2-8859-6A5F2127D9EC}">
      <dgm:prSet/>
      <dgm:spPr/>
      <dgm:t>
        <a:bodyPr/>
        <a:lstStyle/>
        <a:p>
          <a:r>
            <a:rPr lang="en-US" dirty="0" smtClean="0"/>
            <a:t>REST API with </a:t>
          </a:r>
          <a:r>
            <a:rPr lang="en-US" dirty="0" err="1" smtClean="0"/>
            <a:t>JpaRepository</a:t>
          </a:r>
          <a:endParaRPr lang="en-US" dirty="0" smtClean="0"/>
        </a:p>
      </dgm:t>
    </dgm:pt>
    <dgm:pt modelId="{289296AB-110F-48CD-B51A-9510DAF7D96C}" type="parTrans" cxnId="{C9D84ED1-ABE1-46FC-B23E-E3AF938E72BE}">
      <dgm:prSet/>
      <dgm:spPr/>
      <dgm:t>
        <a:bodyPr/>
        <a:lstStyle/>
        <a:p>
          <a:endParaRPr lang="en-US"/>
        </a:p>
      </dgm:t>
    </dgm:pt>
    <dgm:pt modelId="{7697D4CD-53B9-43F6-9250-95EB2F62F163}" type="sibTrans" cxnId="{C9D84ED1-ABE1-46FC-B23E-E3AF938E72BE}">
      <dgm:prSet/>
      <dgm:spPr/>
      <dgm:t>
        <a:bodyPr/>
        <a:lstStyle/>
        <a:p>
          <a:endParaRPr lang="en-US"/>
        </a:p>
      </dgm:t>
    </dgm:pt>
    <dgm:pt modelId="{8DCCAEA6-AAC4-452A-838B-4CFB9AC1C49C}">
      <dgm:prSet/>
      <dgm:spPr/>
      <dgm:t>
        <a:bodyPr/>
        <a:lstStyle/>
        <a:p>
          <a:r>
            <a:rPr lang="en-US" dirty="0" smtClean="0"/>
            <a:t>Upload/Download File REST API</a:t>
          </a:r>
        </a:p>
      </dgm:t>
    </dgm:pt>
    <dgm:pt modelId="{426D83DA-23CA-4A84-A598-C12D12C7CA93}" type="parTrans" cxnId="{E314FC79-FBC4-4640-8678-141DB2EDA749}">
      <dgm:prSet/>
      <dgm:spPr/>
      <dgm:t>
        <a:bodyPr/>
        <a:lstStyle/>
        <a:p>
          <a:endParaRPr lang="en-US"/>
        </a:p>
      </dgm:t>
    </dgm:pt>
    <dgm:pt modelId="{681CEBE7-06BE-466C-ACB0-C39B9A0094B3}" type="sibTrans" cxnId="{E314FC79-FBC4-4640-8678-141DB2EDA749}">
      <dgm:prSet/>
      <dgm:spPr/>
      <dgm:t>
        <a:bodyPr/>
        <a:lstStyle/>
        <a:p>
          <a:endParaRPr lang="en-US"/>
        </a:p>
      </dgm:t>
    </dgm:pt>
    <dgm:pt modelId="{B732165B-622B-49F4-844C-777C2EE1B94D}">
      <dgm:prSet phldrT="[Text]"/>
      <dgm:spPr/>
      <dgm:t>
        <a:bodyPr/>
        <a:lstStyle/>
        <a:p>
          <a:endParaRPr lang="en-US" dirty="0"/>
        </a:p>
      </dgm:t>
    </dgm:pt>
    <dgm:pt modelId="{55C5389D-CC36-4C0E-96B3-7FDB4D0F76F9}" type="parTrans" cxnId="{2F01F425-5C44-45B1-AC98-0802354CD262}">
      <dgm:prSet/>
      <dgm:spPr/>
      <dgm:t>
        <a:bodyPr/>
        <a:lstStyle/>
        <a:p>
          <a:endParaRPr lang="en-US"/>
        </a:p>
      </dgm:t>
    </dgm:pt>
    <dgm:pt modelId="{0BD1AEE7-83D2-4544-8C35-DC3A100745D0}" type="sibTrans" cxnId="{2F01F425-5C44-45B1-AC98-0802354CD262}">
      <dgm:prSet/>
      <dgm:spPr/>
      <dgm:t>
        <a:bodyPr/>
        <a:lstStyle/>
        <a:p>
          <a:endParaRPr lang="en-US"/>
        </a:p>
      </dgm:t>
    </dgm:pt>
    <dgm:pt modelId="{85CDFEFF-E8BB-4299-9C27-DF380AE3B9F3}">
      <dgm:prSet/>
      <dgm:spPr/>
      <dgm:t>
        <a:bodyPr/>
        <a:lstStyle/>
        <a:p>
          <a:endParaRPr lang="en-US" dirty="0" smtClean="0"/>
        </a:p>
      </dgm:t>
    </dgm:pt>
    <dgm:pt modelId="{98284C70-E019-4F34-8D27-5AA90DA961DF}" type="parTrans" cxnId="{7850D28B-FD60-47CC-ACB8-AA3188789440}">
      <dgm:prSet/>
      <dgm:spPr/>
      <dgm:t>
        <a:bodyPr/>
        <a:lstStyle/>
        <a:p>
          <a:endParaRPr lang="en-US"/>
        </a:p>
      </dgm:t>
    </dgm:pt>
    <dgm:pt modelId="{24ABD81F-CE18-4F15-AE4A-5B5A9B70CF6F}" type="sibTrans" cxnId="{7850D28B-FD60-47CC-ACB8-AA3188789440}">
      <dgm:prSet/>
      <dgm:spPr/>
      <dgm:t>
        <a:bodyPr/>
        <a:lstStyle/>
        <a:p>
          <a:endParaRPr lang="en-US"/>
        </a:p>
      </dgm:t>
    </dgm:pt>
    <dgm:pt modelId="{D96180E4-603A-4016-BFA4-7BDD51F165B2}">
      <dgm:prSet/>
      <dgm:spPr/>
      <dgm:t>
        <a:bodyPr/>
        <a:lstStyle/>
        <a:p>
          <a:r>
            <a:rPr lang="en-US" dirty="0" smtClean="0"/>
            <a:t>Import data Excel using REST API</a:t>
          </a:r>
        </a:p>
      </dgm:t>
    </dgm:pt>
    <dgm:pt modelId="{D7480D57-E9C1-4876-818D-881498A2F8FA}" type="parTrans" cxnId="{8BAC2089-2BEC-485E-A0FC-E8C77FFE83BA}">
      <dgm:prSet/>
      <dgm:spPr/>
      <dgm:t>
        <a:bodyPr/>
        <a:lstStyle/>
        <a:p>
          <a:endParaRPr lang="en-US"/>
        </a:p>
      </dgm:t>
    </dgm:pt>
    <dgm:pt modelId="{A7C1D4B4-9406-41D8-8E6B-9611FCA9BC51}" type="sibTrans" cxnId="{8BAC2089-2BEC-485E-A0FC-E8C77FFE83BA}">
      <dgm:prSet/>
      <dgm:spPr/>
      <dgm:t>
        <a:bodyPr/>
        <a:lstStyle/>
        <a:p>
          <a:endParaRPr lang="en-US"/>
        </a:p>
      </dgm:t>
    </dgm:pt>
    <dgm:pt modelId="{7523C129-95D5-4466-A82E-B241DC36BCD5}">
      <dgm:prSet/>
      <dgm:spPr/>
      <dgm:t>
        <a:bodyPr/>
        <a:lstStyle/>
        <a:p>
          <a:endParaRPr lang="en-US" dirty="0" smtClean="0"/>
        </a:p>
      </dgm:t>
    </dgm:pt>
    <dgm:pt modelId="{80A9B998-6DF3-4774-BD1C-87E80058A894}" type="parTrans" cxnId="{B2E83664-8F5C-4D21-BAC3-12422809A5B5}">
      <dgm:prSet/>
      <dgm:spPr/>
      <dgm:t>
        <a:bodyPr/>
        <a:lstStyle/>
        <a:p>
          <a:endParaRPr lang="en-US"/>
        </a:p>
      </dgm:t>
    </dgm:pt>
    <dgm:pt modelId="{F7D8F0EB-CDF8-4524-BF20-1FAA2026FB96}" type="sibTrans" cxnId="{B2E83664-8F5C-4D21-BAC3-12422809A5B5}">
      <dgm:prSet/>
      <dgm:spPr/>
      <dgm:t>
        <a:bodyPr/>
        <a:lstStyle/>
        <a:p>
          <a:endParaRPr lang="en-US"/>
        </a:p>
      </dgm:t>
    </dgm:pt>
    <dgm:pt modelId="{00651D28-1F3F-4E5B-826B-CFDECCB88E20}">
      <dgm:prSet/>
      <dgm:spPr/>
      <dgm:t>
        <a:bodyPr/>
        <a:lstStyle/>
        <a:p>
          <a:endParaRPr lang="en-US" dirty="0" smtClean="0"/>
        </a:p>
      </dgm:t>
    </dgm:pt>
    <dgm:pt modelId="{E0936279-ABE0-453B-9549-6830FD810ED1}" type="parTrans" cxnId="{FAAB89A2-3986-43EC-8B49-9F7C10032A49}">
      <dgm:prSet/>
      <dgm:spPr/>
      <dgm:t>
        <a:bodyPr/>
        <a:lstStyle/>
        <a:p>
          <a:endParaRPr lang="en-US"/>
        </a:p>
      </dgm:t>
    </dgm:pt>
    <dgm:pt modelId="{22C4BF8C-DB97-492E-8EAA-C2C9EEB7CD92}" type="sibTrans" cxnId="{FAAB89A2-3986-43EC-8B49-9F7C10032A49}">
      <dgm:prSet/>
      <dgm:spPr/>
      <dgm:t>
        <a:bodyPr/>
        <a:lstStyle/>
        <a:p>
          <a:endParaRPr lang="en-US"/>
        </a:p>
      </dgm:t>
    </dgm:pt>
    <dgm:pt modelId="{8178D5E9-81A5-4F57-A9E9-B5F004A13590}" type="pres">
      <dgm:prSet presAssocID="{1B2CB819-52DA-49C3-A43B-E9B25D00089E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EE26324-514A-4542-A335-3C719C91E8DA}" type="pres">
      <dgm:prSet presAssocID="{B732165B-622B-49F4-844C-777C2EE1B94D}" presName="composite" presStyleCnt="0"/>
      <dgm:spPr/>
    </dgm:pt>
    <dgm:pt modelId="{B549077E-3074-4B83-AD2B-F2CCF5C75CA6}" type="pres">
      <dgm:prSet presAssocID="{B732165B-622B-49F4-844C-777C2EE1B94D}" presName="parentText" presStyleLbl="align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98D284B-B30A-493F-97F4-AB717B707DDC}" type="pres">
      <dgm:prSet presAssocID="{B732165B-622B-49F4-844C-777C2EE1B94D}" presName="descendantText" presStyleLbl="align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329008E-38D3-453D-A8FA-49ABE3587EB1}" type="pres">
      <dgm:prSet presAssocID="{0BD1AEE7-83D2-4544-8C35-DC3A100745D0}" presName="sp" presStyleCnt="0"/>
      <dgm:spPr/>
    </dgm:pt>
    <dgm:pt modelId="{5B25EF6E-D4FD-46BD-8108-5AD0469D93F6}" type="pres">
      <dgm:prSet presAssocID="{85CDFEFF-E8BB-4299-9C27-DF380AE3B9F3}" presName="composite" presStyleCnt="0"/>
      <dgm:spPr/>
    </dgm:pt>
    <dgm:pt modelId="{D0A47847-1861-4E24-ACC8-F24644A55F1B}" type="pres">
      <dgm:prSet presAssocID="{85CDFEFF-E8BB-4299-9C27-DF380AE3B9F3}" presName="parentText" presStyleLbl="align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25F7ECC-88C2-4603-BCF2-132A3FB7B5DB}" type="pres">
      <dgm:prSet presAssocID="{85CDFEFF-E8BB-4299-9C27-DF380AE3B9F3}" presName="descendantText" presStyleLbl="align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0D07FEE-BE55-4231-A6EF-DD8FFD919A98}" type="pres">
      <dgm:prSet presAssocID="{24ABD81F-CE18-4F15-AE4A-5B5A9B70CF6F}" presName="sp" presStyleCnt="0"/>
      <dgm:spPr/>
    </dgm:pt>
    <dgm:pt modelId="{BB3E46B4-61E4-4A93-9853-C874BBE3F201}" type="pres">
      <dgm:prSet presAssocID="{7523C129-95D5-4466-A82E-B241DC36BCD5}" presName="composite" presStyleCnt="0"/>
      <dgm:spPr/>
    </dgm:pt>
    <dgm:pt modelId="{BCBF2FDB-BAC0-4322-85E4-F71E1938FA99}" type="pres">
      <dgm:prSet presAssocID="{7523C129-95D5-4466-A82E-B241DC36BCD5}" presName="parentText" presStyleLbl="align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4BE20CC-80A5-4E94-B3E6-558186B22E09}" type="pres">
      <dgm:prSet presAssocID="{7523C129-95D5-4466-A82E-B241DC36BCD5}" presName="descendantText" presStyleLbl="align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E80572-D856-4B70-A136-341310EF6B04}" type="pres">
      <dgm:prSet presAssocID="{F7D8F0EB-CDF8-4524-BF20-1FAA2026FB96}" presName="sp" presStyleCnt="0"/>
      <dgm:spPr/>
    </dgm:pt>
    <dgm:pt modelId="{B30A4720-A703-459F-BC98-A8E3BA8F5CF5}" type="pres">
      <dgm:prSet presAssocID="{00651D28-1F3F-4E5B-826B-CFDECCB88E20}" presName="composite" presStyleCnt="0"/>
      <dgm:spPr/>
    </dgm:pt>
    <dgm:pt modelId="{A8496B1D-2DBD-40ED-8D24-2F5CFEFA03AB}" type="pres">
      <dgm:prSet presAssocID="{00651D28-1F3F-4E5B-826B-CFDECCB88E20}" presName="parentText" presStyleLbl="align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6029A3-E64D-4B8C-AE6B-09C6DC19A13F}" type="pres">
      <dgm:prSet presAssocID="{00651D28-1F3F-4E5B-826B-CFDECCB88E20}" presName="descendantText" presStyleLbl="align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4A652D7-F42A-4102-BE0B-4BF54E255462}" type="presOf" srcId="{00651D28-1F3F-4E5B-826B-CFDECCB88E20}" destId="{A8496B1D-2DBD-40ED-8D24-2F5CFEFA03AB}" srcOrd="0" destOrd="0" presId="urn:microsoft.com/office/officeart/2005/8/layout/chevron2"/>
    <dgm:cxn modelId="{03DD840B-4AE6-45EB-B7E0-5E5CEE9780CB}" type="presOf" srcId="{1B2CB819-52DA-49C3-A43B-E9B25D00089E}" destId="{8178D5E9-81A5-4F57-A9E9-B5F004A13590}" srcOrd="0" destOrd="0" presId="urn:microsoft.com/office/officeart/2005/8/layout/chevron2"/>
    <dgm:cxn modelId="{B6ECAA80-277C-49AD-8946-1E697B02052B}" type="presOf" srcId="{D96180E4-603A-4016-BFA4-7BDD51F165B2}" destId="{74BE20CC-80A5-4E94-B3E6-558186B22E09}" srcOrd="0" destOrd="0" presId="urn:microsoft.com/office/officeart/2005/8/layout/chevron2"/>
    <dgm:cxn modelId="{65CAF747-9585-4353-A704-78864958FC22}" type="presOf" srcId="{7523C129-95D5-4466-A82E-B241DC36BCD5}" destId="{BCBF2FDB-BAC0-4322-85E4-F71E1938FA99}" srcOrd="0" destOrd="0" presId="urn:microsoft.com/office/officeart/2005/8/layout/chevron2"/>
    <dgm:cxn modelId="{B2E83664-8F5C-4D21-BAC3-12422809A5B5}" srcId="{1B2CB819-52DA-49C3-A43B-E9B25D00089E}" destId="{7523C129-95D5-4466-A82E-B241DC36BCD5}" srcOrd="2" destOrd="0" parTransId="{80A9B998-6DF3-4774-BD1C-87E80058A894}" sibTransId="{F7D8F0EB-CDF8-4524-BF20-1FAA2026FB96}"/>
    <dgm:cxn modelId="{7590E712-CF21-473A-9345-2D1E4BD22380}" type="presOf" srcId="{B732165B-622B-49F4-844C-777C2EE1B94D}" destId="{B549077E-3074-4B83-AD2B-F2CCF5C75CA6}" srcOrd="0" destOrd="0" presId="urn:microsoft.com/office/officeart/2005/8/layout/chevron2"/>
    <dgm:cxn modelId="{72A7D383-D838-4A55-8688-AE3DB17EAA0F}" srcId="{B732165B-622B-49F4-844C-777C2EE1B94D}" destId="{408E9CFE-02C4-4E9F-A2FF-1832087557B0}" srcOrd="0" destOrd="0" parTransId="{DC1BC18E-999D-4194-801D-C051843625EF}" sibTransId="{665F8B6B-8366-46BB-8E4E-2855AC696B9E}"/>
    <dgm:cxn modelId="{7850D28B-FD60-47CC-ACB8-AA3188789440}" srcId="{1B2CB819-52DA-49C3-A43B-E9B25D00089E}" destId="{85CDFEFF-E8BB-4299-9C27-DF380AE3B9F3}" srcOrd="1" destOrd="0" parTransId="{98284C70-E019-4F34-8D27-5AA90DA961DF}" sibTransId="{24ABD81F-CE18-4F15-AE4A-5B5A9B70CF6F}"/>
    <dgm:cxn modelId="{C048054F-8768-4A7D-899D-001E7CD3B17C}" type="presOf" srcId="{8DCCAEA6-AAC4-452A-838B-4CFB9AC1C49C}" destId="{3D6029A3-E64D-4B8C-AE6B-09C6DC19A13F}" srcOrd="0" destOrd="0" presId="urn:microsoft.com/office/officeart/2005/8/layout/chevron2"/>
    <dgm:cxn modelId="{313F3107-06F2-4869-BC3D-7851DC9F24E8}" type="presOf" srcId="{408E9CFE-02C4-4E9F-A2FF-1832087557B0}" destId="{E98D284B-B30A-493F-97F4-AB717B707DDC}" srcOrd="0" destOrd="0" presId="urn:microsoft.com/office/officeart/2005/8/layout/chevron2"/>
    <dgm:cxn modelId="{E314FC79-FBC4-4640-8678-141DB2EDA749}" srcId="{00651D28-1F3F-4E5B-826B-CFDECCB88E20}" destId="{8DCCAEA6-AAC4-452A-838B-4CFB9AC1C49C}" srcOrd="0" destOrd="0" parTransId="{426D83DA-23CA-4A84-A598-C12D12C7CA93}" sibTransId="{681CEBE7-06BE-466C-ACB0-C39B9A0094B3}"/>
    <dgm:cxn modelId="{FAAB89A2-3986-43EC-8B49-9F7C10032A49}" srcId="{1B2CB819-52DA-49C3-A43B-E9B25D00089E}" destId="{00651D28-1F3F-4E5B-826B-CFDECCB88E20}" srcOrd="3" destOrd="0" parTransId="{E0936279-ABE0-453B-9549-6830FD810ED1}" sibTransId="{22C4BF8C-DB97-492E-8EAA-C2C9EEB7CD92}"/>
    <dgm:cxn modelId="{8BAC2089-2BEC-485E-A0FC-E8C77FFE83BA}" srcId="{7523C129-95D5-4466-A82E-B241DC36BCD5}" destId="{D96180E4-603A-4016-BFA4-7BDD51F165B2}" srcOrd="0" destOrd="0" parTransId="{D7480D57-E9C1-4876-818D-881498A2F8FA}" sibTransId="{A7C1D4B4-9406-41D8-8E6B-9611FCA9BC51}"/>
    <dgm:cxn modelId="{C4BF5B22-3216-4BD6-9814-B5FFDBBF1C92}" type="presOf" srcId="{85CDFEFF-E8BB-4299-9C27-DF380AE3B9F3}" destId="{D0A47847-1861-4E24-ACC8-F24644A55F1B}" srcOrd="0" destOrd="0" presId="urn:microsoft.com/office/officeart/2005/8/layout/chevron2"/>
    <dgm:cxn modelId="{2F01F425-5C44-45B1-AC98-0802354CD262}" srcId="{1B2CB819-52DA-49C3-A43B-E9B25D00089E}" destId="{B732165B-622B-49F4-844C-777C2EE1B94D}" srcOrd="0" destOrd="0" parTransId="{55C5389D-CC36-4C0E-96B3-7FDB4D0F76F9}" sibTransId="{0BD1AEE7-83D2-4544-8C35-DC3A100745D0}"/>
    <dgm:cxn modelId="{4113A82C-20EC-4288-842F-265A699A6316}" type="presOf" srcId="{F0FC9A7E-9366-43F2-8859-6A5F2127D9EC}" destId="{825F7ECC-88C2-4603-BCF2-132A3FB7B5DB}" srcOrd="0" destOrd="0" presId="urn:microsoft.com/office/officeart/2005/8/layout/chevron2"/>
    <dgm:cxn modelId="{C9D84ED1-ABE1-46FC-B23E-E3AF938E72BE}" srcId="{85CDFEFF-E8BB-4299-9C27-DF380AE3B9F3}" destId="{F0FC9A7E-9366-43F2-8859-6A5F2127D9EC}" srcOrd="0" destOrd="0" parTransId="{289296AB-110F-48CD-B51A-9510DAF7D96C}" sibTransId="{7697D4CD-53B9-43F6-9250-95EB2F62F163}"/>
    <dgm:cxn modelId="{B71279E1-6B00-4B29-BE8E-5DE1FCE7B7DB}" type="presParOf" srcId="{8178D5E9-81A5-4F57-A9E9-B5F004A13590}" destId="{4EE26324-514A-4542-A335-3C719C91E8DA}" srcOrd="0" destOrd="0" presId="urn:microsoft.com/office/officeart/2005/8/layout/chevron2"/>
    <dgm:cxn modelId="{FC140393-C5B9-4B78-A274-D7FC62A6AA7C}" type="presParOf" srcId="{4EE26324-514A-4542-A335-3C719C91E8DA}" destId="{B549077E-3074-4B83-AD2B-F2CCF5C75CA6}" srcOrd="0" destOrd="0" presId="urn:microsoft.com/office/officeart/2005/8/layout/chevron2"/>
    <dgm:cxn modelId="{DA64836F-1EAC-4905-A2BB-E48ED5C758C6}" type="presParOf" srcId="{4EE26324-514A-4542-A335-3C719C91E8DA}" destId="{E98D284B-B30A-493F-97F4-AB717B707DDC}" srcOrd="1" destOrd="0" presId="urn:microsoft.com/office/officeart/2005/8/layout/chevron2"/>
    <dgm:cxn modelId="{472B398E-258C-448F-AD88-C3174A8AB1E5}" type="presParOf" srcId="{8178D5E9-81A5-4F57-A9E9-B5F004A13590}" destId="{1329008E-38D3-453D-A8FA-49ABE3587EB1}" srcOrd="1" destOrd="0" presId="urn:microsoft.com/office/officeart/2005/8/layout/chevron2"/>
    <dgm:cxn modelId="{1E21E5B4-3E31-4CAB-B28A-B54242E4A5E1}" type="presParOf" srcId="{8178D5E9-81A5-4F57-A9E9-B5F004A13590}" destId="{5B25EF6E-D4FD-46BD-8108-5AD0469D93F6}" srcOrd="2" destOrd="0" presId="urn:microsoft.com/office/officeart/2005/8/layout/chevron2"/>
    <dgm:cxn modelId="{47B3253E-F359-4D41-A8BE-AFB8E5FD532F}" type="presParOf" srcId="{5B25EF6E-D4FD-46BD-8108-5AD0469D93F6}" destId="{D0A47847-1861-4E24-ACC8-F24644A55F1B}" srcOrd="0" destOrd="0" presId="urn:microsoft.com/office/officeart/2005/8/layout/chevron2"/>
    <dgm:cxn modelId="{6F57477E-E62C-42CC-A8D0-BB4D91C93538}" type="presParOf" srcId="{5B25EF6E-D4FD-46BD-8108-5AD0469D93F6}" destId="{825F7ECC-88C2-4603-BCF2-132A3FB7B5DB}" srcOrd="1" destOrd="0" presId="urn:microsoft.com/office/officeart/2005/8/layout/chevron2"/>
    <dgm:cxn modelId="{43DA386A-461D-4403-A92C-84E28B2503A1}" type="presParOf" srcId="{8178D5E9-81A5-4F57-A9E9-B5F004A13590}" destId="{60D07FEE-BE55-4231-A6EF-DD8FFD919A98}" srcOrd="3" destOrd="0" presId="urn:microsoft.com/office/officeart/2005/8/layout/chevron2"/>
    <dgm:cxn modelId="{8403F788-4654-49FA-9C07-5928AD3AA91C}" type="presParOf" srcId="{8178D5E9-81A5-4F57-A9E9-B5F004A13590}" destId="{BB3E46B4-61E4-4A93-9853-C874BBE3F201}" srcOrd="4" destOrd="0" presId="urn:microsoft.com/office/officeart/2005/8/layout/chevron2"/>
    <dgm:cxn modelId="{FAF563EE-7171-43FA-8934-63C6F728D2CB}" type="presParOf" srcId="{BB3E46B4-61E4-4A93-9853-C874BBE3F201}" destId="{BCBF2FDB-BAC0-4322-85E4-F71E1938FA99}" srcOrd="0" destOrd="0" presId="urn:microsoft.com/office/officeart/2005/8/layout/chevron2"/>
    <dgm:cxn modelId="{8E94FC95-DE3E-48EB-9CC5-2E090B9F17BF}" type="presParOf" srcId="{BB3E46B4-61E4-4A93-9853-C874BBE3F201}" destId="{74BE20CC-80A5-4E94-B3E6-558186B22E09}" srcOrd="1" destOrd="0" presId="urn:microsoft.com/office/officeart/2005/8/layout/chevron2"/>
    <dgm:cxn modelId="{C9763BD3-2E8E-4FB8-8ABE-865D1F627AC2}" type="presParOf" srcId="{8178D5E9-81A5-4F57-A9E9-B5F004A13590}" destId="{88E80572-D856-4B70-A136-341310EF6B04}" srcOrd="5" destOrd="0" presId="urn:microsoft.com/office/officeart/2005/8/layout/chevron2"/>
    <dgm:cxn modelId="{98FC70E8-AB46-4760-8FDF-ED2F081438B2}" type="presParOf" srcId="{8178D5E9-81A5-4F57-A9E9-B5F004A13590}" destId="{B30A4720-A703-459F-BC98-A8E3BA8F5CF5}" srcOrd="6" destOrd="0" presId="urn:microsoft.com/office/officeart/2005/8/layout/chevron2"/>
    <dgm:cxn modelId="{8DD6AE61-84F5-44AA-901A-50367427B600}" type="presParOf" srcId="{B30A4720-A703-459F-BC98-A8E3BA8F5CF5}" destId="{A8496B1D-2DBD-40ED-8D24-2F5CFEFA03AB}" srcOrd="0" destOrd="0" presId="urn:microsoft.com/office/officeart/2005/8/layout/chevron2"/>
    <dgm:cxn modelId="{030F1CCE-B95E-475D-8C09-44732E1FFC7C}" type="presParOf" srcId="{B30A4720-A703-459F-BC98-A8E3BA8F5CF5}" destId="{3D6029A3-E64D-4B8C-AE6B-09C6DC19A13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49077E-3074-4B83-AD2B-F2CCF5C75CA6}">
      <dsp:nvSpPr>
        <dsp:cNvPr id="0" name=""/>
        <dsp:cNvSpPr/>
      </dsp:nvSpPr>
      <dsp:spPr>
        <a:xfrm rot="5400000">
          <a:off x="-228484" y="229036"/>
          <a:ext cx="1523230" cy="1066261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000" kern="1200" dirty="0"/>
        </a:p>
      </dsp:txBody>
      <dsp:txXfrm rot="-5400000">
        <a:off x="1" y="533683"/>
        <a:ext cx="1066261" cy="456969"/>
      </dsp:txXfrm>
    </dsp:sp>
    <dsp:sp modelId="{E98D284B-B30A-493F-97F4-AB717B707DDC}">
      <dsp:nvSpPr>
        <dsp:cNvPr id="0" name=""/>
        <dsp:cNvSpPr/>
      </dsp:nvSpPr>
      <dsp:spPr>
        <a:xfrm rot="5400000">
          <a:off x="4000480" y="-2933667"/>
          <a:ext cx="990099" cy="685853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63144" tIns="23495" rIns="23495" bIns="23495" numCol="1" spcCol="1270" anchor="ctr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700" kern="1200" dirty="0" smtClean="0"/>
            <a:t>Spring Boot REST API</a:t>
          </a:r>
          <a:endParaRPr lang="en-US" sz="3700" kern="1200" dirty="0"/>
        </a:p>
      </dsp:txBody>
      <dsp:txXfrm rot="-5400000">
        <a:off x="1066261" y="48885"/>
        <a:ext cx="6810205" cy="893433"/>
      </dsp:txXfrm>
    </dsp:sp>
    <dsp:sp modelId="{D0A47847-1861-4E24-ACC8-F24644A55F1B}">
      <dsp:nvSpPr>
        <dsp:cNvPr id="0" name=""/>
        <dsp:cNvSpPr/>
      </dsp:nvSpPr>
      <dsp:spPr>
        <a:xfrm rot="5400000">
          <a:off x="-228484" y="1608145"/>
          <a:ext cx="1523230" cy="1066261"/>
        </a:xfrm>
        <a:prstGeom prst="chevron">
          <a:avLst/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shade val="51000"/>
                <a:satMod val="130000"/>
              </a:schemeClr>
            </a:gs>
            <a:gs pos="80000">
              <a:schemeClr val="accent2">
                <a:hueOff val="1560506"/>
                <a:satOff val="-1946"/>
                <a:lumOff val="458"/>
                <a:alphaOff val="0"/>
                <a:shade val="93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000" kern="1200" dirty="0" smtClean="0"/>
        </a:p>
      </dsp:txBody>
      <dsp:txXfrm rot="-5400000">
        <a:off x="1" y="1912792"/>
        <a:ext cx="1066261" cy="456969"/>
      </dsp:txXfrm>
    </dsp:sp>
    <dsp:sp modelId="{825F7ECC-88C2-4603-BCF2-132A3FB7B5DB}">
      <dsp:nvSpPr>
        <dsp:cNvPr id="0" name=""/>
        <dsp:cNvSpPr/>
      </dsp:nvSpPr>
      <dsp:spPr>
        <a:xfrm rot="5400000">
          <a:off x="4000480" y="-1554558"/>
          <a:ext cx="990099" cy="685853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63144" tIns="23495" rIns="23495" bIns="23495" numCol="1" spcCol="1270" anchor="ctr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700" kern="1200" dirty="0" smtClean="0"/>
            <a:t>REST API with </a:t>
          </a:r>
          <a:r>
            <a:rPr lang="en-US" sz="3700" kern="1200" dirty="0" err="1" smtClean="0"/>
            <a:t>JpaRepository</a:t>
          </a:r>
          <a:endParaRPr lang="en-US" sz="3700" kern="1200" dirty="0" smtClean="0"/>
        </a:p>
      </dsp:txBody>
      <dsp:txXfrm rot="-5400000">
        <a:off x="1066261" y="1427994"/>
        <a:ext cx="6810205" cy="893433"/>
      </dsp:txXfrm>
    </dsp:sp>
    <dsp:sp modelId="{BCBF2FDB-BAC0-4322-85E4-F71E1938FA99}">
      <dsp:nvSpPr>
        <dsp:cNvPr id="0" name=""/>
        <dsp:cNvSpPr/>
      </dsp:nvSpPr>
      <dsp:spPr>
        <a:xfrm rot="5400000">
          <a:off x="-228484" y="2987254"/>
          <a:ext cx="1523230" cy="1066261"/>
        </a:xfrm>
        <a:prstGeom prst="chevron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shade val="51000"/>
                <a:satMod val="130000"/>
              </a:schemeClr>
            </a:gs>
            <a:gs pos="80000">
              <a:schemeClr val="accent2">
                <a:hueOff val="3121013"/>
                <a:satOff val="-3893"/>
                <a:lumOff val="915"/>
                <a:alphaOff val="0"/>
                <a:shade val="93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000" kern="1200" dirty="0" smtClean="0"/>
        </a:p>
      </dsp:txBody>
      <dsp:txXfrm rot="-5400000">
        <a:off x="1" y="3291901"/>
        <a:ext cx="1066261" cy="456969"/>
      </dsp:txXfrm>
    </dsp:sp>
    <dsp:sp modelId="{74BE20CC-80A5-4E94-B3E6-558186B22E09}">
      <dsp:nvSpPr>
        <dsp:cNvPr id="0" name=""/>
        <dsp:cNvSpPr/>
      </dsp:nvSpPr>
      <dsp:spPr>
        <a:xfrm rot="5400000">
          <a:off x="4000480" y="-175449"/>
          <a:ext cx="990099" cy="685853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63144" tIns="23495" rIns="23495" bIns="23495" numCol="1" spcCol="1270" anchor="ctr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700" kern="1200" dirty="0" smtClean="0"/>
            <a:t>Import data Excel using REST API</a:t>
          </a:r>
        </a:p>
      </dsp:txBody>
      <dsp:txXfrm rot="-5400000">
        <a:off x="1066261" y="2807103"/>
        <a:ext cx="6810205" cy="893433"/>
      </dsp:txXfrm>
    </dsp:sp>
    <dsp:sp modelId="{A8496B1D-2DBD-40ED-8D24-2F5CFEFA03AB}">
      <dsp:nvSpPr>
        <dsp:cNvPr id="0" name=""/>
        <dsp:cNvSpPr/>
      </dsp:nvSpPr>
      <dsp:spPr>
        <a:xfrm rot="5400000">
          <a:off x="-228484" y="4366363"/>
          <a:ext cx="1523230" cy="1066261"/>
        </a:xfrm>
        <a:prstGeom prst="chevron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000" kern="1200" dirty="0" smtClean="0"/>
        </a:p>
      </dsp:txBody>
      <dsp:txXfrm rot="-5400000">
        <a:off x="1" y="4671010"/>
        <a:ext cx="1066261" cy="456969"/>
      </dsp:txXfrm>
    </dsp:sp>
    <dsp:sp modelId="{3D6029A3-E64D-4B8C-AE6B-09C6DC19A13F}">
      <dsp:nvSpPr>
        <dsp:cNvPr id="0" name=""/>
        <dsp:cNvSpPr/>
      </dsp:nvSpPr>
      <dsp:spPr>
        <a:xfrm rot="5400000">
          <a:off x="4000480" y="1203659"/>
          <a:ext cx="990099" cy="685853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63144" tIns="23495" rIns="23495" bIns="23495" numCol="1" spcCol="1270" anchor="ctr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700" kern="1200" dirty="0" smtClean="0"/>
            <a:t>Upload/Download File REST API</a:t>
          </a:r>
        </a:p>
      </dsp:txBody>
      <dsp:txXfrm rot="-5400000">
        <a:off x="1066261" y="4186212"/>
        <a:ext cx="6810205" cy="8934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E60FC1-C18A-41E1-B5B3-73A5F51CC4CD}" type="datetimeFigureOut">
              <a:rPr lang="en-US" smtClean="0"/>
              <a:pPr/>
              <a:t>3/10/2021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D6F88A-F17F-491B-A558-A5E9980DD5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872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StudentRestController</a:t>
            </a:r>
            <a:r>
              <a:rPr lang="en-US" dirty="0" smtClean="0"/>
              <a:t> &amp; Postman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6F88A-F17F-491B-A558-A5E9980DD532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471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Database,</a:t>
            </a:r>
            <a:r>
              <a:rPr lang="en-US" baseline="0" dirty="0" smtClean="0"/>
              <a:t> Entity &amp; DAO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6F88A-F17F-491B-A558-A5E9980DD532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1696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AngularJS:</a:t>
            </a:r>
          </a:p>
          <a:p>
            <a:r>
              <a:rPr lang="en-US" dirty="0" smtClean="0"/>
              <a:t>+ CRUD Category</a:t>
            </a:r>
          </a:p>
          <a:p>
            <a:r>
              <a:rPr lang="en-US" smtClean="0"/>
              <a:t>+ Filter</a:t>
            </a:r>
            <a:r>
              <a:rPr lang="en-US" baseline="0" smtClean="0"/>
              <a:t> </a:t>
            </a:r>
            <a:r>
              <a:rPr lang="en-US" baseline="0" dirty="0" smtClean="0"/>
              <a:t>products by category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6F88A-F17F-491B-A558-A5E9980DD532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356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CRUD Category</a:t>
            </a:r>
          </a:p>
          <a:p>
            <a:r>
              <a:rPr lang="en-US" dirty="0" smtClean="0"/>
              <a:t>Display</a:t>
            </a:r>
            <a:r>
              <a:rPr lang="en-US" baseline="0" dirty="0" smtClean="0"/>
              <a:t> products by category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6F88A-F17F-491B-A558-A5E9980DD532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7233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Tạo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dự</a:t>
            </a:r>
            <a:r>
              <a:rPr lang="en-US" baseline="0" dirty="0" smtClean="0"/>
              <a:t> </a:t>
            </a:r>
            <a:r>
              <a:rPr lang="en-US" baseline="0" dirty="0" err="1" smtClean="0"/>
              <a:t>án</a:t>
            </a:r>
            <a:r>
              <a:rPr lang="en-US" baseline="0" dirty="0" smtClean="0"/>
              <a:t> Spring Boot &amp; </a:t>
            </a:r>
            <a:r>
              <a:rPr lang="en-US" baseline="0" dirty="0" err="1" smtClean="0"/>
              <a:t>Thymeleaf</a:t>
            </a:r>
            <a:endParaRPr lang="en-US" baseline="0" dirty="0" smtClean="0"/>
          </a:p>
          <a:p>
            <a:r>
              <a:rPr lang="en-US" baseline="0" dirty="0" err="1" smtClean="0"/>
              <a:t>Tạo</a:t>
            </a:r>
            <a:r>
              <a:rPr lang="en-US" baseline="0" dirty="0" smtClean="0"/>
              <a:t> Controller </a:t>
            </a:r>
            <a:r>
              <a:rPr lang="en-US" baseline="0" dirty="0" err="1" smtClean="0"/>
              <a:t>truyền</a:t>
            </a:r>
            <a:r>
              <a:rPr lang="en-US" baseline="0" dirty="0" smtClean="0"/>
              <a:t> message sang view</a:t>
            </a:r>
          </a:p>
          <a:p>
            <a:r>
              <a:rPr lang="en-US" baseline="0" dirty="0" err="1" smtClean="0"/>
              <a:t>Hiển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thị</a:t>
            </a:r>
            <a:r>
              <a:rPr lang="en-US" baseline="0" dirty="0" smtClean="0"/>
              <a:t> message </a:t>
            </a:r>
            <a:r>
              <a:rPr lang="en-US" baseline="0" dirty="0" err="1" smtClean="0"/>
              <a:t>với</a:t>
            </a:r>
            <a:r>
              <a:rPr lang="en-US" baseline="0" dirty="0" smtClean="0"/>
              <a:t> text, </a:t>
            </a:r>
            <a:r>
              <a:rPr lang="en-US" baseline="0" dirty="0" err="1" smtClean="0"/>
              <a:t>utext</a:t>
            </a:r>
            <a:r>
              <a:rPr lang="en-US" baseline="0" dirty="0" smtClean="0"/>
              <a:t>, [[]], [()]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6F88A-F17F-491B-A558-A5E9980DD532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133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98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269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522B80A-419E-4A25-A0FF-711AF4C34A5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41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436162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6F88A-F17F-491B-A558-A5E9980DD532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016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763" y="-4763"/>
            <a:ext cx="12201525" cy="686752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4953000"/>
            <a:ext cx="6705600" cy="990600"/>
          </a:xfrm>
        </p:spPr>
        <p:txBody>
          <a:bodyPr>
            <a:normAutofit/>
          </a:bodyPr>
          <a:lstStyle>
            <a:lvl1pPr marL="0" indent="0" algn="l">
              <a:buNone/>
              <a:defRPr sz="22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5583936" y="4953000"/>
            <a:ext cx="6303264" cy="0"/>
          </a:xfrm>
          <a:prstGeom prst="line">
            <a:avLst/>
          </a:prstGeom>
          <a:ln w="3175">
            <a:solidFill>
              <a:srgbClr val="FF5A3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 userDrawn="1"/>
        </p:nvSpPr>
        <p:spPr>
          <a:xfrm>
            <a:off x="1060704" y="2133600"/>
            <a:ext cx="3308096" cy="3048000"/>
          </a:xfrm>
          <a:prstGeom prst="ellipse">
            <a:avLst/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5506720" y="4284596"/>
            <a:ext cx="6100064" cy="704980"/>
          </a:xfrm>
        </p:spPr>
        <p:txBody>
          <a:bodyPr>
            <a:normAutofit/>
          </a:bodyPr>
          <a:lstStyle>
            <a:lvl1pPr algn="l">
              <a:defRPr lang="en-US" sz="3400" b="1" kern="1200" cap="small" baseline="0" dirty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 err="1" smtClean="0"/>
              <a:t>Tên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6000" y="2743200"/>
            <a:ext cx="3352800" cy="18288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537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5202" y="274638"/>
            <a:ext cx="9347198" cy="487362"/>
          </a:xfrm>
        </p:spPr>
        <p:txBody>
          <a:bodyPr>
            <a:noAutofit/>
          </a:bodyPr>
          <a:lstStyle>
            <a:lvl1pPr algn="r">
              <a:defRPr sz="28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5257800"/>
          </a:xfrm>
        </p:spPr>
        <p:txBody>
          <a:bodyPr>
            <a:normAutofit/>
          </a:bodyPr>
          <a:lstStyle>
            <a:lvl1pPr marL="342900" indent="-342900">
              <a:buClr>
                <a:srgbClr val="FF5A33"/>
              </a:buClr>
              <a:buFont typeface="Wingdings" pitchFamily="2" charset="2"/>
              <a:buChar char="q"/>
              <a:defRPr sz="2800">
                <a:latin typeface="Segoe UI" pitchFamily="34" charset="0"/>
                <a:cs typeface="Segoe UI" pitchFamily="34" charset="0"/>
              </a:defRPr>
            </a:lvl1pPr>
            <a:lvl2pPr marL="742950" indent="-285750">
              <a:buClr>
                <a:srgbClr val="FF5A33"/>
              </a:buClr>
              <a:buFont typeface="Wingdings" pitchFamily="2" charset="2"/>
              <a:buChar char="v"/>
              <a:defRPr sz="2400">
                <a:latin typeface="Segoe UI" pitchFamily="34" charset="0"/>
                <a:cs typeface="Segoe UI" pitchFamily="34" charset="0"/>
              </a:defRPr>
            </a:lvl2pPr>
            <a:lvl3pPr marL="1143000" indent="-228600">
              <a:buClr>
                <a:srgbClr val="FF5A33"/>
              </a:buClr>
              <a:buFont typeface="Wingdings" pitchFamily="2" charset="2"/>
              <a:buChar char="Ø"/>
              <a:defRPr sz="2000">
                <a:latin typeface="Segoe UI" pitchFamily="34" charset="0"/>
                <a:cs typeface="Segoe UI" pitchFamily="34" charset="0"/>
              </a:defRPr>
            </a:lvl3pPr>
            <a:lvl4pPr marL="1600200" indent="-228600">
              <a:buClr>
                <a:srgbClr val="FF5A33"/>
              </a:buClr>
              <a:buFont typeface="Wingdings" pitchFamily="2" charset="2"/>
              <a:buChar char="ü"/>
              <a:defRPr sz="1800">
                <a:latin typeface="Segoe UI" pitchFamily="34" charset="0"/>
                <a:cs typeface="Segoe UI" pitchFamily="34" charset="0"/>
              </a:defRPr>
            </a:lvl4pPr>
            <a:lvl5pPr marL="2057400" indent="-228600">
              <a:buClr>
                <a:srgbClr val="FF5A33"/>
              </a:buClr>
              <a:buFont typeface="Wingdings" pitchFamily="2" charset="2"/>
              <a:buChar char="§"/>
              <a:defRPr sz="1800">
                <a:latin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6573"/>
            <a:ext cx="1625602" cy="713824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609600" y="838200"/>
            <a:ext cx="109728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400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840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71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54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2032000" y="2551018"/>
            <a:ext cx="8534400" cy="32647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8" name="Picture 2" descr="http://uconndigitalarts.com/wp-content/uploads/2013/04/original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3958" r="96146">
                        <a14:backgroundMark x1="16667" y1="54630" x2="86042" y2="55185"/>
                        <a14:backgroundMark x1="90625" y1="53889" x2="93125" y2="53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978" b="41311"/>
          <a:stretch/>
        </p:blipFill>
        <p:spPr bwMode="auto">
          <a:xfrm flipH="1">
            <a:off x="3732707" y="2575401"/>
            <a:ext cx="4568091" cy="283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powerpoint.vn\Downloads\1e2cd4b177168ad16ce2e7c504bba4d2.x400.jpeg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50" b="81000" l="9971" r="89736">
                        <a14:backgroundMark x1="33724" y1="42750" x2="69208" y2="55250"/>
                        <a14:backgroundMark x1="25806" y1="33250" x2="25806" y2="37500"/>
                        <a14:backgroundMark x1="26100" y1="32250" x2="26100" y2="32250"/>
                        <a14:backgroundMark x1="70674" y1="35750" x2="70674" y2="35750"/>
                        <a14:backgroundMark x1="76246" y1="31250" x2="76246" y2="31250"/>
                        <a14:backgroundMark x1="70968" y1="34750" x2="70968" y2="34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5710"/>
          <a:stretch/>
        </p:blipFill>
        <p:spPr bwMode="auto">
          <a:xfrm>
            <a:off x="2568620" y="609600"/>
            <a:ext cx="7257961" cy="282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4103893" y="3124200"/>
            <a:ext cx="4735308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200" b="1" dirty="0" smtClean="0">
                <a:solidFill>
                  <a:schemeClr val="bg1"/>
                </a:solidFill>
              </a:rPr>
              <a:t>DEM</a:t>
            </a:r>
            <a:r>
              <a:rPr lang="en-US" sz="11500" b="1" dirty="0" smtClean="0">
                <a:solidFill>
                  <a:schemeClr val="bg1"/>
                </a:solidFill>
              </a:rPr>
              <a:t>O</a:t>
            </a:r>
          </a:p>
          <a:p>
            <a:endParaRPr lang="en-US" sz="1800" dirty="0"/>
          </a:p>
        </p:txBody>
      </p:sp>
      <p:pic>
        <p:nvPicPr>
          <p:cNvPr id="10" name="Picture 2" descr="http://www.designofsignage.com/application/symbol/hands/image/600x600/hand-press-button-4.jp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9500" l="10000" r="90000">
                        <a14:foregroundMark x1="35833" y1="26500" x2="41500" y2="8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752" y="3568725"/>
            <a:ext cx="3488947" cy="261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9196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08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635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59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500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26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itle Placeholder 1"/>
          <p:cNvSpPr txBox="1">
            <a:spLocks/>
          </p:cNvSpPr>
          <p:nvPr userDrawn="1"/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200" b="1" kern="1200" cap="small" baseline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r>
              <a:rPr lang="en-US" sz="3200" dirty="0" smtClean="0"/>
              <a:t>Click to edit Master title style</a:t>
            </a:r>
            <a:endParaRPr lang="en-US" sz="3200" dirty="0"/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 Click to edit Master text styles</a:t>
            </a:r>
          </a:p>
          <a:p>
            <a:pPr lvl="1"/>
            <a:r>
              <a:rPr lang="en-US" dirty="0" smtClean="0"/>
              <a:t> Second level</a:t>
            </a:r>
          </a:p>
          <a:p>
            <a:pPr lvl="2"/>
            <a:r>
              <a:rPr lang="en-US" dirty="0" smtClean="0"/>
              <a:t> 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 flipH="1">
            <a:off x="711200" y="835152"/>
            <a:ext cx="108712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340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198438"/>
            <a:ext cx="9448800" cy="487362"/>
          </a:xfrm>
        </p:spPr>
        <p:txBody>
          <a:bodyPr anchor="t">
            <a:normAutofit/>
          </a:bodyPr>
          <a:lstStyle>
            <a:lvl1pPr algn="r">
              <a:defRPr sz="2400" b="0" i="0" baseline="0">
                <a:solidFill>
                  <a:schemeClr val="bg1"/>
                </a:solidFill>
                <a:latin typeface="Segoe UI" pitchFamily="34" charset="0"/>
                <a:ea typeface="Roboto Lt" pitchFamily="2" charset="0"/>
                <a:cs typeface="Segoe UI" pitchFamily="34" charset="0"/>
              </a:defRPr>
            </a:lvl1pPr>
          </a:lstStyle>
          <a:p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đề</a:t>
            </a:r>
            <a:r>
              <a:rPr lang="en-US" dirty="0" smtClean="0"/>
              <a:t> </a:t>
            </a:r>
            <a:r>
              <a:rPr lang="en-US" dirty="0" err="1" smtClean="0"/>
              <a:t>Silde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727200" y="1066800"/>
            <a:ext cx="10363200" cy="457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pPr lvl="0"/>
            <a:r>
              <a:rPr lang="en-US" dirty="0" err="1" smtClean="0"/>
              <a:t>Đề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lớn</a:t>
            </a:r>
            <a:endParaRPr lang="en-US" dirty="0" smtClean="0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604000" y="1828800"/>
            <a:ext cx="5384800" cy="2743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0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r>
              <a:rPr lang="en-US" dirty="0" err="1" smtClean="0"/>
              <a:t>Nội</a:t>
            </a:r>
            <a:r>
              <a:rPr lang="en-US" dirty="0" smtClean="0"/>
              <a:t> dung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viết</a:t>
            </a:r>
            <a:r>
              <a:rPr lang="en-US" dirty="0" smtClean="0"/>
              <a:t> …….</a:t>
            </a:r>
          </a:p>
          <a:p>
            <a:r>
              <a:rPr lang="en-US" dirty="0" smtClean="0"/>
              <a:t>960, abstract, background, banner, bar, box, business, button, circle, clean,</a:t>
            </a:r>
          </a:p>
          <a:p>
            <a:r>
              <a:rPr lang="en-US" b="1" dirty="0" err="1" smtClean="0"/>
              <a:t>Nôi</a:t>
            </a:r>
            <a:r>
              <a:rPr lang="en-US" b="1" dirty="0" smtClean="0"/>
              <a:t> dung </a:t>
            </a:r>
            <a:r>
              <a:rPr lang="en-US" b="1" dirty="0" err="1" smtClean="0"/>
              <a:t>cần</a:t>
            </a:r>
            <a:r>
              <a:rPr lang="en-US" b="1" dirty="0" smtClean="0"/>
              <a:t> </a:t>
            </a:r>
            <a:r>
              <a:rPr lang="en-US" b="1" dirty="0" err="1" smtClean="0"/>
              <a:t>nhấn</a:t>
            </a:r>
            <a:r>
              <a:rPr lang="en-US" b="1" dirty="0" smtClean="0"/>
              <a:t> </a:t>
            </a:r>
            <a:r>
              <a:rPr lang="en-US" b="1" dirty="0" err="1" smtClean="0"/>
              <a:t>mạnh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>
          <a:xfrm>
            <a:off x="-1828800" y="617220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fld id="{C9454D8F-10CC-4917-9EE3-EC45D591F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9911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 Click to edit Master text styles</a:t>
            </a:r>
          </a:p>
          <a:p>
            <a:pPr lvl="1"/>
            <a:r>
              <a:rPr lang="en-US" dirty="0" smtClean="0"/>
              <a:t> Second level</a:t>
            </a:r>
          </a:p>
          <a:p>
            <a:pPr lvl="2"/>
            <a:r>
              <a:rPr lang="en-US" dirty="0" smtClean="0"/>
              <a:t> 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3893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1BFD7-1BFB-4165-B6C8-93BD150BB7E4}" type="datetimeFigureOut">
              <a:rPr lang="en-US" smtClean="0"/>
              <a:t>3/10/2021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91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3" r:id="rId12"/>
    <p:sldLayoutId id="2147483684" r:id="rId13"/>
    <p:sldLayoutId id="2147483667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slideLayout" Target="../slideLayouts/slideLayout7.xml"/><Relationship Id="rId7" Type="http://schemas.microsoft.com/office/2007/relationships/hdphoto" Target="../media/hdphoto4.wdp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notesSlide" Target="../notesSlides/notesSlide7.xml"/><Relationship Id="rId9" Type="http://schemas.microsoft.com/office/2007/relationships/hdphoto" Target="../media/hdphoto5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Giảng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r>
              <a:rPr lang="en-US" dirty="0" smtClean="0"/>
              <a:t>: </a:t>
            </a:r>
            <a:r>
              <a:rPr lang="en-US" dirty="0" err="1" smtClean="0"/>
              <a:t>Nguyễn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Advanced RESTful API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7534" y="685800"/>
            <a:ext cx="2571750" cy="1619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81161" y="1957992"/>
            <a:ext cx="3631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Arial Narrow" panose="020B0606020202030204" pitchFamily="34" charset="0"/>
              </a:rPr>
              <a:t>Conceive Design Implement Operate</a:t>
            </a:r>
            <a:endParaRPr lang="en-US" sz="2000" dirty="0">
              <a:latin typeface="Arial Narrow" panose="020B0606020202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932" y="2406165"/>
            <a:ext cx="1693935" cy="251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863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Introduction</a:t>
            </a:r>
            <a:endParaRPr lang="en-US" dirty="0"/>
          </a:p>
        </p:txBody>
      </p:sp>
      <p:pic>
        <p:nvPicPr>
          <p:cNvPr id="4" name="Picture 2" descr="D:\Pictures\PNG\present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9448800" y="1371600"/>
            <a:ext cx="2313580" cy="5356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05362337"/>
              </p:ext>
            </p:extLst>
          </p:nvPr>
        </p:nvGraphicFramePr>
        <p:xfrm>
          <a:off x="1219200" y="733697"/>
          <a:ext cx="7924800" cy="56616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45587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REST API Communication Model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09600" y="4160634"/>
            <a:ext cx="5791200" cy="2544966"/>
          </a:xfrm>
        </p:spPr>
        <p:txBody>
          <a:bodyPr>
            <a:normAutofit/>
          </a:bodyPr>
          <a:lstStyle/>
          <a:p>
            <a:r>
              <a:rPr lang="en-US" dirty="0" smtClean="0"/>
              <a:t>Operations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GET: </a:t>
            </a:r>
            <a:r>
              <a:rPr lang="en-US" b="1" dirty="0" smtClean="0">
                <a:solidFill>
                  <a:srgbClr val="0000FF"/>
                </a:solidFill>
              </a:rPr>
              <a:t>(</a:t>
            </a:r>
            <a:r>
              <a:rPr lang="en-US" b="1" dirty="0" err="1" smtClean="0">
                <a:solidFill>
                  <a:srgbClr val="0000FF"/>
                </a:solidFill>
              </a:rPr>
              <a:t>url</a:t>
            </a:r>
            <a:r>
              <a:rPr lang="en-US" b="1" dirty="0" smtClean="0">
                <a:solidFill>
                  <a:srgbClr val="0000FF"/>
                </a:solidFill>
              </a:rPr>
              <a:t>) </a:t>
            </a:r>
            <a:r>
              <a:rPr lang="en-US" b="1" dirty="0" smtClean="0">
                <a:solidFill>
                  <a:srgbClr val="00B050"/>
                </a:solidFill>
              </a:rPr>
              <a:t>=&gt; response</a:t>
            </a:r>
            <a:endParaRPr lang="en-US" b="1" dirty="0">
              <a:solidFill>
                <a:srgbClr val="00B050"/>
              </a:solidFill>
            </a:endParaRP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POST:</a:t>
            </a:r>
            <a:r>
              <a:rPr lang="en-US" dirty="0" smtClean="0"/>
              <a:t> </a:t>
            </a:r>
            <a:r>
              <a:rPr lang="en-US" b="1" dirty="0">
                <a:solidFill>
                  <a:srgbClr val="0000FF"/>
                </a:solidFill>
              </a:rPr>
              <a:t>(</a:t>
            </a:r>
            <a:r>
              <a:rPr lang="en-US" b="1" dirty="0" err="1">
                <a:solidFill>
                  <a:srgbClr val="0000FF"/>
                </a:solidFill>
              </a:rPr>
              <a:t>url</a:t>
            </a:r>
            <a:r>
              <a:rPr lang="en-US" b="1" dirty="0">
                <a:solidFill>
                  <a:srgbClr val="0000FF"/>
                </a:solidFill>
              </a:rPr>
              <a:t>, data) </a:t>
            </a:r>
            <a:r>
              <a:rPr lang="en-US" b="1" dirty="0">
                <a:solidFill>
                  <a:srgbClr val="00B050"/>
                </a:solidFill>
              </a:rPr>
              <a:t>=&gt; response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PUT:</a:t>
            </a:r>
            <a:r>
              <a:rPr lang="en-US" dirty="0" smtClean="0"/>
              <a:t> </a:t>
            </a:r>
            <a:r>
              <a:rPr lang="en-US" b="1" dirty="0">
                <a:solidFill>
                  <a:srgbClr val="0000FF"/>
                </a:solidFill>
              </a:rPr>
              <a:t>(</a:t>
            </a:r>
            <a:r>
              <a:rPr lang="en-US" b="1" dirty="0" err="1">
                <a:solidFill>
                  <a:srgbClr val="0000FF"/>
                </a:solidFill>
              </a:rPr>
              <a:t>url</a:t>
            </a:r>
            <a:r>
              <a:rPr lang="en-US" b="1" dirty="0">
                <a:solidFill>
                  <a:srgbClr val="0000FF"/>
                </a:solidFill>
              </a:rPr>
              <a:t>, data) </a:t>
            </a:r>
            <a:r>
              <a:rPr lang="en-US" b="1" dirty="0">
                <a:solidFill>
                  <a:srgbClr val="00B050"/>
                </a:solidFill>
              </a:rPr>
              <a:t>=&gt; response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DELETE:</a:t>
            </a:r>
            <a:r>
              <a:rPr lang="en-US" dirty="0" smtClean="0"/>
              <a:t> </a:t>
            </a:r>
            <a:r>
              <a:rPr lang="en-US" b="1" dirty="0">
                <a:solidFill>
                  <a:srgbClr val="0000FF"/>
                </a:solidFill>
              </a:rPr>
              <a:t>(</a:t>
            </a:r>
            <a:r>
              <a:rPr lang="en-US" b="1" dirty="0" err="1">
                <a:solidFill>
                  <a:srgbClr val="0000FF"/>
                </a:solidFill>
              </a:rPr>
              <a:t>url</a:t>
            </a:r>
            <a:r>
              <a:rPr lang="en-US" b="1" dirty="0">
                <a:solidFill>
                  <a:srgbClr val="0000FF"/>
                </a:solidFill>
              </a:rPr>
              <a:t>) </a:t>
            </a:r>
            <a:r>
              <a:rPr lang="en-US" b="1" dirty="0">
                <a:solidFill>
                  <a:srgbClr val="00B050"/>
                </a:solidFill>
              </a:rPr>
              <a:t>=&gt; </a:t>
            </a:r>
            <a:r>
              <a:rPr lang="en-US" b="1" dirty="0" smtClean="0">
                <a:solidFill>
                  <a:srgbClr val="00B050"/>
                </a:solidFill>
              </a:rPr>
              <a:t>response (null)</a:t>
            </a:r>
            <a:endParaRPr lang="en-US" b="1" dirty="0">
              <a:solidFill>
                <a:srgbClr val="00B05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26" y="940526"/>
            <a:ext cx="10960073" cy="322010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Content Placeholder 6"/>
          <p:cNvSpPr txBox="1">
            <a:spLocks/>
          </p:cNvSpPr>
          <p:nvPr/>
        </p:nvSpPr>
        <p:spPr>
          <a:xfrm>
            <a:off x="6629400" y="4160634"/>
            <a:ext cx="4952999" cy="25449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Transfer Data</a:t>
            </a:r>
          </a:p>
          <a:p>
            <a:pPr lvl="1"/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trao</a:t>
            </a:r>
            <a:r>
              <a:rPr lang="en-US" dirty="0" smtClean="0"/>
              <a:t> </a:t>
            </a:r>
            <a:r>
              <a:rPr lang="en-US" dirty="0" err="1" smtClean="0"/>
              <a:t>đổi</a:t>
            </a:r>
            <a:r>
              <a:rPr lang="en-US" dirty="0" smtClean="0"/>
              <a:t> </a:t>
            </a:r>
            <a:r>
              <a:rPr lang="en-US" dirty="0" err="1" smtClean="0"/>
              <a:t>giữa</a:t>
            </a:r>
            <a:r>
              <a:rPr lang="en-US" dirty="0" smtClean="0"/>
              <a:t> Client </a:t>
            </a:r>
            <a:r>
              <a:rPr lang="en-US" dirty="0" err="1" smtClean="0"/>
              <a:t>và</a:t>
            </a:r>
            <a:r>
              <a:rPr lang="en-US" dirty="0" smtClean="0"/>
              <a:t> REST API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JSON</a:t>
            </a:r>
            <a:r>
              <a:rPr lang="en-US" dirty="0" smtClean="0">
                <a:solidFill>
                  <a:srgbClr val="FF0000"/>
                </a:solidFill>
              </a:rPr>
              <a:t>/XML</a:t>
            </a:r>
          </a:p>
        </p:txBody>
      </p:sp>
    </p:spTree>
    <p:extLst>
      <p:ext uri="{BB962C8B-B14F-4D97-AF65-F5344CB8AC3E}">
        <p14:creationId xmlns:p14="http://schemas.microsoft.com/office/powerpoint/2010/main" val="107938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19557" y="2967335"/>
            <a:ext cx="44681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RestController</a:t>
            </a:r>
            <a:endParaRPr lang="en-US" sz="5400" b="1" cap="small" dirty="0" smtClean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70" y="1143000"/>
            <a:ext cx="2543530" cy="37819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476149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14399"/>
            <a:ext cx="10058400" cy="58104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StudentRestController</a:t>
            </a:r>
            <a:endParaRPr lang="en-US" dirty="0"/>
          </a:p>
        </p:txBody>
      </p:sp>
      <p:sp>
        <p:nvSpPr>
          <p:cNvPr id="22" name="Folded Corner 21"/>
          <p:cNvSpPr/>
          <p:nvPr/>
        </p:nvSpPr>
        <p:spPr>
          <a:xfrm>
            <a:off x="7992864" y="1083827"/>
            <a:ext cx="3894336" cy="2852447"/>
          </a:xfrm>
          <a:prstGeom prst="foldedCorner">
            <a:avLst>
              <a:gd name="adj" fmla="val 842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2590800" y="762000"/>
            <a:ext cx="5410200" cy="3218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4953000" y="762000"/>
            <a:ext cx="3048000" cy="14870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5410200" y="762000"/>
            <a:ext cx="2590800" cy="23274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5105400" y="762000"/>
            <a:ext cx="2895600" cy="31742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5410200" y="762000"/>
            <a:ext cx="2590800" cy="41304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5867400" y="762000"/>
            <a:ext cx="2133600" cy="51054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992864" y="1138535"/>
            <a:ext cx="38943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GET</a:t>
            </a:r>
            <a:r>
              <a:rPr lang="en-US" sz="2400" dirty="0" smtClean="0"/>
              <a:t>(</a:t>
            </a:r>
            <a:r>
              <a:rPr lang="en-US" sz="2400" b="1" dirty="0" err="1" smtClean="0">
                <a:solidFill>
                  <a:srgbClr val="FF0000"/>
                </a:solidFill>
              </a:rPr>
              <a:t>url</a:t>
            </a:r>
            <a:r>
              <a:rPr lang="en-US" sz="2400" dirty="0" smtClean="0"/>
              <a:t>): </a:t>
            </a:r>
            <a:r>
              <a:rPr lang="en-US" sz="2400" dirty="0" smtClean="0">
                <a:solidFill>
                  <a:srgbClr val="0000FF"/>
                </a:solidFill>
              </a:rPr>
              <a:t>Collection&lt;Student&gt;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992864" y="1634951"/>
            <a:ext cx="23394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GET</a:t>
            </a:r>
            <a:r>
              <a:rPr lang="en-US" sz="2400" dirty="0" smtClean="0"/>
              <a:t>(</a:t>
            </a:r>
            <a:r>
              <a:rPr lang="en-US" sz="2400" b="1" dirty="0" err="1" smtClean="0">
                <a:solidFill>
                  <a:srgbClr val="FF0000"/>
                </a:solidFill>
              </a:rPr>
              <a:t>url</a:t>
            </a:r>
            <a:r>
              <a:rPr lang="en-US" sz="2400" dirty="0" smtClean="0"/>
              <a:t>): </a:t>
            </a:r>
            <a:r>
              <a:rPr lang="en-US" sz="2400" dirty="0">
                <a:solidFill>
                  <a:srgbClr val="0000FF"/>
                </a:solidFill>
              </a:rPr>
              <a:t>Student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2864" y="2131367"/>
            <a:ext cx="32378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POST</a:t>
            </a:r>
            <a:r>
              <a:rPr lang="en-US" sz="2400" dirty="0" smtClean="0"/>
              <a:t>(</a:t>
            </a:r>
            <a:r>
              <a:rPr lang="en-US" sz="2400" b="1" dirty="0" err="1" smtClean="0">
                <a:solidFill>
                  <a:srgbClr val="FF0000"/>
                </a:solidFill>
              </a:rPr>
              <a:t>url</a:t>
            </a:r>
            <a:r>
              <a:rPr lang="en-US" sz="2400" dirty="0" smtClean="0"/>
              <a:t>, </a:t>
            </a:r>
            <a:r>
              <a:rPr lang="en-US" sz="2400" b="1" dirty="0" smtClean="0">
                <a:solidFill>
                  <a:srgbClr val="FF0000"/>
                </a:solidFill>
              </a:rPr>
              <a:t>data</a:t>
            </a:r>
            <a:r>
              <a:rPr lang="en-US" sz="2400" dirty="0" smtClean="0"/>
              <a:t>): </a:t>
            </a:r>
            <a:r>
              <a:rPr lang="en-US" sz="2400" dirty="0">
                <a:solidFill>
                  <a:srgbClr val="0000FF"/>
                </a:solidFill>
              </a:rPr>
              <a:t>Student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2864" y="2627783"/>
            <a:ext cx="30869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PUT</a:t>
            </a:r>
            <a:r>
              <a:rPr lang="en-US" sz="2400" dirty="0" smtClean="0"/>
              <a:t>(</a:t>
            </a:r>
            <a:r>
              <a:rPr lang="en-US" sz="2400" b="1" dirty="0" err="1" smtClean="0">
                <a:solidFill>
                  <a:srgbClr val="FF0000"/>
                </a:solidFill>
              </a:rPr>
              <a:t>url</a:t>
            </a:r>
            <a:r>
              <a:rPr lang="en-US" sz="2400" dirty="0" smtClean="0"/>
              <a:t>, </a:t>
            </a:r>
            <a:r>
              <a:rPr lang="en-US" sz="2400" b="1" dirty="0" smtClean="0">
                <a:solidFill>
                  <a:srgbClr val="FF0000"/>
                </a:solidFill>
              </a:rPr>
              <a:t>data</a:t>
            </a:r>
            <a:r>
              <a:rPr lang="en-US" sz="2400" dirty="0" smtClean="0"/>
              <a:t>): </a:t>
            </a:r>
            <a:r>
              <a:rPr lang="en-US" sz="2400" dirty="0">
                <a:solidFill>
                  <a:srgbClr val="0000FF"/>
                </a:solidFill>
              </a:rPr>
              <a:t>Student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2864" y="3124200"/>
            <a:ext cx="1648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DELETE</a:t>
            </a:r>
            <a:r>
              <a:rPr lang="en-US" sz="2400" dirty="0" smtClean="0"/>
              <a:t>(</a:t>
            </a:r>
            <a:r>
              <a:rPr lang="en-US" sz="2400" b="1" dirty="0" err="1" smtClean="0">
                <a:solidFill>
                  <a:srgbClr val="FF0000"/>
                </a:solidFill>
              </a:rPr>
              <a:t>url</a:t>
            </a:r>
            <a:r>
              <a:rPr lang="en-US" sz="2400" dirty="0" smtClean="0"/>
              <a:t>)</a:t>
            </a:r>
            <a:endParaRPr lang="en-US" sz="2400" dirty="0"/>
          </a:p>
        </p:txBody>
      </p:sp>
      <p:sp>
        <p:nvSpPr>
          <p:cNvPr id="23" name="Flowchart: Internal Storage 22"/>
          <p:cNvSpPr/>
          <p:nvPr/>
        </p:nvSpPr>
        <p:spPr>
          <a:xfrm>
            <a:off x="9352664" y="3581401"/>
            <a:ext cx="2229736" cy="1311038"/>
          </a:xfrm>
          <a:prstGeom prst="flowChartInternalStorag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dirty="0"/>
              <a:t>i</a:t>
            </a:r>
            <a:r>
              <a:rPr lang="en-US" sz="2400" b="1" dirty="0" smtClean="0"/>
              <a:t>d</a:t>
            </a:r>
            <a:r>
              <a:rPr lang="en-US" sz="2400" dirty="0" smtClean="0"/>
              <a:t>: String</a:t>
            </a:r>
          </a:p>
          <a:p>
            <a:r>
              <a:rPr lang="en-US" sz="2400" b="1" dirty="0" smtClean="0"/>
              <a:t>name</a:t>
            </a:r>
            <a:r>
              <a:rPr lang="en-US" sz="2400" dirty="0" smtClean="0"/>
              <a:t>: String</a:t>
            </a:r>
          </a:p>
          <a:p>
            <a:r>
              <a:rPr lang="en-US" sz="2400" b="1" dirty="0"/>
              <a:t>e</a:t>
            </a:r>
            <a:r>
              <a:rPr lang="en-US" sz="2400" b="1" dirty="0" smtClean="0"/>
              <a:t>mail</a:t>
            </a:r>
            <a:r>
              <a:rPr lang="en-US" sz="2400" dirty="0" smtClean="0"/>
              <a:t>: String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66000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7" grpId="0"/>
      <p:bldP spid="18" grpId="0"/>
      <p:bldP spid="19" grpId="0"/>
      <p:bldP spid="20" grpId="0"/>
      <p:bldP spid="21" grpId="0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StudentRestController</a:t>
            </a:r>
            <a:r>
              <a:rPr lang="en-US" dirty="0" smtClean="0"/>
              <a:t>  </a:t>
            </a:r>
            <a:r>
              <a:rPr lang="en-US" dirty="0" err="1" smtClean="0"/>
              <a:t>Inplementation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29162"/>
            <a:ext cx="7829550" cy="7810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18440"/>
            <a:ext cx="7829550" cy="8001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726768"/>
            <a:ext cx="7829550" cy="10572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892271"/>
            <a:ext cx="7829550" cy="18669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5867400"/>
            <a:ext cx="7829550" cy="8382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5450" y="929162"/>
            <a:ext cx="2266950" cy="16859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4563864" y="1040902"/>
            <a:ext cx="38943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GET</a:t>
            </a:r>
            <a:r>
              <a:rPr lang="en-US" sz="2400" dirty="0" smtClean="0"/>
              <a:t>(</a:t>
            </a:r>
            <a:r>
              <a:rPr lang="en-US" sz="2400" b="1" dirty="0" err="1" smtClean="0">
                <a:solidFill>
                  <a:srgbClr val="FF0000"/>
                </a:solidFill>
              </a:rPr>
              <a:t>url</a:t>
            </a:r>
            <a:r>
              <a:rPr lang="en-US" sz="2400" dirty="0" smtClean="0"/>
              <a:t>): </a:t>
            </a:r>
            <a:r>
              <a:rPr lang="en-US" sz="2400" dirty="0" smtClean="0">
                <a:solidFill>
                  <a:srgbClr val="0000FF"/>
                </a:solidFill>
              </a:rPr>
              <a:t>Collection&lt;Student&gt;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118777" y="1976735"/>
            <a:ext cx="23394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GET</a:t>
            </a:r>
            <a:r>
              <a:rPr lang="en-US" sz="2400" dirty="0" smtClean="0"/>
              <a:t>(</a:t>
            </a:r>
            <a:r>
              <a:rPr lang="en-US" sz="2400" b="1" dirty="0" err="1" smtClean="0">
                <a:solidFill>
                  <a:srgbClr val="FF0000"/>
                </a:solidFill>
              </a:rPr>
              <a:t>url</a:t>
            </a:r>
            <a:r>
              <a:rPr lang="en-US" sz="2400" dirty="0" smtClean="0"/>
              <a:t>): </a:t>
            </a:r>
            <a:r>
              <a:rPr lang="en-US" sz="2400" dirty="0">
                <a:solidFill>
                  <a:srgbClr val="0000FF"/>
                </a:solidFill>
              </a:rPr>
              <a:t>Student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0391" y="3043535"/>
            <a:ext cx="32378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POST</a:t>
            </a:r>
            <a:r>
              <a:rPr lang="en-US" sz="2400" dirty="0" smtClean="0"/>
              <a:t>(</a:t>
            </a:r>
            <a:r>
              <a:rPr lang="en-US" sz="2400" b="1" dirty="0" err="1" smtClean="0">
                <a:solidFill>
                  <a:srgbClr val="FF0000"/>
                </a:solidFill>
              </a:rPr>
              <a:t>url</a:t>
            </a:r>
            <a:r>
              <a:rPr lang="en-US" sz="2400" dirty="0" smtClean="0"/>
              <a:t>, </a:t>
            </a:r>
            <a:r>
              <a:rPr lang="en-US" sz="2400" b="1" dirty="0" smtClean="0">
                <a:solidFill>
                  <a:srgbClr val="FF0000"/>
                </a:solidFill>
              </a:rPr>
              <a:t>data</a:t>
            </a:r>
            <a:r>
              <a:rPr lang="en-US" sz="2400" dirty="0" smtClean="0"/>
              <a:t>): </a:t>
            </a:r>
            <a:r>
              <a:rPr lang="en-US" sz="2400" dirty="0">
                <a:solidFill>
                  <a:srgbClr val="0000FF"/>
                </a:solidFill>
              </a:rPr>
              <a:t>Student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1265" y="4567535"/>
            <a:ext cx="30869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PUT</a:t>
            </a:r>
            <a:r>
              <a:rPr lang="en-US" sz="2400" dirty="0" smtClean="0"/>
              <a:t>(</a:t>
            </a:r>
            <a:r>
              <a:rPr lang="en-US" sz="2400" b="1" dirty="0" err="1" smtClean="0">
                <a:solidFill>
                  <a:srgbClr val="FF0000"/>
                </a:solidFill>
              </a:rPr>
              <a:t>url</a:t>
            </a:r>
            <a:r>
              <a:rPr lang="en-US" sz="2400" dirty="0" smtClean="0"/>
              <a:t>, </a:t>
            </a:r>
            <a:r>
              <a:rPr lang="en-US" sz="2400" b="1" dirty="0" smtClean="0">
                <a:solidFill>
                  <a:srgbClr val="FF0000"/>
                </a:solidFill>
              </a:rPr>
              <a:t>data</a:t>
            </a:r>
            <a:r>
              <a:rPr lang="en-US" sz="2400" dirty="0" smtClean="0"/>
              <a:t>): </a:t>
            </a:r>
            <a:r>
              <a:rPr lang="en-US" sz="2400" dirty="0">
                <a:solidFill>
                  <a:srgbClr val="0000FF"/>
                </a:solidFill>
              </a:rPr>
              <a:t>Student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09992" y="6015335"/>
            <a:ext cx="1648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DELETE</a:t>
            </a:r>
            <a:r>
              <a:rPr lang="en-US" sz="2400" dirty="0" smtClean="0"/>
              <a:t>(</a:t>
            </a:r>
            <a:r>
              <a:rPr lang="en-US" sz="2400" b="1" dirty="0" err="1" smtClean="0">
                <a:solidFill>
                  <a:srgbClr val="FF0000"/>
                </a:solidFill>
              </a:rPr>
              <a:t>url</a:t>
            </a:r>
            <a:r>
              <a:rPr lang="en-US" sz="2400" dirty="0" smtClean="0"/>
              <a:t>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91393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@</a:t>
            </a:r>
            <a:r>
              <a:rPr lang="en-US" dirty="0" err="1" smtClean="0"/>
              <a:t>CrossOrigin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5791200"/>
          </a:xfrm>
        </p:spPr>
        <p:txBody>
          <a:bodyPr/>
          <a:lstStyle/>
          <a:p>
            <a:r>
              <a:rPr lang="en-US" dirty="0" err="1" smtClean="0"/>
              <a:t>Mặc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Rest Consumer </a:t>
            </a:r>
            <a:r>
              <a:rPr lang="en-US" dirty="0" err="1" smtClean="0"/>
              <a:t>cùng</a:t>
            </a:r>
            <a:r>
              <a:rPr lang="en-US" dirty="0" smtClean="0"/>
              <a:t> domain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phép</a:t>
            </a:r>
            <a:r>
              <a:rPr lang="en-US" dirty="0" smtClean="0"/>
              <a:t> consume </a:t>
            </a:r>
            <a:r>
              <a:rPr lang="en-US" dirty="0" err="1" smtClean="0"/>
              <a:t>các</a:t>
            </a:r>
            <a:r>
              <a:rPr lang="en-US" dirty="0" smtClean="0"/>
              <a:t> REST API (</a:t>
            </a:r>
            <a:r>
              <a:rPr lang="en-US" dirty="0" err="1" smtClean="0"/>
              <a:t>khác</a:t>
            </a:r>
            <a:r>
              <a:rPr lang="en-US" dirty="0" smtClean="0"/>
              <a:t> domain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phép</a:t>
            </a:r>
            <a:r>
              <a:rPr lang="en-US" dirty="0" smtClean="0"/>
              <a:t>).</a:t>
            </a:r>
          </a:p>
          <a:p>
            <a:r>
              <a:rPr lang="en-US" b="1" dirty="0"/>
              <a:t>@</a:t>
            </a:r>
            <a:r>
              <a:rPr lang="en-US" b="1" dirty="0" err="1"/>
              <a:t>CrossOrigin</a:t>
            </a:r>
            <a:r>
              <a:rPr lang="en-US" dirty="0"/>
              <a:t>()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Rest Consumer </a:t>
            </a:r>
            <a:r>
              <a:rPr lang="en-US" dirty="0" err="1"/>
              <a:t>đáng</a:t>
            </a:r>
            <a:r>
              <a:rPr lang="en-US" dirty="0"/>
              <a:t> tin </a:t>
            </a:r>
            <a:r>
              <a:rPr lang="en-US" dirty="0" err="1" smtClean="0"/>
              <a:t>cậy</a:t>
            </a:r>
            <a:r>
              <a:rPr lang="en-US" dirty="0"/>
              <a:t>.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trang</a:t>
            </a:r>
            <a:r>
              <a:rPr lang="en-US" dirty="0" smtClean="0"/>
              <a:t> web </a:t>
            </a:r>
            <a:r>
              <a:rPr lang="en-US" dirty="0" err="1" smtClean="0"/>
              <a:t>đặt</a:t>
            </a:r>
            <a:r>
              <a:rPr lang="en-US" dirty="0" smtClean="0"/>
              <a:t>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host: localhost:8080 </a:t>
            </a:r>
            <a:r>
              <a:rPr lang="en-US" dirty="0" err="1" smtClean="0"/>
              <a:t>và</a:t>
            </a:r>
            <a:r>
              <a:rPr lang="en-US" dirty="0" smtClean="0"/>
              <a:t> 127.0.0.1:8080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cập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origins=“*”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phép</a:t>
            </a:r>
            <a:r>
              <a:rPr lang="en-US" dirty="0" smtClean="0"/>
              <a:t>  </a:t>
            </a:r>
            <a:r>
              <a:rPr lang="en-US" dirty="0" err="1" smtClean="0"/>
              <a:t>mọi</a:t>
            </a:r>
            <a:r>
              <a:rPr lang="en-US" dirty="0" smtClean="0"/>
              <a:t> host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187401"/>
            <a:ext cx="10591800" cy="1308399"/>
          </a:xfrm>
          <a:prstGeom prst="rect">
            <a:avLst/>
          </a:prstGeom>
          <a:ln>
            <a:solidFill>
              <a:srgbClr val="FF3300"/>
            </a:solidFill>
          </a:ln>
        </p:spPr>
      </p:pic>
    </p:spTree>
    <p:extLst>
      <p:ext uri="{BB962C8B-B14F-4D97-AF65-F5344CB8AC3E}">
        <p14:creationId xmlns:p14="http://schemas.microsoft.com/office/powerpoint/2010/main" val="247473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3676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ResponseEntity</a:t>
            </a:r>
            <a:r>
              <a:rPr lang="en-US" dirty="0" smtClean="0"/>
              <a:t> API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648282"/>
            <a:ext cx="10972800" cy="1676318"/>
          </a:xfrm>
        </p:spPr>
        <p:txBody>
          <a:bodyPr/>
          <a:lstStyle/>
          <a:p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viết</a:t>
            </a:r>
            <a:r>
              <a:rPr lang="en-US" dirty="0" smtClean="0"/>
              <a:t> </a:t>
            </a:r>
            <a:r>
              <a:rPr lang="en-US" dirty="0" err="1" smtClean="0"/>
              <a:t>mã</a:t>
            </a:r>
            <a:r>
              <a:rPr lang="en-US" dirty="0" smtClean="0"/>
              <a:t> (1) </a:t>
            </a:r>
            <a:r>
              <a:rPr lang="en-US" dirty="0" err="1" smtClean="0"/>
              <a:t>và</a:t>
            </a:r>
            <a:r>
              <a:rPr lang="en-US" dirty="0" smtClean="0"/>
              <a:t> (2)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tương</a:t>
            </a:r>
            <a:r>
              <a:rPr lang="en-US" dirty="0" smtClean="0"/>
              <a:t> </a:t>
            </a:r>
            <a:r>
              <a:rPr lang="en-US" dirty="0" err="1" smtClean="0"/>
              <a:t>đương</a:t>
            </a:r>
            <a:r>
              <a:rPr lang="en-US" dirty="0" smtClean="0"/>
              <a:t>. </a:t>
            </a:r>
            <a:r>
              <a:rPr lang="en-US" dirty="0" err="1" smtClean="0"/>
              <a:t>Tuy</a:t>
            </a:r>
            <a:r>
              <a:rPr lang="en-US" dirty="0" smtClean="0"/>
              <a:t> </a:t>
            </a:r>
            <a:r>
              <a:rPr lang="en-US" dirty="0" err="1" smtClean="0"/>
              <a:t>nhiên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viết</a:t>
            </a:r>
            <a:r>
              <a:rPr lang="en-US" dirty="0" smtClean="0"/>
              <a:t> (2)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chúng</a:t>
            </a:r>
            <a:r>
              <a:rPr lang="en-US" dirty="0" smtClean="0"/>
              <a:t> ta </a:t>
            </a:r>
            <a:r>
              <a:rPr lang="en-US" b="1" i="1" dirty="0" err="1" smtClean="0">
                <a:solidFill>
                  <a:srgbClr val="FF0000"/>
                </a:solidFill>
              </a:rPr>
              <a:t>mở</a:t>
            </a:r>
            <a:r>
              <a:rPr lang="en-US" b="1" i="1" dirty="0" smtClean="0">
                <a:solidFill>
                  <a:srgbClr val="FF0000"/>
                </a:solidFill>
              </a:rPr>
              <a:t> </a:t>
            </a:r>
            <a:r>
              <a:rPr lang="en-US" b="1" i="1" dirty="0" err="1" smtClean="0">
                <a:solidFill>
                  <a:srgbClr val="FF0000"/>
                </a:solidFill>
              </a:rPr>
              <a:t>rộng</a:t>
            </a:r>
            <a:r>
              <a:rPr lang="en-US" b="1" i="1" dirty="0" smtClean="0">
                <a:solidFill>
                  <a:srgbClr val="FF0000"/>
                </a:solidFill>
              </a:rPr>
              <a:t> </a:t>
            </a:r>
            <a:r>
              <a:rPr lang="en-US" b="1" i="1" dirty="0" err="1" smtClean="0">
                <a:solidFill>
                  <a:srgbClr val="FF0000"/>
                </a:solidFill>
              </a:rPr>
              <a:t>mã</a:t>
            </a:r>
            <a:r>
              <a:rPr lang="en-US" b="1" i="1" dirty="0" smtClean="0">
                <a:solidFill>
                  <a:srgbClr val="FF0000"/>
                </a:solidFill>
              </a:rPr>
              <a:t> </a:t>
            </a:r>
            <a:r>
              <a:rPr lang="en-US" b="1" i="1" dirty="0" err="1" smtClean="0">
                <a:solidFill>
                  <a:srgbClr val="FF0000"/>
                </a:solidFill>
              </a:rPr>
              <a:t>để</a:t>
            </a:r>
            <a:r>
              <a:rPr lang="en-US" b="1" i="1" dirty="0" smtClean="0">
                <a:solidFill>
                  <a:srgbClr val="FF0000"/>
                </a:solidFill>
              </a:rPr>
              <a:t> </a:t>
            </a:r>
            <a:r>
              <a:rPr lang="en-US" b="1" i="1" dirty="0" err="1" smtClean="0">
                <a:solidFill>
                  <a:srgbClr val="FF0000"/>
                </a:solidFill>
              </a:rPr>
              <a:t>điều</a:t>
            </a:r>
            <a:r>
              <a:rPr lang="en-US" b="1" i="1" dirty="0" smtClean="0">
                <a:solidFill>
                  <a:srgbClr val="FF0000"/>
                </a:solidFill>
              </a:rPr>
              <a:t> </a:t>
            </a:r>
            <a:r>
              <a:rPr lang="en-US" b="1" i="1" dirty="0" err="1" smtClean="0">
                <a:solidFill>
                  <a:srgbClr val="FF0000"/>
                </a:solidFill>
              </a:rPr>
              <a:t>khiển</a:t>
            </a:r>
            <a:r>
              <a:rPr lang="en-US" b="1" i="1" dirty="0" smtClean="0">
                <a:solidFill>
                  <a:srgbClr val="FF0000"/>
                </a:solidFill>
              </a:rPr>
              <a:t> </a:t>
            </a:r>
            <a:r>
              <a:rPr lang="en-US" b="1" i="1" dirty="0" err="1" smtClean="0">
                <a:solidFill>
                  <a:srgbClr val="FF0000"/>
                </a:solidFill>
              </a:rPr>
              <a:t>các</a:t>
            </a:r>
            <a:r>
              <a:rPr lang="en-US" b="1" i="1" dirty="0" smtClean="0">
                <a:solidFill>
                  <a:srgbClr val="FF0000"/>
                </a:solidFill>
              </a:rPr>
              <a:t> </a:t>
            </a:r>
            <a:r>
              <a:rPr lang="en-US" b="1" i="1" dirty="0" err="1" smtClean="0">
                <a:solidFill>
                  <a:srgbClr val="FF0000"/>
                </a:solidFill>
              </a:rPr>
              <a:t>lỗi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chính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r>
              <a:rPr lang="en-US" dirty="0" smtClean="0"/>
              <a:t> (</a:t>
            </a:r>
            <a:r>
              <a:rPr lang="en-US" dirty="0" err="1" smtClean="0"/>
              <a:t>xem</a:t>
            </a:r>
            <a:r>
              <a:rPr lang="en-US" dirty="0" smtClean="0"/>
              <a:t> slide </a:t>
            </a:r>
            <a:r>
              <a:rPr lang="en-US" dirty="0" err="1" smtClean="0"/>
              <a:t>sau</a:t>
            </a:r>
            <a:r>
              <a:rPr lang="en-US" dirty="0" smtClean="0"/>
              <a:t>).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990600"/>
            <a:ext cx="7455262" cy="1778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138" y="2640882"/>
            <a:ext cx="7455262" cy="172648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757140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ResponseEntity</a:t>
            </a:r>
            <a:r>
              <a:rPr lang="en-US" dirty="0" smtClean="0"/>
              <a:t> API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990600"/>
            <a:ext cx="6916621" cy="165028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" y="2971800"/>
            <a:ext cx="7496175" cy="29622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Line Callout 1 7"/>
          <p:cNvSpPr/>
          <p:nvPr/>
        </p:nvSpPr>
        <p:spPr>
          <a:xfrm>
            <a:off x="8686799" y="2629996"/>
            <a:ext cx="2895601" cy="2296932"/>
          </a:xfrm>
          <a:prstGeom prst="borderCallout1">
            <a:avLst>
              <a:gd name="adj1" fmla="val 28416"/>
              <a:gd name="adj2" fmla="val -3821"/>
              <a:gd name="adj3" fmla="val 69041"/>
              <a:gd name="adj4" fmla="val -28496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Rest Consumer </a:t>
            </a:r>
            <a:r>
              <a:rPr lang="en-US" sz="2400" dirty="0" err="1" smtClean="0"/>
              <a:t>sẽ</a:t>
            </a:r>
            <a:r>
              <a:rPr lang="en-US" sz="2400" dirty="0" smtClean="0"/>
              <a:t> </a:t>
            </a:r>
            <a:r>
              <a:rPr lang="en-US" sz="2400" dirty="0" err="1" smtClean="0"/>
              <a:t>nhận</a:t>
            </a:r>
            <a:r>
              <a:rPr lang="en-US" sz="2400" dirty="0" smtClean="0"/>
              <a:t> </a:t>
            </a:r>
            <a:r>
              <a:rPr lang="en-US" sz="2400" dirty="0" err="1" smtClean="0"/>
              <a:t>được</a:t>
            </a:r>
            <a:r>
              <a:rPr lang="en-US" sz="2400" dirty="0" smtClean="0"/>
              <a:t> </a:t>
            </a:r>
            <a:r>
              <a:rPr lang="en-US" sz="2400" dirty="0" err="1" smtClean="0"/>
              <a:t>trạng</a:t>
            </a:r>
            <a:r>
              <a:rPr lang="en-US" sz="2400" dirty="0" smtClean="0"/>
              <a:t> </a:t>
            </a:r>
            <a:r>
              <a:rPr lang="en-US" sz="2400" dirty="0" err="1" smtClean="0"/>
              <a:t>thái</a:t>
            </a:r>
            <a:r>
              <a:rPr lang="en-US" sz="2400" dirty="0" smtClean="0"/>
              <a:t> </a:t>
            </a:r>
            <a:r>
              <a:rPr lang="en-US" sz="2400" dirty="0" err="1" smtClean="0"/>
              <a:t>với</a:t>
            </a:r>
            <a:r>
              <a:rPr lang="en-US" sz="2400" dirty="0" smtClean="0"/>
              <a:t> </a:t>
            </a:r>
            <a:r>
              <a:rPr lang="en-US" sz="2400" dirty="0" err="1" smtClean="0"/>
              <a:t>mã</a:t>
            </a:r>
            <a:r>
              <a:rPr lang="en-US" sz="2400" dirty="0" smtClean="0"/>
              <a:t> 204. </a:t>
            </a:r>
            <a:r>
              <a:rPr lang="en-US" sz="2400" dirty="0" err="1" smtClean="0"/>
              <a:t>Từ</a:t>
            </a:r>
            <a:r>
              <a:rPr lang="en-US" sz="2400" dirty="0" smtClean="0"/>
              <a:t> </a:t>
            </a:r>
            <a:r>
              <a:rPr lang="en-US" sz="2400" dirty="0" err="1" smtClean="0"/>
              <a:t>đó</a:t>
            </a:r>
            <a:r>
              <a:rPr lang="en-US" sz="2400" dirty="0" smtClean="0"/>
              <a:t> </a:t>
            </a:r>
            <a:r>
              <a:rPr lang="en-US" sz="2400" dirty="0" err="1" smtClean="0"/>
              <a:t>có</a:t>
            </a:r>
            <a:r>
              <a:rPr lang="en-US" sz="2400" dirty="0" smtClean="0"/>
              <a:t> </a:t>
            </a:r>
            <a:r>
              <a:rPr lang="en-US" sz="2400" dirty="0" err="1" smtClean="0"/>
              <a:t>thể</a:t>
            </a:r>
            <a:r>
              <a:rPr lang="en-US" sz="2400" dirty="0" smtClean="0"/>
              <a:t> </a:t>
            </a:r>
            <a:r>
              <a:rPr lang="en-US" sz="2400" dirty="0" err="1" smtClean="0"/>
              <a:t>đưa</a:t>
            </a:r>
            <a:r>
              <a:rPr lang="en-US" sz="2400" dirty="0" smtClean="0"/>
              <a:t> </a:t>
            </a:r>
            <a:r>
              <a:rPr lang="en-US" sz="2400" dirty="0" err="1" smtClean="0"/>
              <a:t>ra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xử</a:t>
            </a:r>
            <a:r>
              <a:rPr lang="en-US" sz="2400" dirty="0" smtClean="0"/>
              <a:t> </a:t>
            </a:r>
            <a:r>
              <a:rPr lang="en-US" sz="2400" dirty="0" err="1" smtClean="0"/>
              <a:t>lý</a:t>
            </a:r>
            <a:r>
              <a:rPr lang="en-US" sz="2400" dirty="0" smtClean="0"/>
              <a:t>, </a:t>
            </a:r>
            <a:r>
              <a:rPr lang="en-US" sz="2400" dirty="0" err="1" smtClean="0"/>
              <a:t>thông</a:t>
            </a:r>
            <a:r>
              <a:rPr lang="en-US" sz="2400" dirty="0" smtClean="0"/>
              <a:t> </a:t>
            </a:r>
            <a:r>
              <a:rPr lang="en-US" sz="2400" dirty="0" err="1" smtClean="0"/>
              <a:t>báo</a:t>
            </a:r>
            <a:r>
              <a:rPr lang="en-US" sz="2400" dirty="0" smtClean="0"/>
              <a:t> </a:t>
            </a:r>
            <a:r>
              <a:rPr lang="en-US" sz="2400" dirty="0" err="1" smtClean="0"/>
              <a:t>phù</a:t>
            </a:r>
            <a:r>
              <a:rPr lang="en-US" sz="2400" dirty="0" smtClean="0"/>
              <a:t> </a:t>
            </a:r>
            <a:r>
              <a:rPr lang="en-US" sz="2400" dirty="0" err="1" smtClean="0"/>
              <a:t>hợp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60607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Return Void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1143000"/>
          </a:xfrm>
        </p:spPr>
        <p:txBody>
          <a:bodyPr/>
          <a:lstStyle/>
          <a:p>
            <a:r>
              <a:rPr lang="en-US" dirty="0" smtClean="0"/>
              <a:t>Void </a:t>
            </a:r>
            <a:r>
              <a:rPr lang="en-US" dirty="0" err="1" smtClean="0"/>
              <a:t>là</a:t>
            </a:r>
            <a:r>
              <a:rPr lang="en-US" dirty="0" smtClean="0"/>
              <a:t> class </a:t>
            </a:r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diện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void,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trả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209800"/>
            <a:ext cx="10363200" cy="229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560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ResponseEntity API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ResponseEntity.</a:t>
            </a:r>
            <a:r>
              <a:rPr lang="en-US" b="1" dirty="0" err="1" smtClean="0">
                <a:solidFill>
                  <a:srgbClr val="FF0000"/>
                </a:solidFill>
              </a:rPr>
              <a:t>badRequest</a:t>
            </a:r>
            <a:r>
              <a:rPr lang="en-US" dirty="0" smtClean="0"/>
              <a:t>().build()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400</a:t>
            </a:r>
            <a:r>
              <a:rPr lang="en-US" dirty="0"/>
              <a:t> Bad </a:t>
            </a:r>
            <a:r>
              <a:rPr lang="en-US" dirty="0" smtClean="0"/>
              <a:t>Request: </a:t>
            </a:r>
            <a:r>
              <a:rPr lang="en-US" dirty="0" err="1" smtClean="0"/>
              <a:t>Địa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tồi</a:t>
            </a:r>
            <a:endParaRPr lang="en-US" dirty="0" smtClean="0"/>
          </a:p>
          <a:p>
            <a:r>
              <a:rPr lang="en-US" dirty="0" err="1" smtClean="0"/>
              <a:t>ResponseEntity.</a:t>
            </a:r>
            <a:r>
              <a:rPr lang="en-US" b="1" dirty="0" err="1" smtClean="0">
                <a:solidFill>
                  <a:srgbClr val="FF0000"/>
                </a:solidFill>
              </a:rPr>
              <a:t>noContent</a:t>
            </a:r>
            <a:r>
              <a:rPr lang="en-US" dirty="0" smtClean="0"/>
              <a:t>().build()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204</a:t>
            </a:r>
            <a:r>
              <a:rPr lang="en-US" dirty="0"/>
              <a:t> No </a:t>
            </a:r>
            <a:r>
              <a:rPr lang="en-US" dirty="0" smtClean="0"/>
              <a:t>Content: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nội</a:t>
            </a:r>
            <a:r>
              <a:rPr lang="en-US" dirty="0" smtClean="0"/>
              <a:t> dung</a:t>
            </a:r>
          </a:p>
          <a:p>
            <a:r>
              <a:rPr lang="en-US" dirty="0" err="1" smtClean="0"/>
              <a:t>ResponseEntity.</a:t>
            </a:r>
            <a:r>
              <a:rPr lang="en-US" b="1" dirty="0" err="1" smtClean="0">
                <a:solidFill>
                  <a:srgbClr val="FF0000"/>
                </a:solidFill>
              </a:rPr>
              <a:t>notFound</a:t>
            </a:r>
            <a:r>
              <a:rPr lang="en-US" dirty="0" smtClean="0"/>
              <a:t>().build()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404</a:t>
            </a:r>
            <a:r>
              <a:rPr lang="en-US" dirty="0"/>
              <a:t> Not </a:t>
            </a:r>
            <a:r>
              <a:rPr lang="en-US" dirty="0" smtClean="0"/>
              <a:t>Found: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thấy</a:t>
            </a:r>
            <a:endParaRPr lang="en-US" dirty="0" smtClean="0"/>
          </a:p>
          <a:p>
            <a:r>
              <a:rPr lang="en-US" dirty="0" err="1" smtClean="0"/>
              <a:t>ResponseEntity.</a:t>
            </a:r>
            <a:r>
              <a:rPr lang="en-US" b="1" dirty="0" err="1" smtClean="0">
                <a:solidFill>
                  <a:srgbClr val="FF0000"/>
                </a:solidFill>
              </a:rPr>
              <a:t>ok</a:t>
            </a:r>
            <a:r>
              <a:rPr lang="en-US" dirty="0" smtClean="0"/>
              <a:t>(body)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200</a:t>
            </a:r>
            <a:r>
              <a:rPr lang="en-US" dirty="0"/>
              <a:t> </a:t>
            </a:r>
            <a:r>
              <a:rPr lang="en-US" dirty="0" smtClean="0"/>
              <a:t>OK: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endParaRPr lang="en-US" dirty="0" smtClean="0"/>
          </a:p>
          <a:p>
            <a:r>
              <a:rPr lang="en-US" dirty="0" err="1" smtClean="0"/>
              <a:t>ResponseEntity.</a:t>
            </a:r>
            <a:r>
              <a:rPr lang="en-US" b="1" dirty="0" err="1" smtClean="0">
                <a:solidFill>
                  <a:srgbClr val="FF0000"/>
                </a:solidFill>
              </a:rPr>
              <a:t>status</a:t>
            </a:r>
            <a:r>
              <a:rPr lang="en-US" dirty="0" smtClean="0"/>
              <a:t>(</a:t>
            </a:r>
            <a:r>
              <a:rPr lang="en-US" b="1" dirty="0" err="1" smtClean="0">
                <a:solidFill>
                  <a:srgbClr val="0000FF"/>
                </a:solidFill>
              </a:rPr>
              <a:t>HttpStatus</a:t>
            </a:r>
            <a:r>
              <a:rPr lang="en-US" dirty="0" smtClean="0"/>
              <a:t>).</a:t>
            </a:r>
            <a:r>
              <a:rPr lang="en-US" dirty="0"/>
              <a:t>build</a:t>
            </a:r>
            <a:r>
              <a:rPr lang="en-US" dirty="0" smtClean="0"/>
              <a:t>()</a:t>
            </a:r>
          </a:p>
          <a:p>
            <a:pPr lvl="1"/>
            <a:r>
              <a:rPr lang="en-US" dirty="0" smtClean="0"/>
              <a:t>Status Code: </a:t>
            </a:r>
            <a:r>
              <a:rPr lang="en-US" dirty="0" err="1" smtClean="0"/>
              <a:t>Chứa</a:t>
            </a:r>
            <a:r>
              <a:rPr lang="en-US" dirty="0" smtClean="0"/>
              <a:t> </a:t>
            </a:r>
            <a:r>
              <a:rPr lang="en-US" dirty="0" err="1" smtClean="0"/>
              <a:t>trạng</a:t>
            </a:r>
            <a:r>
              <a:rPr lang="en-US" dirty="0" smtClean="0"/>
              <a:t> </a:t>
            </a:r>
            <a:r>
              <a:rPr lang="en-US" dirty="0" err="1" smtClean="0"/>
              <a:t>thái</a:t>
            </a:r>
            <a:r>
              <a:rPr lang="en-US" dirty="0" smtClean="0"/>
              <a:t> </a:t>
            </a:r>
            <a:r>
              <a:rPr lang="en-US" dirty="0" err="1" smtClean="0"/>
              <a:t>tùy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983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</a:t>
            </a:r>
            <a:r>
              <a:rPr lang="en-US" dirty="0" err="1" smtClean="0"/>
              <a:t>ResponseEntity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44041"/>
            <a:ext cx="10287000" cy="5732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733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19557" y="2967335"/>
            <a:ext cx="7195688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48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REST API with </a:t>
            </a:r>
            <a:r>
              <a:rPr lang="en-US" sz="48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JpaRepository</a:t>
            </a:r>
            <a:endParaRPr lang="en-US" sz="4800" b="1" cap="small" dirty="0" smtClean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70" y="1143000"/>
            <a:ext cx="2543530" cy="37819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236830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Cube 52"/>
          <p:cNvSpPr/>
          <p:nvPr/>
        </p:nvSpPr>
        <p:spPr>
          <a:xfrm>
            <a:off x="4572000" y="1878106"/>
            <a:ext cx="7010400" cy="3323667"/>
          </a:xfrm>
          <a:prstGeom prst="cube">
            <a:avLst>
              <a:gd name="adj" fmla="val 2441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Rest API &amp; </a:t>
            </a:r>
            <a:r>
              <a:rPr lang="en-US" dirty="0" err="1" smtClean="0"/>
              <a:t>JpaRepository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7674266" y="2595279"/>
            <a:ext cx="1568978" cy="8382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DAO</a:t>
            </a:r>
            <a:endParaRPr lang="en-US" sz="2400" dirty="0"/>
          </a:p>
        </p:txBody>
      </p:sp>
      <p:sp>
        <p:nvSpPr>
          <p:cNvPr id="5" name="Rounded Rectangle 4"/>
          <p:cNvSpPr/>
          <p:nvPr/>
        </p:nvSpPr>
        <p:spPr>
          <a:xfrm>
            <a:off x="4913366" y="2595283"/>
            <a:ext cx="2117558" cy="8382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 smtClean="0"/>
              <a:t>RestController</a:t>
            </a:r>
            <a:endParaRPr lang="en-US" sz="2400" dirty="0"/>
          </a:p>
        </p:txBody>
      </p:sp>
      <p:sp>
        <p:nvSpPr>
          <p:cNvPr id="6" name="Flowchart: Magnetic Disk 5"/>
          <p:cNvSpPr/>
          <p:nvPr/>
        </p:nvSpPr>
        <p:spPr>
          <a:xfrm>
            <a:off x="9886587" y="2595280"/>
            <a:ext cx="1355026" cy="838198"/>
          </a:xfrm>
          <a:prstGeom prst="flowChartMagneticDisk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DB</a:t>
            </a:r>
            <a:endParaRPr lang="en-US" sz="2400" dirty="0"/>
          </a:p>
        </p:txBody>
      </p:sp>
      <p:sp>
        <p:nvSpPr>
          <p:cNvPr id="7" name="Rounded Rectangle 6"/>
          <p:cNvSpPr/>
          <p:nvPr/>
        </p:nvSpPr>
        <p:spPr>
          <a:xfrm>
            <a:off x="554924" y="2225489"/>
            <a:ext cx="2035875" cy="6858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AngularJS</a:t>
            </a:r>
            <a:endParaRPr lang="en-US" sz="2400" dirty="0"/>
          </a:p>
        </p:txBody>
      </p:sp>
      <p:sp>
        <p:nvSpPr>
          <p:cNvPr id="8" name="Flowchart: Multidocument 7"/>
          <p:cNvSpPr/>
          <p:nvPr/>
        </p:nvSpPr>
        <p:spPr>
          <a:xfrm>
            <a:off x="7575022" y="3948237"/>
            <a:ext cx="1568978" cy="950976"/>
          </a:xfrm>
          <a:prstGeom prst="flowChartMultidocumen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Entities</a:t>
            </a:r>
            <a:endParaRPr lang="en-US" sz="2400" dirty="0"/>
          </a:p>
        </p:txBody>
      </p:sp>
      <p:cxnSp>
        <p:nvCxnSpPr>
          <p:cNvPr id="10" name="Elbow Connector 9"/>
          <p:cNvCxnSpPr>
            <a:stCxn id="5" idx="2"/>
            <a:endCxn id="8" idx="0"/>
          </p:cNvCxnSpPr>
          <p:nvPr/>
        </p:nvCxnSpPr>
        <p:spPr>
          <a:xfrm rot="16200000" flipH="1">
            <a:off x="6962421" y="2443207"/>
            <a:ext cx="514754" cy="2495306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6" idx="3"/>
            <a:endCxn id="8" idx="0"/>
          </p:cNvCxnSpPr>
          <p:nvPr/>
        </p:nvCxnSpPr>
        <p:spPr>
          <a:xfrm rot="5400000">
            <a:off x="9258397" y="2642533"/>
            <a:ext cx="514759" cy="209664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Elbow Connector 13"/>
          <p:cNvCxnSpPr>
            <a:stCxn id="4" idx="2"/>
            <a:endCxn id="8" idx="0"/>
          </p:cNvCxnSpPr>
          <p:nvPr/>
        </p:nvCxnSpPr>
        <p:spPr>
          <a:xfrm rot="16200000" flipH="1">
            <a:off x="8205724" y="3686510"/>
            <a:ext cx="514758" cy="8696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54924" y="1219200"/>
            <a:ext cx="2035875" cy="6858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Postman</a:t>
            </a:r>
            <a:endParaRPr lang="en-US" sz="2400" dirty="0"/>
          </a:p>
        </p:txBody>
      </p:sp>
      <p:sp>
        <p:nvSpPr>
          <p:cNvPr id="21" name="Rounded Rectangle 20"/>
          <p:cNvSpPr/>
          <p:nvPr/>
        </p:nvSpPr>
        <p:spPr>
          <a:xfrm>
            <a:off x="554924" y="3231778"/>
            <a:ext cx="2035875" cy="6858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Java Program</a:t>
            </a:r>
            <a:endParaRPr lang="en-US" sz="2400" dirty="0"/>
          </a:p>
        </p:txBody>
      </p:sp>
      <p:sp>
        <p:nvSpPr>
          <p:cNvPr id="22" name="Rounded Rectangle 21"/>
          <p:cNvSpPr/>
          <p:nvPr/>
        </p:nvSpPr>
        <p:spPr>
          <a:xfrm>
            <a:off x="554924" y="4240306"/>
            <a:ext cx="2035875" cy="6858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 smtClean="0"/>
              <a:t>RestTemplate</a:t>
            </a:r>
            <a:endParaRPr lang="en-US" sz="2400" dirty="0"/>
          </a:p>
        </p:txBody>
      </p:sp>
      <p:cxnSp>
        <p:nvCxnSpPr>
          <p:cNvPr id="37" name="Straight Arrow Connector 36"/>
          <p:cNvCxnSpPr>
            <a:stCxn id="5" idx="3"/>
            <a:endCxn id="4" idx="1"/>
          </p:cNvCxnSpPr>
          <p:nvPr/>
        </p:nvCxnSpPr>
        <p:spPr>
          <a:xfrm flipV="1">
            <a:off x="7030924" y="3014379"/>
            <a:ext cx="643342" cy="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4" idx="3"/>
            <a:endCxn id="6" idx="2"/>
          </p:cNvCxnSpPr>
          <p:nvPr/>
        </p:nvCxnSpPr>
        <p:spPr>
          <a:xfrm>
            <a:off x="9243244" y="3014379"/>
            <a:ext cx="64334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2" name="Elbow Connector 61"/>
          <p:cNvCxnSpPr>
            <a:stCxn id="20" idx="3"/>
            <a:endCxn id="5" idx="1"/>
          </p:cNvCxnSpPr>
          <p:nvPr/>
        </p:nvCxnSpPr>
        <p:spPr>
          <a:xfrm>
            <a:off x="2590799" y="1562100"/>
            <a:ext cx="2322567" cy="1452283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4" name="Elbow Connector 63"/>
          <p:cNvCxnSpPr>
            <a:stCxn id="7" idx="3"/>
            <a:endCxn id="5" idx="1"/>
          </p:cNvCxnSpPr>
          <p:nvPr/>
        </p:nvCxnSpPr>
        <p:spPr>
          <a:xfrm>
            <a:off x="2590799" y="2568389"/>
            <a:ext cx="2322567" cy="445994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6" name="Elbow Connector 65"/>
          <p:cNvCxnSpPr>
            <a:stCxn id="21" idx="3"/>
            <a:endCxn id="5" idx="1"/>
          </p:cNvCxnSpPr>
          <p:nvPr/>
        </p:nvCxnSpPr>
        <p:spPr>
          <a:xfrm flipV="1">
            <a:off x="2590799" y="3014383"/>
            <a:ext cx="2322567" cy="560295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8" name="Elbow Connector 67"/>
          <p:cNvCxnSpPr>
            <a:stCxn id="22" idx="3"/>
            <a:endCxn id="5" idx="1"/>
          </p:cNvCxnSpPr>
          <p:nvPr/>
        </p:nvCxnSpPr>
        <p:spPr>
          <a:xfrm flipV="1">
            <a:off x="2590799" y="3014383"/>
            <a:ext cx="2322567" cy="1568823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7537228" y="5314969"/>
            <a:ext cx="186044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3600" b="1" cap="none" spc="0" dirty="0" smtClean="0">
                <a:ln/>
                <a:solidFill>
                  <a:schemeClr val="accent3"/>
                </a:solidFill>
                <a:effectLst/>
              </a:rPr>
              <a:t>REST API</a:t>
            </a:r>
            <a:endParaRPr lang="en-US" sz="36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41700" y="5340084"/>
            <a:ext cx="333437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3600" b="1" cap="none" spc="0" dirty="0" smtClean="0">
                <a:ln/>
                <a:solidFill>
                  <a:schemeClr val="accent3"/>
                </a:solidFill>
                <a:effectLst/>
              </a:rPr>
              <a:t>REST Consumers</a:t>
            </a:r>
            <a:endParaRPr lang="en-US" sz="3600" b="1" cap="none" spc="0" dirty="0">
              <a:ln/>
              <a:solidFill>
                <a:schemeClr val="accent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90962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000"/>
                            </p:stCondLst>
                            <p:childTnLst>
                              <p:par>
                                <p:cTn id="8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4" grpId="0" animBg="1"/>
      <p:bldP spid="5" grpId="0" animBg="1"/>
      <p:bldP spid="6" grpId="0" animBg="1"/>
      <p:bldP spid="7" grpId="0" animBg="1"/>
      <p:bldP spid="8" grpId="0" animBg="1"/>
      <p:bldP spid="20" grpId="0" animBg="1"/>
      <p:bldP spid="21" grpId="0" animBg="1"/>
      <p:bldP spid="22" grpId="0" animBg="1"/>
      <p:bldP spid="3" grpId="0"/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Database Relationship Diagram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066800"/>
            <a:ext cx="8750734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4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ERD – Entity Relational Diagram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85800" y="990600"/>
            <a:ext cx="1184363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400" b="1" dirty="0" smtClean="0"/>
              <a:t>Product</a:t>
            </a:r>
            <a:endParaRPr lang="en-US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688704" y="4872335"/>
            <a:ext cx="1320874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400" b="1" dirty="0" smtClean="0"/>
              <a:t>Category</a:t>
            </a:r>
            <a:endParaRPr lang="en-US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886377" y="1350834"/>
            <a:ext cx="1682577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400" b="1" dirty="0" err="1" smtClean="0"/>
              <a:t>OrderDetail</a:t>
            </a:r>
            <a:endParaRPr lang="en-US" sz="2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886377" y="4158771"/>
            <a:ext cx="927883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400" b="1" dirty="0" smtClean="0"/>
              <a:t>Order</a:t>
            </a:r>
            <a:endParaRPr lang="en-US" sz="24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8986368" y="1241363"/>
            <a:ext cx="1417311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400" b="1" dirty="0" smtClean="0"/>
              <a:t>Customer</a:t>
            </a:r>
            <a:endParaRPr lang="en-US" sz="2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685800" y="1448636"/>
            <a:ext cx="3352800" cy="26776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id: Integer</a:t>
            </a:r>
          </a:p>
          <a:p>
            <a:r>
              <a:rPr lang="en-US" sz="2400" dirty="0"/>
              <a:t>name: String</a:t>
            </a:r>
          </a:p>
          <a:p>
            <a:r>
              <a:rPr lang="en-US" sz="2400" dirty="0"/>
              <a:t>price: Double</a:t>
            </a:r>
          </a:p>
          <a:p>
            <a:r>
              <a:rPr lang="en-US" sz="2400" dirty="0" err="1"/>
              <a:t>createDate</a:t>
            </a:r>
            <a:r>
              <a:rPr lang="en-US" sz="2400" dirty="0"/>
              <a:t>: Date</a:t>
            </a:r>
          </a:p>
          <a:p>
            <a:r>
              <a:rPr lang="en-US" sz="2400" dirty="0"/>
              <a:t>available: Boolean</a:t>
            </a:r>
          </a:p>
          <a:p>
            <a:r>
              <a:rPr lang="en-US" sz="2400" dirty="0">
                <a:solidFill>
                  <a:srgbClr val="0000FF"/>
                </a:solidFill>
              </a:rPr>
              <a:t>category: Category</a:t>
            </a:r>
          </a:p>
          <a:p>
            <a:r>
              <a:rPr lang="en-US" sz="2400" dirty="0">
                <a:solidFill>
                  <a:srgbClr val="FF0000"/>
                </a:solidFill>
              </a:rPr>
              <a:t>details: List&lt;</a:t>
            </a:r>
            <a:r>
              <a:rPr lang="en-US" sz="2400" dirty="0" err="1">
                <a:solidFill>
                  <a:srgbClr val="FF0000"/>
                </a:solidFill>
              </a:rPr>
              <a:t>OrderDetail</a:t>
            </a:r>
            <a:r>
              <a:rPr lang="en-US" sz="2400" dirty="0">
                <a:solidFill>
                  <a:srgbClr val="FF0000"/>
                </a:solidFill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334000"/>
            <a:ext cx="3352800" cy="12003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id: String</a:t>
            </a:r>
          </a:p>
          <a:p>
            <a:r>
              <a:rPr lang="en-US" sz="2400" dirty="0"/>
              <a:t>name: String</a:t>
            </a:r>
          </a:p>
          <a:p>
            <a:r>
              <a:rPr lang="en-US" sz="2400" dirty="0">
                <a:solidFill>
                  <a:srgbClr val="FF0000"/>
                </a:solidFill>
              </a:rPr>
              <a:t>products: List&lt;Product&gt;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6377" y="4595337"/>
            <a:ext cx="3343223" cy="19389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/>
              <a:t>id: Long</a:t>
            </a:r>
          </a:p>
          <a:p>
            <a:r>
              <a:rPr lang="en-US" sz="2400" dirty="0">
                <a:solidFill>
                  <a:srgbClr val="0000FF"/>
                </a:solidFill>
              </a:rPr>
              <a:t>customer: Customer</a:t>
            </a:r>
          </a:p>
          <a:p>
            <a:r>
              <a:rPr lang="en-US" sz="2400" dirty="0"/>
              <a:t>address: String</a:t>
            </a:r>
          </a:p>
          <a:p>
            <a:r>
              <a:rPr lang="en-US" sz="2400" dirty="0"/>
              <a:t>status: Integer</a:t>
            </a:r>
          </a:p>
          <a:p>
            <a:r>
              <a:rPr lang="en-US" sz="2400" dirty="0">
                <a:solidFill>
                  <a:srgbClr val="FF3300"/>
                </a:solidFill>
              </a:rPr>
              <a:t>details: List&lt;</a:t>
            </a:r>
            <a:r>
              <a:rPr lang="en-US" sz="2400" dirty="0" err="1">
                <a:solidFill>
                  <a:srgbClr val="FF3300"/>
                </a:solidFill>
              </a:rPr>
              <a:t>OrderDetail</a:t>
            </a:r>
            <a:r>
              <a:rPr lang="en-US" sz="2400" dirty="0">
                <a:solidFill>
                  <a:srgbClr val="FF3300"/>
                </a:solidFill>
              </a:rP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6376" y="1819176"/>
            <a:ext cx="3343223" cy="193899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id: Long</a:t>
            </a:r>
          </a:p>
          <a:p>
            <a:r>
              <a:rPr lang="en-US" sz="2400" dirty="0"/>
              <a:t>price: Double</a:t>
            </a:r>
          </a:p>
          <a:p>
            <a:r>
              <a:rPr lang="en-US" sz="2400" dirty="0"/>
              <a:t>quantity: Integer</a:t>
            </a:r>
          </a:p>
          <a:p>
            <a:r>
              <a:rPr lang="en-US" sz="2400" dirty="0">
                <a:solidFill>
                  <a:srgbClr val="0000FF"/>
                </a:solidFill>
              </a:rPr>
              <a:t>Product: product</a:t>
            </a:r>
          </a:p>
          <a:p>
            <a:r>
              <a:rPr lang="en-US" sz="2400" dirty="0">
                <a:solidFill>
                  <a:srgbClr val="0000FF"/>
                </a:solidFill>
              </a:rPr>
              <a:t>Order: order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6368" y="1703028"/>
            <a:ext cx="2596032" cy="30469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 smtClean="0"/>
              <a:t>username: </a:t>
            </a:r>
            <a:r>
              <a:rPr lang="en-US" sz="2400" dirty="0"/>
              <a:t>String</a:t>
            </a:r>
          </a:p>
          <a:p>
            <a:r>
              <a:rPr lang="en-US" sz="2400" dirty="0"/>
              <a:t>password: </a:t>
            </a:r>
            <a:r>
              <a:rPr lang="en-US" sz="2400" dirty="0" smtClean="0"/>
              <a:t>String</a:t>
            </a:r>
          </a:p>
          <a:p>
            <a:r>
              <a:rPr lang="en-US" sz="2400" dirty="0" err="1" smtClean="0"/>
              <a:t>fullname</a:t>
            </a:r>
            <a:r>
              <a:rPr lang="en-US" sz="2400" dirty="0" smtClean="0"/>
              <a:t>: </a:t>
            </a:r>
            <a:r>
              <a:rPr lang="en-US" sz="2400" dirty="0"/>
              <a:t>String</a:t>
            </a:r>
          </a:p>
          <a:p>
            <a:r>
              <a:rPr lang="en-US" sz="2400" dirty="0" smtClean="0"/>
              <a:t>email: String</a:t>
            </a:r>
          </a:p>
          <a:p>
            <a:r>
              <a:rPr lang="en-US" sz="2400" dirty="0" smtClean="0"/>
              <a:t>photo: String</a:t>
            </a:r>
          </a:p>
          <a:p>
            <a:r>
              <a:rPr lang="en-US" sz="2400" dirty="0" smtClean="0"/>
              <a:t>activated: Boolean</a:t>
            </a:r>
            <a:endParaRPr lang="en-US" sz="2400" dirty="0"/>
          </a:p>
          <a:p>
            <a:r>
              <a:rPr lang="en-US" sz="2400" dirty="0" smtClean="0"/>
              <a:t>admin: Boolean</a:t>
            </a:r>
            <a:endParaRPr lang="en-US" sz="2400" dirty="0"/>
          </a:p>
          <a:p>
            <a:r>
              <a:rPr lang="en-US" sz="2400" dirty="0" smtClean="0">
                <a:solidFill>
                  <a:srgbClr val="FF3300"/>
                </a:solidFill>
              </a:rPr>
              <a:t>orders</a:t>
            </a:r>
            <a:r>
              <a:rPr lang="en-US" sz="2400" dirty="0">
                <a:solidFill>
                  <a:srgbClr val="FF3300"/>
                </a:solidFill>
              </a:rPr>
              <a:t>: List&lt;Order&gt;</a:t>
            </a:r>
          </a:p>
        </p:txBody>
      </p:sp>
      <p:cxnSp>
        <p:nvCxnSpPr>
          <p:cNvPr id="26" name="Elbow Connector 25"/>
          <p:cNvCxnSpPr>
            <a:stCxn id="16" idx="3"/>
            <a:endCxn id="18" idx="2"/>
          </p:cNvCxnSpPr>
          <p:nvPr/>
        </p:nvCxnSpPr>
        <p:spPr>
          <a:xfrm flipV="1">
            <a:off x="8229600" y="4750016"/>
            <a:ext cx="2054784" cy="8148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4" idx="2"/>
            <a:endCxn id="15" idx="0"/>
          </p:cNvCxnSpPr>
          <p:nvPr/>
        </p:nvCxnSpPr>
        <p:spPr>
          <a:xfrm>
            <a:off x="2362200" y="4126292"/>
            <a:ext cx="0" cy="1207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7" idx="2"/>
            <a:endCxn id="16" idx="0"/>
          </p:cNvCxnSpPr>
          <p:nvPr/>
        </p:nvCxnSpPr>
        <p:spPr>
          <a:xfrm>
            <a:off x="6557988" y="3758168"/>
            <a:ext cx="1" cy="837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7" idx="1"/>
            <a:endCxn id="14" idx="3"/>
          </p:cNvCxnSpPr>
          <p:nvPr/>
        </p:nvCxnSpPr>
        <p:spPr>
          <a:xfrm flipH="1" flipV="1">
            <a:off x="4038600" y="2787464"/>
            <a:ext cx="847776" cy="1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855114" y="5587245"/>
            <a:ext cx="29208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>
                <a:solidFill>
                  <a:srgbClr val="FF3300"/>
                </a:solidFill>
              </a:rPr>
              <a:t>@</a:t>
            </a:r>
            <a:r>
              <a:rPr lang="en-US" sz="3600" b="1" dirty="0" err="1" smtClean="0">
                <a:solidFill>
                  <a:srgbClr val="FF3300"/>
                </a:solidFill>
              </a:rPr>
              <a:t>OneToMany</a:t>
            </a:r>
            <a:endParaRPr lang="en-US" sz="3600" b="1" dirty="0" smtClean="0">
              <a:solidFill>
                <a:srgbClr val="FF3300"/>
              </a:solidFill>
            </a:endParaRPr>
          </a:p>
          <a:p>
            <a:r>
              <a:rPr lang="en-US" sz="3600" b="1" dirty="0" smtClean="0">
                <a:solidFill>
                  <a:srgbClr val="0000FF"/>
                </a:solidFill>
              </a:rPr>
              <a:t>@</a:t>
            </a:r>
            <a:r>
              <a:rPr lang="en-US" sz="3600" b="1" dirty="0" err="1" smtClean="0">
                <a:solidFill>
                  <a:srgbClr val="0000FF"/>
                </a:solidFill>
              </a:rPr>
              <a:t>ManyToOne</a:t>
            </a:r>
            <a:endParaRPr 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4104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Association Entity Class Mapping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657600"/>
            <a:ext cx="5505450" cy="2209800"/>
          </a:xfrm>
        </p:spPr>
        <p:txBody>
          <a:bodyPr/>
          <a:lstStyle/>
          <a:p>
            <a:pPr marL="0" indent="0">
              <a:buNone/>
            </a:pP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Thêm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i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@</a:t>
            </a:r>
            <a:r>
              <a:rPr lang="en-US" b="1" i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JsonInorge</a:t>
            </a:r>
            <a:r>
              <a:rPr lang="en-US" b="1" i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vào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kết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hợp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@</a:t>
            </a:r>
            <a:r>
              <a:rPr lang="en-US" b="1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OneToMany</a:t>
            </a:r>
            <a:r>
              <a:rPr lang="en-US" b="1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loại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bỏ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thuộc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tính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này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khi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chuyển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từ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Java Object sang JSON.</a:t>
            </a:r>
          </a:p>
          <a:p>
            <a:pPr marL="0" indent="0">
              <a:buNone/>
            </a:pPr>
            <a:endParaRPr lang="en-US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66800"/>
            <a:ext cx="5695950" cy="2057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050" y="1343025"/>
            <a:ext cx="5467350" cy="399097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77385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DAO Class Diagram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932464" y="990600"/>
            <a:ext cx="4134756" cy="990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&lt;&lt;Interface&gt;&gt;</a:t>
            </a:r>
          </a:p>
          <a:p>
            <a:pPr algn="ctr"/>
            <a:r>
              <a:rPr lang="en-US" sz="2800" b="1" dirty="0" err="1" smtClean="0"/>
              <a:t>JpaRepository</a:t>
            </a:r>
            <a:r>
              <a:rPr lang="en-US" sz="2800" b="1" dirty="0" smtClean="0"/>
              <a:t>&lt;E, K&gt;</a:t>
            </a:r>
            <a:endParaRPr lang="en-US" sz="2800" b="1" dirty="0"/>
          </a:p>
        </p:txBody>
      </p:sp>
      <p:sp>
        <p:nvSpPr>
          <p:cNvPr id="5" name="Rectangle 4"/>
          <p:cNvSpPr/>
          <p:nvPr/>
        </p:nvSpPr>
        <p:spPr>
          <a:xfrm rot="16200000">
            <a:off x="-197756" y="3891644"/>
            <a:ext cx="4125686" cy="1219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&lt;&lt;Interface&gt;&gt;</a:t>
            </a:r>
          </a:p>
          <a:p>
            <a:pPr algn="ctr"/>
            <a:r>
              <a:rPr lang="en-US" sz="2000" dirty="0" err="1" smtClean="0"/>
              <a:t>CategoryDAO</a:t>
            </a:r>
            <a:r>
              <a:rPr lang="en-US" sz="2000" dirty="0" smtClean="0"/>
              <a:t>&lt;Category, String&gt;</a:t>
            </a:r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 rot="16200000">
            <a:off x="1869622" y="3891644"/>
            <a:ext cx="4125686" cy="1219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&lt;&lt;Interface&gt;&gt;</a:t>
            </a:r>
          </a:p>
          <a:p>
            <a:pPr algn="ctr"/>
            <a:r>
              <a:rPr lang="en-US" sz="2000" dirty="0" err="1" smtClean="0"/>
              <a:t>ProductDAO</a:t>
            </a:r>
            <a:r>
              <a:rPr lang="en-US" sz="2000" dirty="0" smtClean="0"/>
              <a:t>&lt;Product, Integer&gt;</a:t>
            </a:r>
            <a:endParaRPr lang="en-US" sz="2000" dirty="0"/>
          </a:p>
        </p:txBody>
      </p:sp>
      <p:sp>
        <p:nvSpPr>
          <p:cNvPr id="7" name="Rectangle 6"/>
          <p:cNvSpPr/>
          <p:nvPr/>
        </p:nvSpPr>
        <p:spPr>
          <a:xfrm rot="16200000">
            <a:off x="6004378" y="3891644"/>
            <a:ext cx="4125686" cy="1219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&lt;&lt;Interface&gt;&gt;</a:t>
            </a:r>
          </a:p>
          <a:p>
            <a:pPr algn="ctr"/>
            <a:r>
              <a:rPr lang="en-US" sz="2000" dirty="0" err="1" smtClean="0"/>
              <a:t>OrderDAO</a:t>
            </a:r>
            <a:r>
              <a:rPr lang="en-US" sz="2000" dirty="0" smtClean="0"/>
              <a:t>&lt;Order, Long&gt;</a:t>
            </a:r>
            <a:endParaRPr lang="en-US" sz="2000" dirty="0"/>
          </a:p>
        </p:txBody>
      </p:sp>
      <p:sp>
        <p:nvSpPr>
          <p:cNvPr id="8" name="Rectangle 7"/>
          <p:cNvSpPr/>
          <p:nvPr/>
        </p:nvSpPr>
        <p:spPr>
          <a:xfrm rot="16200000">
            <a:off x="8071757" y="3891644"/>
            <a:ext cx="4125686" cy="1219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&lt;&lt;Interface&gt;&gt;</a:t>
            </a:r>
          </a:p>
          <a:p>
            <a:pPr algn="ctr"/>
            <a:r>
              <a:rPr lang="en-US" sz="2000" dirty="0" err="1" smtClean="0"/>
              <a:t>OrderDetailDAO</a:t>
            </a:r>
            <a:r>
              <a:rPr lang="en-US" sz="2000" dirty="0" smtClean="0"/>
              <a:t>&lt;</a:t>
            </a:r>
            <a:r>
              <a:rPr lang="en-US" sz="2000" dirty="0" err="1" smtClean="0"/>
              <a:t>OrderDetail</a:t>
            </a:r>
            <a:r>
              <a:rPr lang="en-US" sz="2000" dirty="0" smtClean="0"/>
              <a:t>, Long&gt;</a:t>
            </a:r>
            <a:endParaRPr lang="en-US" sz="2000" dirty="0"/>
          </a:p>
        </p:txBody>
      </p:sp>
      <p:sp>
        <p:nvSpPr>
          <p:cNvPr id="9" name="Rectangle 8"/>
          <p:cNvSpPr/>
          <p:nvPr/>
        </p:nvSpPr>
        <p:spPr>
          <a:xfrm rot="16200000">
            <a:off x="3937000" y="3891644"/>
            <a:ext cx="4125686" cy="12192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&lt;&lt;Interface&gt;&gt;</a:t>
            </a:r>
          </a:p>
          <a:p>
            <a:pPr algn="ctr"/>
            <a:r>
              <a:rPr lang="en-US" sz="2000" dirty="0" err="1" smtClean="0"/>
              <a:t>CustomerDAO</a:t>
            </a:r>
            <a:r>
              <a:rPr lang="en-US" sz="2000" dirty="0" smtClean="0"/>
              <a:t>&lt;Customer, String&gt;</a:t>
            </a:r>
            <a:endParaRPr lang="en-US" sz="2000" dirty="0"/>
          </a:p>
        </p:txBody>
      </p:sp>
      <p:cxnSp>
        <p:nvCxnSpPr>
          <p:cNvPr id="11" name="Elbow Connector 10"/>
          <p:cNvCxnSpPr>
            <a:stCxn id="5" idx="3"/>
            <a:endCxn id="4" idx="2"/>
          </p:cNvCxnSpPr>
          <p:nvPr/>
        </p:nvCxnSpPr>
        <p:spPr>
          <a:xfrm rot="5400000" flipH="1" flipV="1">
            <a:off x="3703864" y="142424"/>
            <a:ext cx="457201" cy="4134755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Elbow Connector 12"/>
          <p:cNvCxnSpPr>
            <a:stCxn id="6" idx="3"/>
            <a:endCxn id="4" idx="2"/>
          </p:cNvCxnSpPr>
          <p:nvPr/>
        </p:nvCxnSpPr>
        <p:spPr>
          <a:xfrm rot="5400000" flipH="1" flipV="1">
            <a:off x="4737553" y="1176113"/>
            <a:ext cx="457201" cy="2067377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9" idx="3"/>
            <a:endCxn id="4" idx="2"/>
          </p:cNvCxnSpPr>
          <p:nvPr/>
        </p:nvCxnSpPr>
        <p:spPr>
          <a:xfrm flipH="1" flipV="1">
            <a:off x="5999842" y="1981200"/>
            <a:ext cx="1" cy="4572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" name="Elbow Connector 16"/>
          <p:cNvCxnSpPr>
            <a:stCxn id="7" idx="3"/>
            <a:endCxn id="4" idx="2"/>
          </p:cNvCxnSpPr>
          <p:nvPr/>
        </p:nvCxnSpPr>
        <p:spPr>
          <a:xfrm rot="16200000" flipV="1">
            <a:off x="6804932" y="1176111"/>
            <a:ext cx="457201" cy="206737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Elbow Connector 18"/>
          <p:cNvCxnSpPr/>
          <p:nvPr/>
        </p:nvCxnSpPr>
        <p:spPr>
          <a:xfrm rot="16200000" flipV="1">
            <a:off x="7838620" y="142418"/>
            <a:ext cx="457201" cy="413475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6541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000"/>
                            </p:stCondLst>
                            <p:childTnLst>
                              <p:par>
                                <p:cTn id="5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0"/>
                            </p:stCondLst>
                            <p:childTnLst>
                              <p:par>
                                <p:cTn id="6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Review </a:t>
            </a:r>
            <a:r>
              <a:rPr lang="en-US" dirty="0" err="1" smtClean="0"/>
              <a:t>JpaRepository</a:t>
            </a:r>
            <a:r>
              <a:rPr lang="en-US" dirty="0" smtClean="0"/>
              <a:t> API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578737"/>
              </p:ext>
            </p:extLst>
          </p:nvPr>
        </p:nvGraphicFramePr>
        <p:xfrm>
          <a:off x="533400" y="990600"/>
          <a:ext cx="4765766" cy="3474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5766">
                  <a:extLst>
                    <a:ext uri="{9D8B030D-6E8A-4147-A177-3AD203B41FA5}">
                      <a16:colId xmlns:a16="http://schemas.microsoft.com/office/drawing/2014/main" val="2232927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&lt;&lt;Interface&gt;&gt;</a:t>
                      </a:r>
                    </a:p>
                    <a:p>
                      <a:pPr algn="ctr"/>
                      <a:r>
                        <a:rPr lang="en-US" sz="2400" b="1" dirty="0" err="1" smtClean="0"/>
                        <a:t>CrudRepository</a:t>
                      </a:r>
                      <a:r>
                        <a:rPr lang="en-US" sz="2400" b="1" dirty="0" smtClean="0"/>
                        <a:t>&lt;T, ID&gt;</a:t>
                      </a:r>
                      <a:endParaRPr 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9166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&lt;S extends T&gt; S </a:t>
                      </a:r>
                      <a:r>
                        <a:rPr lang="en-US" sz="2400" b="1" dirty="0" smtClean="0">
                          <a:solidFill>
                            <a:srgbClr val="FF0000"/>
                          </a:solidFill>
                        </a:rPr>
                        <a:t>save</a:t>
                      </a:r>
                      <a:r>
                        <a:rPr lang="en-US" sz="2400" dirty="0" smtClean="0"/>
                        <a:t>(S entity)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void </a:t>
                      </a:r>
                      <a:r>
                        <a:rPr lang="en-US" sz="2400" b="1" kern="1200" dirty="0" smtClean="0">
                          <a:solidFill>
                            <a:srgbClr val="FF0000"/>
                          </a:solidFill>
                        </a:rPr>
                        <a:t>delete</a:t>
                      </a:r>
                      <a:r>
                        <a:rPr lang="en-US" sz="2400" dirty="0" smtClean="0"/>
                        <a:t>(T entity)</a:t>
                      </a:r>
                    </a:p>
                    <a:p>
                      <a:r>
                        <a:rPr lang="en-US" sz="2400" dirty="0" smtClean="0"/>
                        <a:t>Optional&lt;T&gt; </a:t>
                      </a:r>
                      <a:r>
                        <a:rPr lang="en-US" sz="2400" b="1" kern="1200" dirty="0" err="1" smtClean="0">
                          <a:solidFill>
                            <a:srgbClr val="FF0000"/>
                          </a:solidFill>
                        </a:rPr>
                        <a:t>findById</a:t>
                      </a:r>
                      <a:r>
                        <a:rPr lang="en-US" sz="2400" dirty="0" smtClean="0"/>
                        <a:t>(ID id)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T </a:t>
                      </a:r>
                      <a:r>
                        <a:rPr lang="en-US" sz="2400" b="1" kern="1200" dirty="0" err="1" smtClean="0">
                          <a:solidFill>
                            <a:srgbClr val="FF0000"/>
                          </a:solidFill>
                        </a:rPr>
                        <a:t>getOne</a:t>
                      </a:r>
                      <a:r>
                        <a:rPr lang="en-US" sz="2400" dirty="0" smtClean="0"/>
                        <a:t>(ID id)</a:t>
                      </a:r>
                    </a:p>
                    <a:p>
                      <a:r>
                        <a:rPr lang="en-US" sz="2400" dirty="0" err="1" smtClean="0"/>
                        <a:t>Iterable</a:t>
                      </a:r>
                      <a:r>
                        <a:rPr lang="en-US" sz="2400" dirty="0" smtClean="0"/>
                        <a:t>&lt;T&gt; </a:t>
                      </a:r>
                      <a:r>
                        <a:rPr lang="en-US" sz="2400" dirty="0" err="1" smtClean="0"/>
                        <a:t>findAll</a:t>
                      </a:r>
                      <a:r>
                        <a:rPr lang="en-US" sz="2400" dirty="0" smtClean="0"/>
                        <a:t>()</a:t>
                      </a:r>
                    </a:p>
                    <a:p>
                      <a:r>
                        <a:rPr lang="en-US" sz="2400" dirty="0" smtClean="0"/>
                        <a:t>Long </a:t>
                      </a:r>
                      <a:r>
                        <a:rPr lang="en-US" sz="2400" b="1" kern="1200" dirty="0" smtClean="0">
                          <a:solidFill>
                            <a:srgbClr val="FF0000"/>
                          </a:solidFill>
                        </a:rPr>
                        <a:t>count</a:t>
                      </a:r>
                      <a:r>
                        <a:rPr lang="en-US" sz="2400" dirty="0" smtClean="0"/>
                        <a:t>()</a:t>
                      </a:r>
                    </a:p>
                    <a:p>
                      <a:r>
                        <a:rPr lang="en-US" sz="2400" dirty="0" err="1" smtClean="0"/>
                        <a:t>boolean</a:t>
                      </a:r>
                      <a:r>
                        <a:rPr lang="en-US" sz="2400" dirty="0" smtClean="0"/>
                        <a:t> </a:t>
                      </a:r>
                      <a:r>
                        <a:rPr lang="en-US" sz="2400" b="1" kern="1200" dirty="0" smtClean="0">
                          <a:solidFill>
                            <a:srgbClr val="FF0000"/>
                          </a:solidFill>
                        </a:rPr>
                        <a:t>exists</a:t>
                      </a:r>
                      <a:r>
                        <a:rPr lang="en-US" sz="2400" dirty="0" smtClean="0"/>
                        <a:t>(ID id)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7654259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901863"/>
              </p:ext>
            </p:extLst>
          </p:nvPr>
        </p:nvGraphicFramePr>
        <p:xfrm>
          <a:off x="533400" y="4907280"/>
          <a:ext cx="4765766" cy="1645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5766">
                  <a:extLst>
                    <a:ext uri="{9D8B030D-6E8A-4147-A177-3AD203B41FA5}">
                      <a16:colId xmlns:a16="http://schemas.microsoft.com/office/drawing/2014/main" val="2232927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&lt;&lt;Interface&gt;&gt;</a:t>
                      </a:r>
                    </a:p>
                    <a:p>
                      <a:pPr algn="ctr"/>
                      <a:r>
                        <a:rPr lang="en-US" sz="2400" b="1" dirty="0" err="1" smtClean="0"/>
                        <a:t>PagingAndSortingRepository</a:t>
                      </a:r>
                      <a:r>
                        <a:rPr lang="en-US" sz="2400" b="1" dirty="0" smtClean="0"/>
                        <a:t>&lt;T, ID&gt;</a:t>
                      </a:r>
                      <a:endParaRPr 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9166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400" dirty="0" err="1" smtClean="0"/>
                        <a:t>Iterable</a:t>
                      </a:r>
                      <a:r>
                        <a:rPr lang="fr-FR" sz="2400" dirty="0" smtClean="0"/>
                        <a:t>&lt;T&gt; </a:t>
                      </a:r>
                      <a:r>
                        <a:rPr lang="fr-FR" sz="2400" dirty="0" err="1" smtClean="0"/>
                        <a:t>findAll</a:t>
                      </a:r>
                      <a:r>
                        <a:rPr lang="fr-FR" sz="2400" dirty="0" smtClean="0"/>
                        <a:t>(Sort </a:t>
                      </a:r>
                      <a:r>
                        <a:rPr lang="fr-FR" sz="2400" dirty="0" err="1" smtClean="0"/>
                        <a:t>sort</a:t>
                      </a:r>
                      <a:r>
                        <a:rPr lang="fr-FR" sz="2400" dirty="0" smtClean="0"/>
                        <a:t>)</a:t>
                      </a:r>
                    </a:p>
                    <a:p>
                      <a:r>
                        <a:rPr lang="fr-FR" sz="2400" dirty="0" smtClean="0"/>
                        <a:t>Page&lt;T&gt; </a:t>
                      </a:r>
                      <a:r>
                        <a:rPr lang="fr-FR" sz="2400" b="1" kern="1200" dirty="0" err="1" smtClean="0">
                          <a:solidFill>
                            <a:srgbClr val="FF0000"/>
                          </a:solidFill>
                        </a:rPr>
                        <a:t>findAll</a:t>
                      </a:r>
                      <a:r>
                        <a:rPr lang="fr-FR" sz="2400" dirty="0" smtClean="0"/>
                        <a:t>(</a:t>
                      </a:r>
                      <a:r>
                        <a:rPr lang="fr-FR" sz="2400" dirty="0" err="1" smtClean="0"/>
                        <a:t>Pageable</a:t>
                      </a:r>
                      <a:r>
                        <a:rPr lang="fr-FR" sz="2400" dirty="0" smtClean="0"/>
                        <a:t> </a:t>
                      </a:r>
                      <a:r>
                        <a:rPr lang="fr-FR" sz="2400" dirty="0" err="1" smtClean="0"/>
                        <a:t>pageable</a:t>
                      </a:r>
                      <a:r>
                        <a:rPr lang="fr-FR" sz="2400" dirty="0" smtClean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7654259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637127"/>
              </p:ext>
            </p:extLst>
          </p:nvPr>
        </p:nvGraphicFramePr>
        <p:xfrm>
          <a:off x="5867400" y="990600"/>
          <a:ext cx="5714999" cy="3108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14999">
                  <a:extLst>
                    <a:ext uri="{9D8B030D-6E8A-4147-A177-3AD203B41FA5}">
                      <a16:colId xmlns:a16="http://schemas.microsoft.com/office/drawing/2014/main" val="2232927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&lt;&lt;Interface&gt;&gt;</a:t>
                      </a:r>
                    </a:p>
                    <a:p>
                      <a:pPr algn="ctr"/>
                      <a:r>
                        <a:rPr lang="en-US" sz="2400" b="1" dirty="0" err="1" smtClean="0"/>
                        <a:t>JpaRepository</a:t>
                      </a:r>
                      <a:r>
                        <a:rPr lang="en-US" sz="2400" b="1" dirty="0" smtClean="0"/>
                        <a:t>&lt;T, ID&gt;</a:t>
                      </a:r>
                      <a:endParaRPr 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9166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400" dirty="0" smtClean="0"/>
                        <a:t>List&lt;T&gt; </a:t>
                      </a:r>
                      <a:r>
                        <a:rPr lang="fr-FR" sz="2400" b="1" kern="1200" dirty="0" err="1" smtClean="0">
                          <a:solidFill>
                            <a:srgbClr val="FF0000"/>
                          </a:solidFill>
                        </a:rPr>
                        <a:t>findAll</a:t>
                      </a:r>
                      <a:r>
                        <a:rPr lang="fr-FR" sz="2400" dirty="0" smtClean="0"/>
                        <a:t>()</a:t>
                      </a:r>
                    </a:p>
                    <a:p>
                      <a:r>
                        <a:rPr lang="fr-FR" sz="2400" dirty="0" smtClean="0"/>
                        <a:t>List&lt;T&gt; </a:t>
                      </a:r>
                      <a:r>
                        <a:rPr lang="fr-FR" sz="2400" b="1" kern="1200" dirty="0" err="1" smtClean="0">
                          <a:solidFill>
                            <a:srgbClr val="FF0000"/>
                          </a:solidFill>
                        </a:rPr>
                        <a:t>findAll</a:t>
                      </a:r>
                      <a:r>
                        <a:rPr lang="fr-FR" sz="2400" dirty="0" smtClean="0"/>
                        <a:t>(Sort </a:t>
                      </a:r>
                      <a:r>
                        <a:rPr lang="fr-FR" sz="2400" dirty="0" err="1" smtClean="0"/>
                        <a:t>sort</a:t>
                      </a:r>
                      <a:r>
                        <a:rPr lang="fr-FR" sz="2400" dirty="0" smtClean="0"/>
                        <a:t>)</a:t>
                      </a:r>
                    </a:p>
                    <a:p>
                      <a:r>
                        <a:rPr lang="fr-FR" sz="2400" dirty="0" smtClean="0"/>
                        <a:t>List&lt;T&gt; </a:t>
                      </a:r>
                      <a:r>
                        <a:rPr lang="fr-FR" sz="2400" b="1" kern="1200" dirty="0" err="1" smtClean="0">
                          <a:solidFill>
                            <a:srgbClr val="FF0000"/>
                          </a:solidFill>
                        </a:rPr>
                        <a:t>save</a:t>
                      </a:r>
                      <a:r>
                        <a:rPr lang="fr-FR" sz="2400" dirty="0" smtClean="0"/>
                        <a:t>(</a:t>
                      </a:r>
                      <a:r>
                        <a:rPr lang="fr-FR" sz="2400" dirty="0" err="1" smtClean="0"/>
                        <a:t>Iterable</a:t>
                      </a:r>
                      <a:r>
                        <a:rPr lang="fr-FR" sz="2400" dirty="0" smtClean="0"/>
                        <a:t>&lt;? </a:t>
                      </a:r>
                      <a:r>
                        <a:rPr lang="fr-FR" sz="2400" dirty="0" err="1" smtClean="0"/>
                        <a:t>extends</a:t>
                      </a:r>
                      <a:r>
                        <a:rPr lang="fr-FR" sz="2400" dirty="0" smtClean="0"/>
                        <a:t> T&gt; </a:t>
                      </a:r>
                      <a:r>
                        <a:rPr lang="fr-FR" sz="2400" dirty="0" err="1" smtClean="0"/>
                        <a:t>entities</a:t>
                      </a:r>
                      <a:r>
                        <a:rPr lang="fr-FR" sz="2400" dirty="0" smtClean="0"/>
                        <a:t>)</a:t>
                      </a:r>
                    </a:p>
                    <a:p>
                      <a:r>
                        <a:rPr lang="fr-FR" sz="2400" dirty="0" err="1" smtClean="0"/>
                        <a:t>void</a:t>
                      </a:r>
                      <a:r>
                        <a:rPr lang="fr-FR" sz="2400" dirty="0" smtClean="0"/>
                        <a:t> </a:t>
                      </a:r>
                      <a:r>
                        <a:rPr lang="fr-FR" sz="2400" kern="1200" dirty="0" smtClean="0"/>
                        <a:t>flush</a:t>
                      </a:r>
                      <a:r>
                        <a:rPr lang="fr-FR" sz="2400" dirty="0" smtClean="0"/>
                        <a:t>()</a:t>
                      </a:r>
                    </a:p>
                    <a:p>
                      <a:r>
                        <a:rPr lang="fr-FR" sz="2400" dirty="0" smtClean="0"/>
                        <a:t>T </a:t>
                      </a:r>
                      <a:r>
                        <a:rPr lang="fr-FR" sz="2400" kern="1200" dirty="0" err="1" smtClean="0"/>
                        <a:t>saveAndFlush</a:t>
                      </a:r>
                      <a:r>
                        <a:rPr lang="fr-FR" sz="2400" dirty="0" smtClean="0"/>
                        <a:t>(T </a:t>
                      </a:r>
                      <a:r>
                        <a:rPr lang="fr-FR" sz="2400" dirty="0" err="1" smtClean="0"/>
                        <a:t>entity</a:t>
                      </a:r>
                      <a:r>
                        <a:rPr lang="fr-FR" sz="2400" dirty="0" smtClean="0"/>
                        <a:t>)</a:t>
                      </a:r>
                    </a:p>
                    <a:p>
                      <a:r>
                        <a:rPr lang="fr-FR" sz="2400" dirty="0" err="1" smtClean="0"/>
                        <a:t>void</a:t>
                      </a:r>
                      <a:r>
                        <a:rPr lang="fr-FR" sz="2400" dirty="0" smtClean="0"/>
                        <a:t> </a:t>
                      </a:r>
                      <a:r>
                        <a:rPr lang="fr-FR" sz="2400" kern="1200" dirty="0" err="1" smtClean="0"/>
                        <a:t>deleteInBatch</a:t>
                      </a:r>
                      <a:r>
                        <a:rPr lang="fr-FR" sz="2400" dirty="0" smtClean="0"/>
                        <a:t>(</a:t>
                      </a:r>
                      <a:r>
                        <a:rPr lang="fr-FR" sz="2400" dirty="0" err="1" smtClean="0"/>
                        <a:t>Iterable</a:t>
                      </a:r>
                      <a:r>
                        <a:rPr lang="fr-FR" sz="2400" dirty="0" smtClean="0"/>
                        <a:t>&lt;T&gt; </a:t>
                      </a:r>
                      <a:r>
                        <a:rPr lang="fr-FR" sz="2400" dirty="0" err="1" smtClean="0"/>
                        <a:t>entities</a:t>
                      </a:r>
                      <a:r>
                        <a:rPr lang="fr-FR" sz="2400" dirty="0" smtClean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7654259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>
            <a:stCxn id="4" idx="0"/>
            <a:endCxn id="3" idx="2"/>
          </p:cNvCxnSpPr>
          <p:nvPr/>
        </p:nvCxnSpPr>
        <p:spPr>
          <a:xfrm flipV="1">
            <a:off x="2916283" y="4465320"/>
            <a:ext cx="0" cy="4419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Elbow Connector 8"/>
          <p:cNvCxnSpPr>
            <a:stCxn id="5" idx="1"/>
            <a:endCxn id="4" idx="3"/>
          </p:cNvCxnSpPr>
          <p:nvPr/>
        </p:nvCxnSpPr>
        <p:spPr>
          <a:xfrm rot="10800000" flipV="1">
            <a:off x="5299166" y="2545080"/>
            <a:ext cx="568234" cy="31851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914772"/>
              </p:ext>
            </p:extLst>
          </p:nvPr>
        </p:nvGraphicFramePr>
        <p:xfrm>
          <a:off x="5867399" y="4907280"/>
          <a:ext cx="5714999" cy="128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14999">
                  <a:extLst>
                    <a:ext uri="{9D8B030D-6E8A-4147-A177-3AD203B41FA5}">
                      <a16:colId xmlns:a16="http://schemas.microsoft.com/office/drawing/2014/main" val="2232927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&lt;&lt;Interface&gt;&gt;</a:t>
                      </a:r>
                    </a:p>
                    <a:p>
                      <a:pPr algn="ctr"/>
                      <a:r>
                        <a:rPr lang="en-US" sz="2400" b="1" dirty="0" err="1" smtClean="0"/>
                        <a:t>CategoryDAO</a:t>
                      </a:r>
                      <a:r>
                        <a:rPr lang="en-US" sz="2400" b="1" dirty="0" smtClean="0"/>
                        <a:t>&lt;Category, String&gt;</a:t>
                      </a:r>
                      <a:endParaRPr lang="en-US" sz="24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166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sz="2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654259"/>
                  </a:ext>
                </a:extLst>
              </a:tr>
            </a:tbl>
          </a:graphicData>
        </a:graphic>
      </p:graphicFrame>
      <p:cxnSp>
        <p:nvCxnSpPr>
          <p:cNvPr id="13" name="Straight Arrow Connector 12"/>
          <p:cNvCxnSpPr>
            <a:stCxn id="12" idx="0"/>
            <a:endCxn id="5" idx="2"/>
          </p:cNvCxnSpPr>
          <p:nvPr/>
        </p:nvCxnSpPr>
        <p:spPr>
          <a:xfrm flipV="1">
            <a:off x="8724898" y="4099560"/>
            <a:ext cx="1" cy="8077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5200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4807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CategoryRestController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GET</a:t>
            </a:r>
            <a:r>
              <a:rPr lang="en-US" dirty="0" smtClean="0"/>
              <a:t>: </a:t>
            </a:r>
            <a:r>
              <a:rPr lang="en-US" b="1" dirty="0" smtClean="0"/>
              <a:t>/</a:t>
            </a:r>
            <a:r>
              <a:rPr lang="en-US" b="1" dirty="0" err="1" smtClean="0"/>
              <a:t>api</a:t>
            </a:r>
            <a:r>
              <a:rPr lang="en-US" b="1" dirty="0" smtClean="0"/>
              <a:t>/categories</a:t>
            </a:r>
          </a:p>
          <a:p>
            <a:pPr lvl="1"/>
            <a:r>
              <a:rPr lang="en-US" b="1" i="1" dirty="0" smtClean="0">
                <a:solidFill>
                  <a:srgbClr val="00B050"/>
                </a:solidFill>
              </a:rPr>
              <a:t>() =&gt; List&lt;Category&gt;</a:t>
            </a:r>
          </a:p>
          <a:p>
            <a:r>
              <a:rPr lang="en-US" b="1" dirty="0">
                <a:solidFill>
                  <a:srgbClr val="FF0000"/>
                </a:solidFill>
              </a:rPr>
              <a:t>GET</a:t>
            </a:r>
            <a:r>
              <a:rPr lang="en-US" dirty="0"/>
              <a:t>: /</a:t>
            </a:r>
            <a:r>
              <a:rPr lang="en-US" dirty="0" err="1" smtClean="0"/>
              <a:t>api</a:t>
            </a:r>
            <a:r>
              <a:rPr lang="en-US" dirty="0" smtClean="0"/>
              <a:t>/categories</a:t>
            </a:r>
            <a:r>
              <a:rPr lang="en-US" b="1" dirty="0" smtClean="0">
                <a:solidFill>
                  <a:srgbClr val="0000FF"/>
                </a:solidFill>
              </a:rPr>
              <a:t>/{id}</a:t>
            </a:r>
          </a:p>
          <a:p>
            <a:pPr lvl="1"/>
            <a:r>
              <a:rPr lang="en-US" b="1" i="1" dirty="0">
                <a:solidFill>
                  <a:srgbClr val="00B050"/>
                </a:solidFill>
              </a:rPr>
              <a:t>(id) =&gt; Category</a:t>
            </a:r>
          </a:p>
          <a:p>
            <a:r>
              <a:rPr lang="en-US" b="1" dirty="0">
                <a:solidFill>
                  <a:srgbClr val="FF0000"/>
                </a:solidFill>
              </a:rPr>
              <a:t>POST</a:t>
            </a:r>
            <a:r>
              <a:rPr lang="en-US" dirty="0" smtClean="0"/>
              <a:t>: </a:t>
            </a:r>
            <a:r>
              <a:rPr lang="en-US" dirty="0"/>
              <a:t>/</a:t>
            </a:r>
            <a:r>
              <a:rPr lang="en-US" dirty="0" err="1" smtClean="0"/>
              <a:t>api</a:t>
            </a:r>
            <a:r>
              <a:rPr lang="en-US" dirty="0" smtClean="0"/>
              <a:t>/categories </a:t>
            </a:r>
            <a:r>
              <a:rPr lang="en-US" dirty="0"/>
              <a:t>&amp;</a:t>
            </a:r>
            <a:r>
              <a:rPr lang="en-US" b="1" dirty="0" smtClean="0"/>
              <a:t> </a:t>
            </a:r>
            <a:r>
              <a:rPr lang="en-US" b="1" dirty="0" err="1" smtClean="0"/>
              <a:t>Catetory</a:t>
            </a:r>
            <a:endParaRPr lang="en-US" b="1" dirty="0" smtClean="0"/>
          </a:p>
          <a:p>
            <a:pPr lvl="1"/>
            <a:r>
              <a:rPr lang="en-US" b="1" i="1" dirty="0">
                <a:solidFill>
                  <a:srgbClr val="00B050"/>
                </a:solidFill>
              </a:rPr>
              <a:t>(Category) =&gt; Category</a:t>
            </a:r>
          </a:p>
          <a:p>
            <a:r>
              <a:rPr lang="en-US" b="1" dirty="0">
                <a:solidFill>
                  <a:srgbClr val="FF0000"/>
                </a:solidFill>
              </a:rPr>
              <a:t>PUT</a:t>
            </a:r>
            <a:r>
              <a:rPr lang="en-US" dirty="0" smtClean="0"/>
              <a:t>: </a:t>
            </a:r>
            <a:r>
              <a:rPr lang="en-US" dirty="0"/>
              <a:t>/</a:t>
            </a:r>
            <a:r>
              <a:rPr lang="en-US" dirty="0" err="1" smtClean="0"/>
              <a:t>api</a:t>
            </a:r>
            <a:r>
              <a:rPr lang="en-US" dirty="0" smtClean="0"/>
              <a:t>/categories</a:t>
            </a:r>
            <a:r>
              <a:rPr lang="en-US" b="1" dirty="0" smtClean="0">
                <a:solidFill>
                  <a:srgbClr val="0000FF"/>
                </a:solidFill>
              </a:rPr>
              <a:t>/{id} </a:t>
            </a:r>
            <a:r>
              <a:rPr lang="en-US" dirty="0" smtClean="0"/>
              <a:t>&amp;</a:t>
            </a:r>
            <a:r>
              <a:rPr lang="en-US" b="1" dirty="0" smtClean="0"/>
              <a:t> </a:t>
            </a:r>
            <a:r>
              <a:rPr lang="en-US" b="1" dirty="0"/>
              <a:t>Category</a:t>
            </a:r>
          </a:p>
          <a:p>
            <a:pPr lvl="1"/>
            <a:r>
              <a:rPr lang="en-US" b="1" i="1" dirty="0">
                <a:solidFill>
                  <a:srgbClr val="00B050"/>
                </a:solidFill>
              </a:rPr>
              <a:t>(id, Category) =&gt; Category</a:t>
            </a:r>
          </a:p>
          <a:p>
            <a:r>
              <a:rPr lang="en-US" b="1" dirty="0">
                <a:solidFill>
                  <a:srgbClr val="FF0000"/>
                </a:solidFill>
              </a:rPr>
              <a:t>DELETE</a:t>
            </a:r>
            <a:r>
              <a:rPr lang="en-US" dirty="0" smtClean="0"/>
              <a:t>: </a:t>
            </a:r>
            <a:r>
              <a:rPr lang="en-US" dirty="0"/>
              <a:t>/</a:t>
            </a:r>
            <a:r>
              <a:rPr lang="en-US" dirty="0" err="1" smtClean="0"/>
              <a:t>api</a:t>
            </a:r>
            <a:r>
              <a:rPr lang="en-US" dirty="0" smtClean="0"/>
              <a:t>/categories</a:t>
            </a:r>
            <a:r>
              <a:rPr lang="en-US" b="1" dirty="0" smtClean="0">
                <a:solidFill>
                  <a:srgbClr val="0000FF"/>
                </a:solidFill>
              </a:rPr>
              <a:t>/{id}</a:t>
            </a:r>
          </a:p>
          <a:p>
            <a:pPr lvl="1"/>
            <a:r>
              <a:rPr lang="en-US" b="1" i="1" dirty="0">
                <a:solidFill>
                  <a:srgbClr val="00B050"/>
                </a:solidFill>
              </a:rPr>
              <a:t>(id) =&gt; Void</a:t>
            </a:r>
          </a:p>
        </p:txBody>
      </p:sp>
    </p:spTree>
    <p:extLst>
      <p:ext uri="{BB962C8B-B14F-4D97-AF65-F5344CB8AC3E}">
        <p14:creationId xmlns:p14="http://schemas.microsoft.com/office/powerpoint/2010/main" val="3032719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CategoryRestController</a:t>
            </a:r>
            <a:r>
              <a:rPr lang="en-US" dirty="0" smtClean="0"/>
              <a:t> Structure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14400"/>
            <a:ext cx="10972800" cy="570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00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52524"/>
            <a:ext cx="2486025" cy="7905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3518" y="2819400"/>
            <a:ext cx="4991100" cy="3714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5375" y="3810000"/>
            <a:ext cx="6143625" cy="1857375"/>
          </a:xfrm>
          <a:prstGeom prst="rect">
            <a:avLst/>
          </a:prstGeom>
        </p:spPr>
      </p:pic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CategoryRestController</a:t>
            </a:r>
            <a:r>
              <a:rPr lang="en-US" dirty="0" smtClean="0"/>
              <a:t> Implementation</a:t>
            </a:r>
            <a:endParaRPr lang="en-US" dirty="0"/>
          </a:p>
        </p:txBody>
      </p:sp>
      <p:cxnSp>
        <p:nvCxnSpPr>
          <p:cNvPr id="13" name="Elbow Connector 12"/>
          <p:cNvCxnSpPr>
            <a:stCxn id="4" idx="2"/>
            <a:endCxn id="5" idx="1"/>
          </p:cNvCxnSpPr>
          <p:nvPr/>
        </p:nvCxnSpPr>
        <p:spPr>
          <a:xfrm rot="16200000" flipH="1">
            <a:off x="2895146" y="976765"/>
            <a:ext cx="1062039" cy="29947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4" idx="2"/>
            <a:endCxn id="6" idx="1"/>
          </p:cNvCxnSpPr>
          <p:nvPr/>
        </p:nvCxnSpPr>
        <p:spPr>
          <a:xfrm rot="16200000" flipH="1">
            <a:off x="2019300" y="1852612"/>
            <a:ext cx="2795589" cy="29765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010681" y="2543472"/>
            <a:ext cx="1217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 smtClean="0">
                <a:solidFill>
                  <a:srgbClr val="FF0000"/>
                </a:solidFill>
              </a:rPr>
              <a:t>findAll</a:t>
            </a:r>
            <a:r>
              <a:rPr lang="en-US" sz="2400" b="1" dirty="0" smtClean="0">
                <a:solidFill>
                  <a:srgbClr val="FF0000"/>
                </a:solidFill>
              </a:rPr>
              <a:t>()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10681" y="4295033"/>
            <a:ext cx="25011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 smtClean="0">
                <a:solidFill>
                  <a:srgbClr val="FF0000"/>
                </a:solidFill>
              </a:rPr>
              <a:t>findById</a:t>
            </a:r>
            <a:r>
              <a:rPr lang="en-US" sz="2400" b="1" dirty="0" smtClean="0">
                <a:solidFill>
                  <a:srgbClr val="FF0000"/>
                </a:solidFill>
              </a:rPr>
              <a:t>(String id)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4423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52524"/>
            <a:ext cx="2486025" cy="790575"/>
          </a:xfrm>
          <a:prstGeom prst="rect">
            <a:avLst/>
          </a:prstGeom>
        </p:spPr>
      </p:pic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CategoryRestController</a:t>
            </a:r>
            <a:r>
              <a:rPr lang="en-US" dirty="0" smtClean="0"/>
              <a:t> Implementation</a:t>
            </a:r>
            <a:endParaRPr lang="en-US" dirty="0"/>
          </a:p>
        </p:txBody>
      </p:sp>
      <p:cxnSp>
        <p:nvCxnSpPr>
          <p:cNvPr id="13" name="Elbow Connector 12"/>
          <p:cNvCxnSpPr>
            <a:stCxn id="4" idx="2"/>
            <a:endCxn id="11" idx="1"/>
          </p:cNvCxnSpPr>
          <p:nvPr/>
        </p:nvCxnSpPr>
        <p:spPr>
          <a:xfrm rot="5400000" flipH="1" flipV="1">
            <a:off x="3783806" y="11906"/>
            <a:ext cx="76199" cy="3786187"/>
          </a:xfrm>
          <a:prstGeom prst="bentConnector4">
            <a:avLst>
              <a:gd name="adj1" fmla="val -300004"/>
              <a:gd name="adj2" fmla="val 6641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4" idx="2"/>
            <a:endCxn id="12" idx="1"/>
          </p:cNvCxnSpPr>
          <p:nvPr/>
        </p:nvCxnSpPr>
        <p:spPr>
          <a:xfrm rot="16200000" flipH="1">
            <a:off x="2859879" y="1012032"/>
            <a:ext cx="1924054" cy="37861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928812" y="2258094"/>
            <a:ext cx="32389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post(Category category)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48373" y="5858880"/>
            <a:ext cx="22434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delete(String id)</a:t>
            </a:r>
            <a:endParaRPr lang="en-US" sz="2400" b="1" dirty="0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914400"/>
            <a:ext cx="5867400" cy="1905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928940"/>
            <a:ext cx="5600700" cy="18764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4914903"/>
            <a:ext cx="5600700" cy="18669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8" name="Elbow Connector 7"/>
          <p:cNvCxnSpPr>
            <a:stCxn id="4" idx="2"/>
            <a:endCxn id="14" idx="1"/>
          </p:cNvCxnSpPr>
          <p:nvPr/>
        </p:nvCxnSpPr>
        <p:spPr>
          <a:xfrm rot="16200000" flipH="1">
            <a:off x="1869279" y="2002632"/>
            <a:ext cx="3905254" cy="37861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928812" y="3891872"/>
            <a:ext cx="35084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put(String id, 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	</a:t>
            </a:r>
            <a:r>
              <a:rPr lang="en-US" sz="2400" b="1" dirty="0" smtClean="0">
                <a:solidFill>
                  <a:srgbClr val="FF0000"/>
                </a:solidFill>
              </a:rPr>
              <a:t>Category category)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527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9231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19557" y="2967335"/>
            <a:ext cx="7132017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48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Import Excel using REST API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70" y="1143000"/>
            <a:ext cx="2543530" cy="37819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357031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Excel File Concepts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14400"/>
            <a:ext cx="10972800" cy="5627366"/>
          </a:xfrm>
          <a:prstGeom prst="rect">
            <a:avLst/>
          </a:prstGeom>
        </p:spPr>
      </p:pic>
      <p:sp>
        <p:nvSpPr>
          <p:cNvPr id="7" name="Line Callout 1 6"/>
          <p:cNvSpPr/>
          <p:nvPr/>
        </p:nvSpPr>
        <p:spPr>
          <a:xfrm>
            <a:off x="3048000" y="5334000"/>
            <a:ext cx="2057400" cy="612648"/>
          </a:xfrm>
          <a:prstGeom prst="borderCallout1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Sheet Name</a:t>
            </a:r>
            <a:endParaRPr lang="en-US" sz="2400" b="1" dirty="0"/>
          </a:p>
        </p:txBody>
      </p:sp>
      <p:sp>
        <p:nvSpPr>
          <p:cNvPr id="10" name="Rectangle 9"/>
          <p:cNvSpPr/>
          <p:nvPr/>
        </p:nvSpPr>
        <p:spPr>
          <a:xfrm>
            <a:off x="609600" y="4268724"/>
            <a:ext cx="10668000" cy="608076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ine Callout 1 7"/>
          <p:cNvSpPr/>
          <p:nvPr/>
        </p:nvSpPr>
        <p:spPr>
          <a:xfrm>
            <a:off x="1676400" y="3735324"/>
            <a:ext cx="2057400" cy="612648"/>
          </a:xfrm>
          <a:prstGeom prst="borderCallout1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Row Number</a:t>
            </a:r>
            <a:endParaRPr lang="en-US" sz="2400" b="1" dirty="0"/>
          </a:p>
        </p:txBody>
      </p:sp>
      <p:sp>
        <p:nvSpPr>
          <p:cNvPr id="11" name="Rectangle 10"/>
          <p:cNvSpPr/>
          <p:nvPr/>
        </p:nvSpPr>
        <p:spPr>
          <a:xfrm>
            <a:off x="5867400" y="3089910"/>
            <a:ext cx="3886200" cy="608076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ine Callout 1 8"/>
          <p:cNvSpPr/>
          <p:nvPr/>
        </p:nvSpPr>
        <p:spPr>
          <a:xfrm>
            <a:off x="8610600" y="2534448"/>
            <a:ext cx="2057400" cy="612648"/>
          </a:xfrm>
          <a:prstGeom prst="borderCallout1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Cell Value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44659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8" grpId="0" animBg="1"/>
      <p:bldP spid="11" grpId="0" animBg="1"/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FileReader</a:t>
            </a:r>
            <a:r>
              <a:rPr lang="en-US" dirty="0" smtClean="0"/>
              <a:t> &amp; </a:t>
            </a:r>
            <a:r>
              <a:rPr lang="en-US" dirty="0" err="1" smtClean="0"/>
              <a:t>ExcelJS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715000"/>
          </a:xfrm>
        </p:spPr>
        <p:txBody>
          <a:bodyPr/>
          <a:lstStyle/>
          <a:p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 smtClean="0"/>
              <a:t>Đọc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file excel, </a:t>
            </a:r>
            <a:r>
              <a:rPr lang="en-US" dirty="0" err="1" smtClean="0"/>
              <a:t>mỗi</a:t>
            </a:r>
            <a:r>
              <a:rPr lang="en-US" dirty="0" smtClean="0"/>
              <a:t> row </a:t>
            </a:r>
            <a:r>
              <a:rPr lang="en-US" dirty="0" err="1" smtClean="0"/>
              <a:t>chuyển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tượng</a:t>
            </a:r>
            <a:r>
              <a:rPr lang="en-US" dirty="0" smtClean="0"/>
              <a:t> JSON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gửi</a:t>
            </a:r>
            <a:r>
              <a:rPr lang="en-US" dirty="0" smtClean="0"/>
              <a:t> </a:t>
            </a:r>
            <a:r>
              <a:rPr lang="en-US" dirty="0" err="1" smtClean="0"/>
              <a:t>lên</a:t>
            </a:r>
            <a:r>
              <a:rPr lang="en-US" dirty="0" smtClean="0"/>
              <a:t> server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lưu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CSDL</a:t>
            </a:r>
          </a:p>
          <a:p>
            <a:r>
              <a:rPr lang="en-US" dirty="0" smtClean="0"/>
              <a:t>API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thư</a:t>
            </a:r>
            <a:r>
              <a:rPr lang="en-US" dirty="0" smtClean="0"/>
              <a:t> </a:t>
            </a:r>
            <a:r>
              <a:rPr lang="en-US" dirty="0" err="1" smtClean="0"/>
              <a:t>viện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endParaRPr lang="en-US" dirty="0" smtClean="0"/>
          </a:p>
          <a:p>
            <a:pPr lvl="1"/>
            <a:r>
              <a:rPr lang="en-US" b="1" dirty="0" err="1" smtClean="0"/>
              <a:t>FileReader</a:t>
            </a:r>
            <a:r>
              <a:rPr lang="en-US" dirty="0" smtClean="0"/>
              <a:t> API: </a:t>
            </a:r>
            <a:r>
              <a:rPr lang="en-US" dirty="0" err="1" smtClean="0"/>
              <a:t>đọc</a:t>
            </a:r>
            <a:r>
              <a:rPr lang="en-US" dirty="0" smtClean="0"/>
              <a:t> file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trường</a:t>
            </a:r>
            <a:r>
              <a:rPr lang="en-US" dirty="0" smtClean="0"/>
              <a:t> file</a:t>
            </a:r>
          </a:p>
          <a:p>
            <a:pPr lvl="1"/>
            <a:r>
              <a:rPr lang="en-US" dirty="0" err="1" smtClean="0"/>
              <a:t>Thư</a:t>
            </a:r>
            <a:r>
              <a:rPr lang="en-US" dirty="0" smtClean="0"/>
              <a:t> </a:t>
            </a:r>
            <a:r>
              <a:rPr lang="en-US" dirty="0" err="1" smtClean="0"/>
              <a:t>viện</a:t>
            </a:r>
            <a:r>
              <a:rPr lang="en-US" dirty="0" smtClean="0"/>
              <a:t> </a:t>
            </a:r>
            <a:r>
              <a:rPr lang="en-US" b="1" dirty="0" err="1" smtClean="0"/>
              <a:t>ExcelJS</a:t>
            </a:r>
            <a:r>
              <a:rPr lang="en-US" dirty="0" smtClean="0"/>
              <a:t>: </a:t>
            </a:r>
            <a:r>
              <a:rPr lang="en-US" dirty="0" err="1" smtClean="0"/>
              <a:t>Xử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excel </a:t>
            </a:r>
            <a:r>
              <a:rPr lang="en-US" dirty="0" err="1" smtClean="0"/>
              <a:t>của</a:t>
            </a:r>
            <a:r>
              <a:rPr lang="en-US" dirty="0" smtClean="0"/>
              <a:t> file</a:t>
            </a:r>
          </a:p>
          <a:p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b="1" dirty="0" err="1" smtClean="0"/>
              <a:t>ExcelJS</a:t>
            </a:r>
            <a:endParaRPr lang="en-US" b="1" dirty="0"/>
          </a:p>
          <a:p>
            <a:pPr lvl="1"/>
            <a:r>
              <a:rPr lang="en-US" b="1" dirty="0"/>
              <a:t>Workbook</a:t>
            </a:r>
            <a:r>
              <a:rPr lang="en-US" dirty="0"/>
              <a:t>: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sheet </a:t>
            </a:r>
            <a:r>
              <a:rPr lang="en-US" dirty="0" err="1"/>
              <a:t>trong</a:t>
            </a:r>
            <a:r>
              <a:rPr lang="en-US" dirty="0"/>
              <a:t> file excel</a:t>
            </a:r>
          </a:p>
          <a:p>
            <a:pPr lvl="1"/>
            <a:r>
              <a:rPr lang="en-US" b="1" dirty="0"/>
              <a:t>Worksheet</a:t>
            </a:r>
            <a:r>
              <a:rPr lang="en-US" dirty="0"/>
              <a:t>: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hang (row)</a:t>
            </a:r>
          </a:p>
          <a:p>
            <a:pPr lvl="1"/>
            <a:r>
              <a:rPr lang="en-US" b="1" dirty="0"/>
              <a:t>Row</a:t>
            </a:r>
            <a:r>
              <a:rPr lang="en-US" dirty="0"/>
              <a:t>: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ô (cell)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ngang</a:t>
            </a:r>
            <a:endParaRPr lang="en-US" dirty="0"/>
          </a:p>
          <a:p>
            <a:pPr lvl="1"/>
            <a:r>
              <a:rPr lang="en-US" b="1" dirty="0"/>
              <a:t>Column</a:t>
            </a:r>
            <a:r>
              <a:rPr lang="en-US" dirty="0"/>
              <a:t>: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ô (cell)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đứng</a:t>
            </a:r>
            <a:endParaRPr lang="en-US" dirty="0"/>
          </a:p>
          <a:p>
            <a:pPr lvl="1"/>
            <a:r>
              <a:rPr lang="en-US" b="1" dirty="0"/>
              <a:t>Cell</a:t>
            </a:r>
            <a:r>
              <a:rPr lang="en-US" dirty="0"/>
              <a:t>: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 smtClean="0"/>
              <a:t>liệu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818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FileReader</a:t>
            </a:r>
            <a:r>
              <a:rPr lang="en-US" dirty="0" smtClean="0"/>
              <a:t> API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5441094"/>
            <a:ext cx="10972800" cy="1188306"/>
          </a:xfrm>
        </p:spPr>
        <p:txBody>
          <a:bodyPr/>
          <a:lstStyle/>
          <a:p>
            <a:r>
              <a:rPr lang="en-US" dirty="0" err="1" smtClean="0"/>
              <a:t>FileReader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JS </a:t>
            </a:r>
            <a:r>
              <a:rPr lang="en-US" dirty="0" err="1" smtClean="0"/>
              <a:t>cung</a:t>
            </a:r>
            <a:r>
              <a:rPr lang="en-US" dirty="0" smtClean="0"/>
              <a:t> </a:t>
            </a:r>
            <a:r>
              <a:rPr lang="en-US" dirty="0" err="1" smtClean="0"/>
              <a:t>cấp</a:t>
            </a:r>
            <a:r>
              <a:rPr lang="en-US" dirty="0" smtClean="0"/>
              <a:t> </a:t>
            </a:r>
            <a:r>
              <a:rPr lang="en-US" smtClean="0"/>
              <a:t>sẵn</a:t>
            </a:r>
            <a:r>
              <a:rPr lang="en-US" dirty="0" smtClean="0"/>
              <a:t>,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đọc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file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trường</a:t>
            </a:r>
            <a:r>
              <a:rPr lang="en-US" dirty="0" smtClean="0"/>
              <a:t> file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xử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ngay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duyệt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99565"/>
            <a:ext cx="10972800" cy="420396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Line Callout 1 5"/>
          <p:cNvSpPr/>
          <p:nvPr/>
        </p:nvSpPr>
        <p:spPr>
          <a:xfrm>
            <a:off x="7772400" y="3810000"/>
            <a:ext cx="2895600" cy="841248"/>
          </a:xfrm>
          <a:prstGeom prst="borderCallout1">
            <a:avLst>
              <a:gd name="adj1" fmla="val 29102"/>
              <a:gd name="adj2" fmla="val -4323"/>
              <a:gd name="adj3" fmla="val 100423"/>
              <a:gd name="adj4" fmla="val -23296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&lt;input type=“file”&gt;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17780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ExcelJS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10972800" cy="1219200"/>
          </a:xfrm>
        </p:spPr>
        <p:txBody>
          <a:bodyPr>
            <a:normAutofit/>
          </a:bodyPr>
          <a:lstStyle/>
          <a:p>
            <a:r>
              <a:rPr lang="en-US" dirty="0" err="1" smtClean="0"/>
              <a:t>ExcelJS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thư</a:t>
            </a:r>
            <a:r>
              <a:rPr lang="en-US" dirty="0" smtClean="0"/>
              <a:t> </a:t>
            </a:r>
            <a:r>
              <a:rPr lang="en-US" dirty="0" err="1" smtClean="0"/>
              <a:t>viện</a:t>
            </a:r>
            <a:r>
              <a:rPr lang="en-US" dirty="0" smtClean="0"/>
              <a:t> JS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xử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file excel</a:t>
            </a:r>
          </a:p>
          <a:p>
            <a:r>
              <a:rPr lang="en-US" dirty="0" smtClean="0"/>
              <a:t>https://cdnjs.cloudflare.com/ajax/libs/exceljs/4.2.0/exceljs.min.js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133600"/>
            <a:ext cx="10515600" cy="435744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5-Point Star 6"/>
          <p:cNvSpPr/>
          <p:nvPr/>
        </p:nvSpPr>
        <p:spPr>
          <a:xfrm>
            <a:off x="457200" y="2104571"/>
            <a:ext cx="533400" cy="533400"/>
          </a:xfrm>
          <a:prstGeom prst="star5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5-Point Star 7"/>
          <p:cNvSpPr/>
          <p:nvPr/>
        </p:nvSpPr>
        <p:spPr>
          <a:xfrm>
            <a:off x="457200" y="3171371"/>
            <a:ext cx="533400" cy="533400"/>
          </a:xfrm>
          <a:prstGeom prst="star5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5-Point Star 8"/>
          <p:cNvSpPr/>
          <p:nvPr/>
        </p:nvSpPr>
        <p:spPr>
          <a:xfrm>
            <a:off x="457200" y="4238171"/>
            <a:ext cx="533400" cy="533400"/>
          </a:xfrm>
          <a:prstGeom prst="star5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5-Point Star 9"/>
          <p:cNvSpPr/>
          <p:nvPr/>
        </p:nvSpPr>
        <p:spPr>
          <a:xfrm>
            <a:off x="457200" y="5304971"/>
            <a:ext cx="533400" cy="533400"/>
          </a:xfrm>
          <a:prstGeom prst="star5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ine Callout 1 10"/>
          <p:cNvSpPr/>
          <p:nvPr/>
        </p:nvSpPr>
        <p:spPr>
          <a:xfrm>
            <a:off x="8700247" y="5181600"/>
            <a:ext cx="2895600" cy="519953"/>
          </a:xfrm>
          <a:prstGeom prst="borderCallout1">
            <a:avLst>
              <a:gd name="adj1" fmla="val 109274"/>
              <a:gd name="adj2" fmla="val 19361"/>
              <a:gd name="adj3" fmla="val 141802"/>
              <a:gd name="adj4" fmla="val 9212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err="1" smtClean="0"/>
              <a:t>Xử</a:t>
            </a:r>
            <a:r>
              <a:rPr lang="en-US" sz="2400" dirty="0" smtClean="0"/>
              <a:t> </a:t>
            </a:r>
            <a:r>
              <a:rPr lang="en-US" sz="2400" dirty="0" err="1" smtClean="0"/>
              <a:t>lý</a:t>
            </a:r>
            <a:r>
              <a:rPr lang="en-US" sz="2400" dirty="0" smtClean="0"/>
              <a:t> </a:t>
            </a:r>
            <a:r>
              <a:rPr lang="en-US" sz="2400" dirty="0" err="1" smtClean="0"/>
              <a:t>dữ</a:t>
            </a:r>
            <a:r>
              <a:rPr lang="en-US" sz="2400" dirty="0" smtClean="0"/>
              <a:t> </a:t>
            </a:r>
            <a:r>
              <a:rPr lang="en-US" sz="2400" dirty="0" err="1" smtClean="0"/>
              <a:t>liệu</a:t>
            </a:r>
            <a:r>
              <a:rPr lang="en-US" sz="2400" dirty="0" smtClean="0"/>
              <a:t> </a:t>
            </a:r>
            <a:r>
              <a:rPr lang="en-US" sz="2400" dirty="0" err="1" smtClean="0"/>
              <a:t>mỗi</a:t>
            </a:r>
            <a:r>
              <a:rPr lang="en-US" sz="2400" dirty="0" smtClean="0"/>
              <a:t> row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01114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 data from cells of a row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14400"/>
            <a:ext cx="6934200" cy="489835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102" y="5126958"/>
            <a:ext cx="10009298" cy="135004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78515" y="1524000"/>
            <a:ext cx="2954655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i="1" dirty="0" err="1" smtClean="0">
                <a:solidFill>
                  <a:srgbClr val="FF0000"/>
                </a:solidFill>
              </a:rPr>
              <a:t>Loại</a:t>
            </a:r>
            <a:r>
              <a:rPr lang="en-US" sz="2400" b="1" i="1" dirty="0" smtClean="0">
                <a:solidFill>
                  <a:srgbClr val="FF0000"/>
                </a:solidFill>
              </a:rPr>
              <a:t> </a:t>
            </a:r>
            <a:r>
              <a:rPr lang="en-US" sz="2400" b="1" i="1" dirty="0" err="1" smtClean="0">
                <a:solidFill>
                  <a:srgbClr val="FF0000"/>
                </a:solidFill>
              </a:rPr>
              <a:t>bỏ</a:t>
            </a:r>
            <a:r>
              <a:rPr lang="en-US" sz="2400" b="1" i="1" dirty="0" smtClean="0">
                <a:solidFill>
                  <a:srgbClr val="FF0000"/>
                </a:solidFill>
              </a:rPr>
              <a:t> hang </a:t>
            </a:r>
            <a:r>
              <a:rPr lang="en-US" sz="2400" b="1" i="1" dirty="0" err="1" smtClean="0">
                <a:solidFill>
                  <a:srgbClr val="FF0000"/>
                </a:solidFill>
              </a:rPr>
              <a:t>đầu</a:t>
            </a:r>
            <a:r>
              <a:rPr lang="en-US" sz="2400" b="1" i="1" dirty="0" smtClean="0">
                <a:solidFill>
                  <a:srgbClr val="FF0000"/>
                </a:solidFill>
              </a:rPr>
              <a:t> </a:t>
            </a:r>
            <a:r>
              <a:rPr lang="en-US" sz="2400" b="1" i="1" dirty="0" err="1" smtClean="0">
                <a:solidFill>
                  <a:srgbClr val="FF0000"/>
                </a:solidFill>
              </a:rPr>
              <a:t>tiên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cxnSp>
        <p:nvCxnSpPr>
          <p:cNvPr id="14" name="Straight Arrow Connector 13"/>
          <p:cNvCxnSpPr>
            <a:stCxn id="12" idx="1"/>
          </p:cNvCxnSpPr>
          <p:nvPr/>
        </p:nvCxnSpPr>
        <p:spPr>
          <a:xfrm flipH="1" flipV="1">
            <a:off x="3505200" y="1754832"/>
            <a:ext cx="457331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2" idx="2"/>
          </p:cNvCxnSpPr>
          <p:nvPr/>
        </p:nvCxnSpPr>
        <p:spPr>
          <a:xfrm flipH="1">
            <a:off x="9555842" y="1985665"/>
            <a:ext cx="1" cy="35769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2200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9204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19557" y="2967335"/>
            <a:ext cx="6819559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48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Upload and Download File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70" y="1143000"/>
            <a:ext cx="2543530" cy="37819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39767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Up/Down File App Model</a:t>
            </a:r>
            <a:endParaRPr lang="en-US" dirty="0"/>
          </a:p>
        </p:txBody>
      </p:sp>
      <p:sp>
        <p:nvSpPr>
          <p:cNvPr id="23" name="Content Placeholder 22"/>
          <p:cNvSpPr>
            <a:spLocks noGrp="1"/>
          </p:cNvSpPr>
          <p:nvPr>
            <p:ph idx="1"/>
          </p:nvPr>
        </p:nvSpPr>
        <p:spPr>
          <a:xfrm>
            <a:off x="609600" y="2871216"/>
            <a:ext cx="6681189" cy="2615184"/>
          </a:xfrm>
        </p:spPr>
        <p:txBody>
          <a:bodyPr/>
          <a:lstStyle/>
          <a:p>
            <a:r>
              <a:rPr lang="en-US" dirty="0" smtClean="0"/>
              <a:t>Upload File (POST)</a:t>
            </a:r>
          </a:p>
          <a:p>
            <a:pPr lvl="1"/>
            <a:r>
              <a:rPr lang="en-US" dirty="0" err="1" smtClean="0"/>
              <a:t>Đưa</a:t>
            </a:r>
            <a:r>
              <a:rPr lang="en-US" dirty="0" smtClean="0"/>
              <a:t> file </a:t>
            </a:r>
            <a:r>
              <a:rPr lang="en-US" dirty="0" err="1" smtClean="0"/>
              <a:t>lên</a:t>
            </a:r>
            <a:r>
              <a:rPr lang="en-US" dirty="0" smtClean="0"/>
              <a:t> server</a:t>
            </a:r>
          </a:p>
          <a:p>
            <a:r>
              <a:rPr lang="en-US" dirty="0" smtClean="0"/>
              <a:t>Download File (GET)</a:t>
            </a:r>
          </a:p>
          <a:p>
            <a:pPr lvl="1"/>
            <a:r>
              <a:rPr lang="en-US" dirty="0" err="1" smtClean="0"/>
              <a:t>Tải</a:t>
            </a:r>
            <a:r>
              <a:rPr lang="en-US" dirty="0" smtClean="0"/>
              <a:t> file </a:t>
            </a:r>
            <a:r>
              <a:rPr lang="en-US" dirty="0" err="1" smtClean="0"/>
              <a:t>từ</a:t>
            </a:r>
            <a:r>
              <a:rPr lang="en-US" dirty="0" smtClean="0"/>
              <a:t> server </a:t>
            </a:r>
            <a:r>
              <a:rPr lang="en-US" dirty="0" err="1" smtClean="0"/>
              <a:t>về</a:t>
            </a:r>
            <a:r>
              <a:rPr lang="en-US" dirty="0" smtClean="0"/>
              <a:t> client (</a:t>
            </a:r>
            <a:r>
              <a:rPr lang="en-US" dirty="0" err="1" smtClean="0"/>
              <a:t>lưu</a:t>
            </a:r>
            <a:r>
              <a:rPr lang="en-US" dirty="0" smtClean="0"/>
              <a:t>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/>
              <a:t>hiển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)</a:t>
            </a:r>
          </a:p>
        </p:txBody>
      </p:sp>
      <p:sp>
        <p:nvSpPr>
          <p:cNvPr id="6" name="Flowchart: Magnetic Disk 5"/>
          <p:cNvSpPr/>
          <p:nvPr/>
        </p:nvSpPr>
        <p:spPr>
          <a:xfrm>
            <a:off x="8314926" y="5638800"/>
            <a:ext cx="2048274" cy="917448"/>
          </a:xfrm>
          <a:prstGeom prst="flowChartMagneticDisk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Folder</a:t>
            </a:r>
            <a:endParaRPr lang="en-US" sz="2400" dirty="0"/>
          </a:p>
        </p:txBody>
      </p:sp>
      <p:sp>
        <p:nvSpPr>
          <p:cNvPr id="7" name="Frame 6"/>
          <p:cNvSpPr/>
          <p:nvPr/>
        </p:nvSpPr>
        <p:spPr>
          <a:xfrm>
            <a:off x="7315200" y="3429000"/>
            <a:ext cx="4047308" cy="1676400"/>
          </a:xfrm>
          <a:prstGeom prst="fram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 smtClean="0">
                <a:solidFill>
                  <a:schemeClr val="tx1"/>
                </a:solidFill>
              </a:rPr>
              <a:t>FileManagerService</a:t>
            </a:r>
            <a:endParaRPr lang="en-US" sz="2400" dirty="0" smtClean="0">
              <a:solidFill>
                <a:schemeClr val="tx1"/>
              </a:solidFill>
            </a:endParaRPr>
          </a:p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Read()</a:t>
            </a:r>
          </a:p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Save()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8" name="Flowchart: Internal Storage 7"/>
          <p:cNvSpPr/>
          <p:nvPr/>
        </p:nvSpPr>
        <p:spPr>
          <a:xfrm>
            <a:off x="7315200" y="1295400"/>
            <a:ext cx="4047308" cy="1600200"/>
          </a:xfrm>
          <a:prstGeom prst="flowChartInternalStorag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 smtClean="0"/>
              <a:t>FileManagerRestController</a:t>
            </a:r>
            <a:endParaRPr lang="en-US" sz="2400" dirty="0" smtClean="0"/>
          </a:p>
          <a:p>
            <a:pPr algn="ctr"/>
            <a:r>
              <a:rPr lang="en-US" sz="2400" dirty="0" smtClean="0"/>
              <a:t>@</a:t>
            </a:r>
            <a:r>
              <a:rPr lang="en-US" sz="2400" dirty="0" err="1" smtClean="0"/>
              <a:t>PostMapping</a:t>
            </a:r>
            <a:r>
              <a:rPr lang="en-US" sz="2400" dirty="0" smtClean="0"/>
              <a:t>()</a:t>
            </a:r>
          </a:p>
          <a:p>
            <a:pPr algn="ctr"/>
            <a:r>
              <a:rPr lang="en-US" sz="2400" dirty="0" smtClean="0"/>
              <a:t>@</a:t>
            </a:r>
            <a:r>
              <a:rPr lang="en-US" sz="2400" dirty="0" err="1" smtClean="0"/>
              <a:t>GetMapping</a:t>
            </a:r>
            <a:r>
              <a:rPr lang="en-US" sz="2400" dirty="0" smtClean="0"/>
              <a:t>()</a:t>
            </a:r>
            <a:endParaRPr lang="en-US" sz="2400" dirty="0"/>
          </a:p>
        </p:txBody>
      </p:sp>
      <p:sp>
        <p:nvSpPr>
          <p:cNvPr id="9" name="Bevel 8"/>
          <p:cNvSpPr/>
          <p:nvPr/>
        </p:nvSpPr>
        <p:spPr>
          <a:xfrm>
            <a:off x="685800" y="1574292"/>
            <a:ext cx="2743200" cy="1042416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Rest Consumer</a:t>
            </a:r>
            <a:endParaRPr lang="en-US" sz="2400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3429000" y="1828800"/>
            <a:ext cx="381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7" idx="2"/>
            <a:endCxn id="6" idx="1"/>
          </p:cNvCxnSpPr>
          <p:nvPr/>
        </p:nvCxnSpPr>
        <p:spPr>
          <a:xfrm>
            <a:off x="9338854" y="5105400"/>
            <a:ext cx="209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8" idx="2"/>
            <a:endCxn id="7" idx="0"/>
          </p:cNvCxnSpPr>
          <p:nvPr/>
        </p:nvCxnSpPr>
        <p:spPr>
          <a:xfrm>
            <a:off x="9338854" y="2895600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510532" y="1371600"/>
            <a:ext cx="20479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POST: /</a:t>
            </a:r>
            <a:r>
              <a:rPr lang="en-US" sz="2400" b="1" dirty="0" err="1" smtClean="0"/>
              <a:t>api</a:t>
            </a:r>
            <a:r>
              <a:rPr lang="en-US" sz="2400" b="1" dirty="0" smtClean="0"/>
              <a:t>/file</a:t>
            </a:r>
            <a:endParaRPr lang="en-US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3509682" y="1939070"/>
            <a:ext cx="2947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GET: /</a:t>
            </a:r>
            <a:r>
              <a:rPr lang="en-US" sz="2400" b="1" dirty="0" err="1" smtClean="0"/>
              <a:t>api</a:t>
            </a:r>
            <a:r>
              <a:rPr lang="en-US" sz="2400" b="1" dirty="0" smtClean="0"/>
              <a:t>/file/{name}</a:t>
            </a:r>
            <a:endParaRPr lang="en-US" sz="2400" b="1" dirty="0"/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3429000" y="2362199"/>
            <a:ext cx="381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936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uiExpand="1" build="p"/>
      <p:bldP spid="6" grpId="0" animBg="1"/>
      <p:bldP spid="7" grpId="0" animBg="1"/>
      <p:bldP spid="8" grpId="0" animBg="1"/>
      <p:bldP spid="9" grpId="0" animBg="1"/>
      <p:bldP spid="18" grpId="0"/>
      <p:bldP spid="1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FileManagerRestController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05025"/>
            <a:ext cx="10972800" cy="42195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971" y="990600"/>
            <a:ext cx="6170619" cy="2590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4" name="Straight Arrow Connector 3"/>
          <p:cNvCxnSpPr>
            <a:endCxn id="6" idx="1"/>
          </p:cNvCxnSpPr>
          <p:nvPr/>
        </p:nvCxnSpPr>
        <p:spPr>
          <a:xfrm flipV="1">
            <a:off x="3352800" y="2286000"/>
            <a:ext cx="2055171" cy="990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9841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FileManagerService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609600" y="3200400"/>
            <a:ext cx="4800600" cy="2362200"/>
          </a:xfrm>
        </p:spPr>
        <p:txBody>
          <a:bodyPr/>
          <a:lstStyle/>
          <a:p>
            <a:pPr marL="0" indent="0">
              <a:buNone/>
            </a:pP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ServletContext.</a:t>
            </a:r>
            <a:r>
              <a:rPr lang="en-US" b="1" i="1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getRealPath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()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chuyển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đường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dẫn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ảo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đường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dẫn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tính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từ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gốc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website) sang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đường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dẫn</a:t>
            </a:r>
            <a:r>
              <a:rPr lang="en-US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i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endParaRPr lang="en-US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90600"/>
            <a:ext cx="7343775" cy="19812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025" y="2724150"/>
            <a:ext cx="6048375" cy="390525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647399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FileManagerRestController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09600" y="5356356"/>
            <a:ext cx="10972800" cy="1196844"/>
          </a:xfrm>
        </p:spPr>
        <p:txBody>
          <a:bodyPr/>
          <a:lstStyle/>
          <a:p>
            <a:r>
              <a:rPr lang="en-US" dirty="0" err="1" smtClean="0"/>
              <a:t>HttpHeader</a:t>
            </a:r>
            <a:r>
              <a:rPr lang="en-US" dirty="0" smtClean="0"/>
              <a:t>: </a:t>
            </a:r>
            <a:r>
              <a:rPr lang="en-US" b="1" dirty="0" smtClean="0">
                <a:solidFill>
                  <a:srgbClr val="0000FF"/>
                </a:solidFill>
              </a:rPr>
              <a:t>Content-Disposition</a:t>
            </a:r>
          </a:p>
          <a:p>
            <a:pPr lvl="1"/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lập</a:t>
            </a:r>
            <a:r>
              <a:rPr lang="en-US" dirty="0" smtClean="0"/>
              <a:t> </a:t>
            </a:r>
            <a:r>
              <a:rPr lang="en-US" dirty="0" err="1" smtClean="0"/>
              <a:t>tên</a:t>
            </a:r>
            <a:r>
              <a:rPr lang="en-US" dirty="0" smtClean="0"/>
              <a:t> file </a:t>
            </a:r>
            <a:r>
              <a:rPr lang="en-US" dirty="0" err="1" smtClean="0"/>
              <a:t>lúc</a:t>
            </a:r>
            <a:r>
              <a:rPr lang="en-US" dirty="0" smtClean="0"/>
              <a:t> </a:t>
            </a:r>
            <a:r>
              <a:rPr lang="en-US" dirty="0" err="1" smtClean="0"/>
              <a:t>tải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90600"/>
            <a:ext cx="10896600" cy="4137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483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ded Corner 3"/>
          <p:cNvSpPr/>
          <p:nvPr/>
        </p:nvSpPr>
        <p:spPr>
          <a:xfrm>
            <a:off x="609600" y="1447800"/>
            <a:ext cx="5157651" cy="4495800"/>
          </a:xfrm>
          <a:prstGeom prst="foldedCorner">
            <a:avLst>
              <a:gd name="adj" fmla="val 5696"/>
            </a:avLst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</a:rPr>
              <a:t>var</a:t>
            </a:r>
            <a:r>
              <a:rPr lang="en-US" sz="2400" dirty="0">
                <a:solidFill>
                  <a:schemeClr val="tx1"/>
                </a:solidFill>
              </a:rPr>
              <a:t> form = new </a:t>
            </a:r>
            <a:r>
              <a:rPr lang="en-US" sz="2400" b="1" dirty="0" err="1">
                <a:solidFill>
                  <a:srgbClr val="FF0000"/>
                </a:solidFill>
              </a:rPr>
              <a:t>FormData</a:t>
            </a:r>
            <a:r>
              <a:rPr lang="en-US" sz="2400" dirty="0" smtClean="0">
                <a:solidFill>
                  <a:schemeClr val="tx1"/>
                </a:solidFill>
              </a:rPr>
              <a:t>();</a:t>
            </a:r>
          </a:p>
          <a:p>
            <a:r>
              <a:rPr lang="en-US" sz="2400" dirty="0" err="1">
                <a:solidFill>
                  <a:schemeClr val="tx1"/>
                </a:solidFill>
              </a:rPr>
              <a:t>form.append</a:t>
            </a:r>
            <a:r>
              <a:rPr lang="en-US" sz="2400" dirty="0">
                <a:solidFill>
                  <a:schemeClr val="tx1"/>
                </a:solidFill>
              </a:rPr>
              <a:t>("files", </a:t>
            </a:r>
            <a:r>
              <a:rPr lang="en-US" sz="2400" dirty="0" smtClean="0">
                <a:solidFill>
                  <a:schemeClr val="tx1"/>
                </a:solidFill>
              </a:rPr>
              <a:t>files[</a:t>
            </a:r>
            <a:r>
              <a:rPr lang="en-US" sz="2400" dirty="0">
                <a:solidFill>
                  <a:schemeClr val="tx1"/>
                </a:solidFill>
              </a:rPr>
              <a:t>0</a:t>
            </a:r>
            <a:r>
              <a:rPr lang="en-US" sz="2400" dirty="0" smtClean="0">
                <a:solidFill>
                  <a:schemeClr val="tx1"/>
                </a:solidFill>
              </a:rPr>
              <a:t>]);</a:t>
            </a:r>
            <a:endParaRPr lang="en-US" sz="2400" dirty="0">
              <a:solidFill>
                <a:schemeClr val="tx1"/>
              </a:solidFill>
            </a:endParaRPr>
          </a:p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b="1" dirty="0">
                <a:solidFill>
                  <a:schemeClr val="tx1"/>
                </a:solidFill>
              </a:rPr>
              <a:t>$</a:t>
            </a:r>
            <a:r>
              <a:rPr lang="en-US" sz="2400" b="1" dirty="0" err="1">
                <a:solidFill>
                  <a:schemeClr val="tx1"/>
                </a:solidFill>
              </a:rPr>
              <a:t>http</a:t>
            </a:r>
            <a:r>
              <a:rPr lang="en-US" sz="2400" dirty="0" err="1">
                <a:solidFill>
                  <a:schemeClr val="tx1"/>
                </a:solidFill>
              </a:rPr>
              <a:t>.</a:t>
            </a:r>
            <a:r>
              <a:rPr lang="en-US" sz="2400" b="1" dirty="0" err="1">
                <a:solidFill>
                  <a:srgbClr val="FF0000"/>
                </a:solidFill>
              </a:rPr>
              <a:t>post</a:t>
            </a:r>
            <a:r>
              <a:rPr lang="en-US" sz="2400" dirty="0">
                <a:solidFill>
                  <a:schemeClr val="tx1"/>
                </a:solidFill>
              </a:rPr>
              <a:t>(</a:t>
            </a:r>
            <a:r>
              <a:rPr lang="en-US" sz="2400" dirty="0" err="1">
                <a:solidFill>
                  <a:schemeClr val="tx1"/>
                </a:solidFill>
              </a:rPr>
              <a:t>url</a:t>
            </a:r>
            <a:r>
              <a:rPr lang="en-US" sz="2400" dirty="0">
                <a:solidFill>
                  <a:schemeClr val="tx1"/>
                </a:solidFill>
              </a:rPr>
              <a:t>, form, </a:t>
            </a:r>
            <a:r>
              <a:rPr lang="en-US" sz="2400" i="1" dirty="0">
                <a:solidFill>
                  <a:schemeClr val="tx1"/>
                </a:solidFill>
              </a:rPr>
              <a:t>{</a:t>
            </a:r>
          </a:p>
          <a:p>
            <a:r>
              <a:rPr lang="en-US" sz="2400" i="1" dirty="0">
                <a:solidFill>
                  <a:schemeClr val="tx1"/>
                </a:solidFill>
              </a:rPr>
              <a:t>    </a:t>
            </a:r>
            <a:r>
              <a:rPr lang="en-US" sz="2400" i="1" dirty="0" err="1">
                <a:solidFill>
                  <a:schemeClr val="tx1"/>
                </a:solidFill>
              </a:rPr>
              <a:t>transformRequest</a:t>
            </a:r>
            <a:r>
              <a:rPr lang="en-US" sz="2400" i="1" dirty="0">
                <a:solidFill>
                  <a:schemeClr val="tx1"/>
                </a:solidFill>
              </a:rPr>
              <a:t>: </a:t>
            </a:r>
            <a:r>
              <a:rPr lang="en-US" sz="2400" i="1" dirty="0" err="1">
                <a:solidFill>
                  <a:schemeClr val="tx1"/>
                </a:solidFill>
              </a:rPr>
              <a:t>angular.identity</a:t>
            </a:r>
            <a:r>
              <a:rPr lang="en-US" sz="2400" i="1" dirty="0">
                <a:solidFill>
                  <a:schemeClr val="tx1"/>
                </a:solidFill>
              </a:rPr>
              <a:t>,</a:t>
            </a:r>
          </a:p>
          <a:p>
            <a:r>
              <a:rPr lang="en-US" sz="2400" i="1" dirty="0">
                <a:solidFill>
                  <a:schemeClr val="tx1"/>
                </a:solidFill>
              </a:rPr>
              <a:t>    headers: {'Content-Type': undefined}</a:t>
            </a:r>
          </a:p>
          <a:p>
            <a:r>
              <a:rPr lang="en-US" sz="2400" i="1" dirty="0" smtClean="0">
                <a:solidFill>
                  <a:schemeClr val="tx1"/>
                </a:solidFill>
              </a:rPr>
              <a:t>}</a:t>
            </a:r>
            <a:r>
              <a:rPr lang="en-US" sz="2400" dirty="0" smtClean="0">
                <a:solidFill>
                  <a:schemeClr val="tx1"/>
                </a:solidFill>
              </a:rPr>
              <a:t>).</a:t>
            </a:r>
            <a:r>
              <a:rPr lang="en-US" sz="2400" b="1" dirty="0">
                <a:solidFill>
                  <a:srgbClr val="FF0000"/>
                </a:solidFill>
              </a:rPr>
              <a:t>then</a:t>
            </a:r>
            <a:r>
              <a:rPr lang="en-US" sz="2400" dirty="0">
                <a:solidFill>
                  <a:schemeClr val="tx1"/>
                </a:solidFill>
              </a:rPr>
              <a:t>(</a:t>
            </a:r>
            <a:r>
              <a:rPr lang="en-US" sz="2400" dirty="0" err="1">
                <a:solidFill>
                  <a:schemeClr val="tx1"/>
                </a:solidFill>
              </a:rPr>
              <a:t>resp</a:t>
            </a:r>
            <a:r>
              <a:rPr lang="en-US" sz="2400" dirty="0">
                <a:solidFill>
                  <a:schemeClr val="tx1"/>
                </a:solidFill>
              </a:rPr>
              <a:t> =&gt; </a:t>
            </a:r>
            <a:r>
              <a:rPr lang="en-US" sz="2400" dirty="0" smtClean="0">
                <a:solidFill>
                  <a:schemeClr val="tx1"/>
                </a:solidFill>
              </a:rPr>
              <a:t>{</a:t>
            </a:r>
          </a:p>
          <a:p>
            <a:r>
              <a:rPr lang="en-US" sz="2400" i="1" dirty="0">
                <a:solidFill>
                  <a:srgbClr val="00B050"/>
                </a:solidFill>
              </a:rPr>
              <a:t> </a:t>
            </a:r>
            <a:r>
              <a:rPr lang="en-US" sz="2400" i="1" dirty="0" smtClean="0">
                <a:solidFill>
                  <a:srgbClr val="00B050"/>
                </a:solidFill>
              </a:rPr>
              <a:t>   // upload </a:t>
            </a:r>
            <a:r>
              <a:rPr lang="en-US" sz="2400" i="1" dirty="0" err="1" smtClean="0">
                <a:solidFill>
                  <a:srgbClr val="00B050"/>
                </a:solidFill>
              </a:rPr>
              <a:t>thành</a:t>
            </a:r>
            <a:r>
              <a:rPr lang="en-US" sz="2400" i="1" dirty="0" smtClean="0">
                <a:solidFill>
                  <a:srgbClr val="00B050"/>
                </a:solidFill>
              </a:rPr>
              <a:t> </a:t>
            </a:r>
            <a:r>
              <a:rPr lang="en-US" sz="2400" i="1" dirty="0" err="1" smtClean="0">
                <a:solidFill>
                  <a:srgbClr val="00B050"/>
                </a:solidFill>
              </a:rPr>
              <a:t>công</a:t>
            </a:r>
            <a:endParaRPr lang="en-US" sz="2400" i="1" dirty="0" smtClean="0">
              <a:solidFill>
                <a:srgbClr val="00B050"/>
              </a:solidFill>
            </a:endParaRPr>
          </a:p>
          <a:p>
            <a:r>
              <a:rPr lang="en-US" sz="2400" dirty="0" smtClean="0">
                <a:solidFill>
                  <a:schemeClr val="tx1"/>
                </a:solidFill>
              </a:rPr>
              <a:t>}).</a:t>
            </a:r>
            <a:r>
              <a:rPr lang="en-US" sz="2400" b="1" dirty="0">
                <a:solidFill>
                  <a:srgbClr val="FF0000"/>
                </a:solidFill>
              </a:rPr>
              <a:t>catch</a:t>
            </a:r>
            <a:r>
              <a:rPr lang="en-US" sz="2400" dirty="0">
                <a:solidFill>
                  <a:schemeClr val="tx1"/>
                </a:solidFill>
              </a:rPr>
              <a:t>(error =&gt; </a:t>
            </a:r>
            <a:r>
              <a:rPr lang="en-US" sz="2400" dirty="0" smtClean="0">
                <a:solidFill>
                  <a:schemeClr val="tx1"/>
                </a:solidFill>
              </a:rPr>
              <a:t>{</a:t>
            </a:r>
          </a:p>
          <a:p>
            <a:r>
              <a:rPr lang="en-US" sz="2400" i="1" dirty="0">
                <a:solidFill>
                  <a:srgbClr val="00B050"/>
                </a:solidFill>
              </a:rPr>
              <a:t> </a:t>
            </a:r>
            <a:r>
              <a:rPr lang="en-US" sz="2400" i="1" dirty="0" smtClean="0">
                <a:solidFill>
                  <a:srgbClr val="00B050"/>
                </a:solidFill>
              </a:rPr>
              <a:t>   // </a:t>
            </a:r>
            <a:r>
              <a:rPr lang="en-US" sz="2400" i="1" dirty="0">
                <a:solidFill>
                  <a:srgbClr val="00B050"/>
                </a:solidFill>
              </a:rPr>
              <a:t>upload </a:t>
            </a:r>
            <a:r>
              <a:rPr lang="en-US" sz="2400" i="1" dirty="0" err="1" smtClean="0">
                <a:solidFill>
                  <a:srgbClr val="00B050"/>
                </a:solidFill>
              </a:rPr>
              <a:t>thất</a:t>
            </a:r>
            <a:r>
              <a:rPr lang="en-US" sz="2400" i="1" dirty="0" smtClean="0">
                <a:solidFill>
                  <a:srgbClr val="00B050"/>
                </a:solidFill>
              </a:rPr>
              <a:t> </a:t>
            </a:r>
            <a:r>
              <a:rPr lang="en-US" sz="2400" i="1" dirty="0" err="1" smtClean="0">
                <a:solidFill>
                  <a:srgbClr val="00B050"/>
                </a:solidFill>
              </a:rPr>
              <a:t>bại</a:t>
            </a:r>
            <a:endParaRPr lang="en-US" sz="2400" dirty="0" smtClean="0">
              <a:solidFill>
                <a:schemeClr val="tx1"/>
              </a:solidFill>
            </a:endParaRPr>
          </a:p>
          <a:p>
            <a:r>
              <a:rPr lang="en-US" sz="2400" dirty="0" smtClean="0">
                <a:solidFill>
                  <a:schemeClr val="tx1"/>
                </a:solidFill>
              </a:rPr>
              <a:t>});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Consumer</a:t>
            </a:r>
            <a:endParaRPr lang="en-US" dirty="0"/>
          </a:p>
        </p:txBody>
      </p:sp>
      <p:sp>
        <p:nvSpPr>
          <p:cNvPr id="7" name="Folded Corner 6"/>
          <p:cNvSpPr/>
          <p:nvPr/>
        </p:nvSpPr>
        <p:spPr>
          <a:xfrm>
            <a:off x="5867400" y="2286000"/>
            <a:ext cx="5715000" cy="990600"/>
          </a:xfrm>
          <a:prstGeom prst="foldedCorner">
            <a:avLst>
              <a:gd name="adj" fmla="val 5696"/>
            </a:avLst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smtClean="0">
                <a:solidFill>
                  <a:schemeClr val="tx1"/>
                </a:solidFill>
              </a:rPr>
              <a:t>&lt;a </a:t>
            </a:r>
            <a:r>
              <a:rPr lang="en-US" sz="2400" dirty="0" err="1" smtClean="0">
                <a:solidFill>
                  <a:schemeClr val="tx1"/>
                </a:solidFill>
              </a:rPr>
              <a:t>href</a:t>
            </a:r>
            <a:r>
              <a:rPr lang="en-US" sz="2400" dirty="0" smtClean="0">
                <a:solidFill>
                  <a:schemeClr val="tx1"/>
                </a:solidFill>
              </a:rPr>
              <a:t>=“</a:t>
            </a:r>
            <a:r>
              <a:rPr lang="en-US" sz="2400" b="1" dirty="0" smtClean="0">
                <a:solidFill>
                  <a:srgbClr val="FF0000"/>
                </a:solidFill>
              </a:rPr>
              <a:t>/</a:t>
            </a:r>
            <a:r>
              <a:rPr lang="en-US" sz="2400" b="1" dirty="0" err="1" smtClean="0">
                <a:solidFill>
                  <a:srgbClr val="FF0000"/>
                </a:solidFill>
              </a:rPr>
              <a:t>api</a:t>
            </a:r>
            <a:r>
              <a:rPr lang="en-US" sz="2400" b="1" dirty="0" smtClean="0">
                <a:solidFill>
                  <a:srgbClr val="FF0000"/>
                </a:solidFill>
              </a:rPr>
              <a:t>/file/abc.jpg</a:t>
            </a:r>
            <a:r>
              <a:rPr lang="en-US" sz="2400" dirty="0" smtClean="0">
                <a:solidFill>
                  <a:schemeClr val="tx1"/>
                </a:solidFill>
              </a:rPr>
              <a:t>”&gt;</a:t>
            </a:r>
            <a:r>
              <a:rPr lang="en-US" sz="2400" dirty="0" err="1" smtClean="0">
                <a:solidFill>
                  <a:schemeClr val="tx1"/>
                </a:solidFill>
              </a:rPr>
              <a:t>Tải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về</a:t>
            </a:r>
            <a:r>
              <a:rPr lang="en-US" sz="2400" dirty="0" smtClean="0">
                <a:solidFill>
                  <a:schemeClr val="tx1"/>
                </a:solidFill>
              </a:rPr>
              <a:t>&lt;/a&gt;</a:t>
            </a:r>
          </a:p>
        </p:txBody>
      </p:sp>
      <p:sp>
        <p:nvSpPr>
          <p:cNvPr id="8" name="Folded Corner 7"/>
          <p:cNvSpPr/>
          <p:nvPr/>
        </p:nvSpPr>
        <p:spPr>
          <a:xfrm>
            <a:off x="5867400" y="3886200"/>
            <a:ext cx="5715000" cy="990600"/>
          </a:xfrm>
          <a:prstGeom prst="foldedCorner">
            <a:avLst>
              <a:gd name="adj" fmla="val 5696"/>
            </a:avLst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smtClean="0">
                <a:solidFill>
                  <a:schemeClr val="tx1"/>
                </a:solidFill>
              </a:rPr>
              <a:t>&lt;</a:t>
            </a:r>
            <a:r>
              <a:rPr lang="en-US" sz="2400" dirty="0" err="1" smtClean="0">
                <a:solidFill>
                  <a:schemeClr val="tx1"/>
                </a:solidFill>
              </a:rPr>
              <a:t>img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src</a:t>
            </a:r>
            <a:r>
              <a:rPr lang="en-US" sz="2400" dirty="0" smtClean="0">
                <a:solidFill>
                  <a:schemeClr val="tx1"/>
                </a:solidFill>
              </a:rPr>
              <a:t>=“</a:t>
            </a:r>
            <a:r>
              <a:rPr lang="en-US" sz="2400" b="1" dirty="0">
                <a:solidFill>
                  <a:srgbClr val="FF0000"/>
                </a:solidFill>
              </a:rPr>
              <a:t>/</a:t>
            </a:r>
            <a:r>
              <a:rPr lang="en-US" sz="2400" b="1" dirty="0" err="1">
                <a:solidFill>
                  <a:srgbClr val="FF0000"/>
                </a:solidFill>
              </a:rPr>
              <a:t>api</a:t>
            </a:r>
            <a:r>
              <a:rPr lang="en-US" sz="2400" b="1" dirty="0">
                <a:solidFill>
                  <a:srgbClr val="FF0000"/>
                </a:solidFill>
              </a:rPr>
              <a:t>/file/abc.jpg</a:t>
            </a:r>
            <a:r>
              <a:rPr lang="en-US" sz="2400" dirty="0" smtClean="0">
                <a:solidFill>
                  <a:schemeClr val="tx1"/>
                </a:solidFill>
              </a:rPr>
              <a:t>”&gt;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1078468"/>
            <a:ext cx="182293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AngularJS Upload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867400" y="1916668"/>
            <a:ext cx="174669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HTML Download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867400" y="3516868"/>
            <a:ext cx="193514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HTML </a:t>
            </a:r>
            <a:r>
              <a:rPr lang="en-US" dirty="0" err="1" smtClean="0"/>
              <a:t>Hiển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ảnh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430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3597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D:\Compressed\PSD Collection 2011\WP-201 copy.pn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8195426" y="844420"/>
            <a:ext cx="3386974" cy="5702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Tổng kết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799"/>
            <a:ext cx="7585826" cy="5261429"/>
          </a:xfrm>
        </p:spPr>
        <p:txBody>
          <a:bodyPr/>
          <a:lstStyle/>
          <a:p>
            <a:pPr>
              <a:buFont typeface="Wingdings" pitchFamily="2" charset="2"/>
              <a:buChar char="þ"/>
            </a:pPr>
            <a:r>
              <a:rPr lang="en-US" dirty="0" smtClean="0"/>
              <a:t>Spring Boot REST API</a:t>
            </a:r>
          </a:p>
          <a:p>
            <a:pPr lvl="1">
              <a:buFont typeface="Wingdings" pitchFamily="2" charset="2"/>
              <a:buChar char="þ"/>
            </a:pPr>
            <a:r>
              <a:rPr lang="en-US" dirty="0" smtClean="0"/>
              <a:t>@</a:t>
            </a:r>
            <a:r>
              <a:rPr lang="en-US" dirty="0" err="1" smtClean="0"/>
              <a:t>RestController</a:t>
            </a:r>
            <a:r>
              <a:rPr lang="en-US" dirty="0" smtClean="0"/>
              <a:t>, @</a:t>
            </a:r>
            <a:r>
              <a:rPr lang="en-US" dirty="0" err="1" smtClean="0"/>
              <a:t>GetMapping</a:t>
            </a:r>
            <a:r>
              <a:rPr lang="en-US" dirty="0" smtClean="0"/>
              <a:t>…</a:t>
            </a:r>
            <a:endParaRPr lang="en-US" dirty="0"/>
          </a:p>
          <a:p>
            <a:pPr>
              <a:buFont typeface="Wingdings" pitchFamily="2" charset="2"/>
              <a:buChar char="þ"/>
            </a:pPr>
            <a:r>
              <a:rPr lang="en-US" dirty="0" smtClean="0"/>
              <a:t>REST API with </a:t>
            </a:r>
            <a:r>
              <a:rPr lang="en-US" dirty="0" err="1" smtClean="0"/>
              <a:t>JpaRepository</a:t>
            </a:r>
            <a:endParaRPr lang="en-US" dirty="0" smtClean="0"/>
          </a:p>
          <a:p>
            <a:pPr lvl="1">
              <a:buFont typeface="Wingdings" pitchFamily="2" charset="2"/>
              <a:buChar char="þ"/>
            </a:pPr>
            <a:r>
              <a:rPr lang="en-US" dirty="0" smtClean="0"/>
              <a:t>@</a:t>
            </a:r>
            <a:r>
              <a:rPr lang="en-US" dirty="0" err="1" smtClean="0"/>
              <a:t>JsonInore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@</a:t>
            </a:r>
            <a:r>
              <a:rPr lang="en-US" dirty="0" err="1" smtClean="0"/>
              <a:t>OneToMany</a:t>
            </a:r>
            <a:endParaRPr lang="en-US" dirty="0"/>
          </a:p>
          <a:p>
            <a:pPr>
              <a:buFont typeface="Wingdings" pitchFamily="2" charset="2"/>
              <a:buChar char="þ"/>
            </a:pPr>
            <a:r>
              <a:rPr lang="en-US" dirty="0" smtClean="0"/>
              <a:t>Import Excel File using REST API</a:t>
            </a:r>
          </a:p>
          <a:p>
            <a:pPr lvl="1">
              <a:buFont typeface="Wingdings" pitchFamily="2" charset="2"/>
              <a:buChar char="þ"/>
            </a:pPr>
            <a:r>
              <a:rPr lang="en-US" dirty="0" err="1" smtClean="0"/>
              <a:t>FileReader</a:t>
            </a:r>
            <a:r>
              <a:rPr lang="en-US" dirty="0" smtClean="0"/>
              <a:t>, </a:t>
            </a:r>
            <a:r>
              <a:rPr lang="en-US" dirty="0" err="1" smtClean="0"/>
              <a:t>ExcelJS</a:t>
            </a:r>
            <a:endParaRPr lang="en-US" dirty="0"/>
          </a:p>
          <a:p>
            <a:pPr>
              <a:buFont typeface="Wingdings" pitchFamily="2" charset="2"/>
              <a:buChar char="þ"/>
            </a:pPr>
            <a:r>
              <a:rPr lang="en-US" dirty="0" smtClean="0"/>
              <a:t>Upload File using REST API</a:t>
            </a:r>
            <a:endParaRPr lang="en-US" dirty="0"/>
          </a:p>
          <a:p>
            <a:pPr lvl="1">
              <a:buFont typeface="Wingdings" pitchFamily="2" charset="2"/>
              <a:buChar char="þ"/>
            </a:pPr>
            <a:r>
              <a:rPr lang="en-US" dirty="0" err="1" smtClean="0"/>
              <a:t>FormData</a:t>
            </a:r>
            <a:endParaRPr lang="en-US" dirty="0"/>
          </a:p>
          <a:p>
            <a:pPr>
              <a:buFont typeface="Wingdings" pitchFamily="2" charset="2"/>
              <a:buChar char="þ"/>
            </a:pPr>
            <a:r>
              <a:rPr lang="en-US" dirty="0" smtClean="0"/>
              <a:t>Download </a:t>
            </a:r>
            <a:r>
              <a:rPr lang="en-US" dirty="0"/>
              <a:t>File using REST </a:t>
            </a:r>
            <a:r>
              <a:rPr lang="en-US" dirty="0" smtClean="0"/>
              <a:t>API</a:t>
            </a:r>
          </a:p>
          <a:p>
            <a:pPr lvl="1">
              <a:buFont typeface="Wingdings" pitchFamily="2" charset="2"/>
              <a:buChar char="þ"/>
            </a:pPr>
            <a:r>
              <a:rPr lang="en-US" dirty="0" smtClean="0"/>
              <a:t>Header: </a:t>
            </a:r>
            <a:r>
              <a:rPr lang="en-US" b="1" dirty="0"/>
              <a:t>Content-Disposition</a:t>
            </a:r>
          </a:p>
        </p:txBody>
      </p:sp>
    </p:spTree>
    <p:extLst>
      <p:ext uri="{BB962C8B-B14F-4D97-AF65-F5344CB8AC3E}">
        <p14:creationId xmlns:p14="http://schemas.microsoft.com/office/powerpoint/2010/main" val="3573464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/>
          </p:cNvPicPr>
          <p:nvPr>
            <p:custDataLst>
              <p:tags r:id="rId1"/>
            </p:custData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90861"/>
          <a:stretch/>
        </p:blipFill>
        <p:spPr bwMode="auto">
          <a:xfrm>
            <a:off x="0" y="0"/>
            <a:ext cx="2853507" cy="6845300"/>
          </a:xfrm>
          <a:prstGeom prst="rect">
            <a:avLst/>
          </a:prstGeom>
        </p:spPr>
      </p:pic>
      <p:pic>
        <p:nvPicPr>
          <p:cNvPr id="13" name="Picture 12"/>
          <p:cNvPicPr>
            <a:picLocks/>
          </p:cNvPicPr>
          <p:nvPr>
            <p:custDataLst>
              <p:tags r:id="rId2"/>
            </p:custDataLst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2787345" y="12700"/>
            <a:ext cx="9404656" cy="68326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275344" y="4724400"/>
            <a:ext cx="4506456" cy="223937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Ins="182880" rtlCol="0" anchor="ctr"/>
          <a:lstStyle/>
          <a:p>
            <a:pPr algn="ctr"/>
            <a:r>
              <a:rPr lang="en-US" sz="5400" b="1" spc="-20" dirty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      </a:t>
            </a:r>
            <a:r>
              <a:rPr lang="en-US" sz="5400" b="1" spc="-20" dirty="0" err="1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Cảm</a:t>
            </a:r>
            <a:r>
              <a:rPr lang="en-US" sz="5400" b="1" spc="-20" dirty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5400" b="1" spc="-20" dirty="0" err="1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ơn</a:t>
            </a:r>
            <a:endParaRPr lang="en-US" sz="5400" b="1" spc="-20" dirty="0"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1066800" y="2542160"/>
            <a:ext cx="3327030" cy="4371824"/>
            <a:chOff x="-2798010" y="2616804"/>
            <a:chExt cx="2238173" cy="4371824"/>
          </a:xfrm>
        </p:grpSpPr>
        <p:sp>
          <p:nvSpPr>
            <p:cNvPr id="16" name="Freeform 15"/>
            <p:cNvSpPr/>
            <p:nvPr/>
          </p:nvSpPr>
          <p:spPr>
            <a:xfrm>
              <a:off x="-2468880" y="3032760"/>
              <a:ext cx="1737360" cy="1935480"/>
            </a:xfrm>
            <a:custGeom>
              <a:avLst/>
              <a:gdLst>
                <a:gd name="connsiteX0" fmla="*/ 0 w 1737360"/>
                <a:gd name="connsiteY0" fmla="*/ 0 h 1935480"/>
                <a:gd name="connsiteX1" fmla="*/ 228600 w 1737360"/>
                <a:gd name="connsiteY1" fmla="*/ 1158240 h 1935480"/>
                <a:gd name="connsiteX2" fmla="*/ 701040 w 1737360"/>
                <a:gd name="connsiteY2" fmla="*/ 1524000 h 1935480"/>
                <a:gd name="connsiteX3" fmla="*/ 1432560 w 1737360"/>
                <a:gd name="connsiteY3" fmla="*/ 1935480 h 1935480"/>
                <a:gd name="connsiteX4" fmla="*/ 1737360 w 1737360"/>
                <a:gd name="connsiteY4" fmla="*/ 1844040 h 1935480"/>
                <a:gd name="connsiteX5" fmla="*/ 1706880 w 1737360"/>
                <a:gd name="connsiteY5" fmla="*/ 1676400 h 1935480"/>
                <a:gd name="connsiteX6" fmla="*/ 1706880 w 1737360"/>
                <a:gd name="connsiteY6" fmla="*/ 1234440 h 1935480"/>
                <a:gd name="connsiteX7" fmla="*/ 1493520 w 1737360"/>
                <a:gd name="connsiteY7" fmla="*/ 899160 h 1935480"/>
                <a:gd name="connsiteX8" fmla="*/ 1036320 w 1737360"/>
                <a:gd name="connsiteY8" fmla="*/ 701040 h 1935480"/>
                <a:gd name="connsiteX9" fmla="*/ 350520 w 1737360"/>
                <a:gd name="connsiteY9" fmla="*/ 259080 h 1935480"/>
                <a:gd name="connsiteX10" fmla="*/ 0 w 1737360"/>
                <a:gd name="connsiteY10" fmla="*/ 0 h 1935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37360" h="1935480">
                  <a:moveTo>
                    <a:pt x="0" y="0"/>
                  </a:moveTo>
                  <a:lnTo>
                    <a:pt x="228600" y="1158240"/>
                  </a:lnTo>
                  <a:lnTo>
                    <a:pt x="701040" y="1524000"/>
                  </a:lnTo>
                  <a:lnTo>
                    <a:pt x="1432560" y="1935480"/>
                  </a:lnTo>
                  <a:lnTo>
                    <a:pt x="1737360" y="1844040"/>
                  </a:lnTo>
                  <a:lnTo>
                    <a:pt x="1706880" y="1676400"/>
                  </a:lnTo>
                  <a:lnTo>
                    <a:pt x="1706880" y="1234440"/>
                  </a:lnTo>
                  <a:lnTo>
                    <a:pt x="1493520" y="899160"/>
                  </a:lnTo>
                  <a:lnTo>
                    <a:pt x="1036320" y="701040"/>
                  </a:lnTo>
                  <a:lnTo>
                    <a:pt x="350520" y="2590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rtlCol="0" anchor="ctr">
              <a:noAutofit/>
            </a:bodyPr>
            <a:lstStyle/>
            <a:p>
              <a:pPr algn="just">
                <a:lnSpc>
                  <a:spcPct val="120000"/>
                </a:lnSpc>
                <a:spcBef>
                  <a:spcPts val="600"/>
                </a:spcBef>
              </a:pPr>
              <a:endParaRPr lang="vi-VN" sz="2400" b="1">
                <a:latin typeface="Segoe UI" pitchFamily="34" charset="0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17" name="Group 16"/>
            <p:cNvGrpSpPr/>
            <p:nvPr/>
          </p:nvGrpSpPr>
          <p:grpSpPr>
            <a:xfrm>
              <a:off x="-2798010" y="2616804"/>
              <a:ext cx="2238173" cy="4371824"/>
              <a:chOff x="100462" y="2616804"/>
              <a:chExt cx="2238173" cy="4371824"/>
            </a:xfrm>
          </p:grpSpPr>
          <p:grpSp>
            <p:nvGrpSpPr>
              <p:cNvPr id="18" name="Group 17"/>
              <p:cNvGrpSpPr/>
              <p:nvPr/>
            </p:nvGrpSpPr>
            <p:grpSpPr>
              <a:xfrm>
                <a:off x="100462" y="2616804"/>
                <a:ext cx="2238173" cy="3972506"/>
                <a:chOff x="-84753" y="2896722"/>
                <a:chExt cx="2238173" cy="3972506"/>
              </a:xfrm>
            </p:grpSpPr>
            <p:sp>
              <p:nvSpPr>
                <p:cNvPr id="20" name="Freeform 19"/>
                <p:cNvSpPr/>
                <p:nvPr/>
              </p:nvSpPr>
              <p:spPr>
                <a:xfrm>
                  <a:off x="196771" y="3252486"/>
                  <a:ext cx="114172" cy="1400537"/>
                </a:xfrm>
                <a:custGeom>
                  <a:avLst/>
                  <a:gdLst>
                    <a:gd name="connsiteX0" fmla="*/ 0 w 57873"/>
                    <a:gd name="connsiteY0" fmla="*/ 0 h 1400537"/>
                    <a:gd name="connsiteX1" fmla="*/ 57873 w 57873"/>
                    <a:gd name="connsiteY1" fmla="*/ 1400537 h 1400537"/>
                    <a:gd name="connsiteX2" fmla="*/ 57873 w 57873"/>
                    <a:gd name="connsiteY2" fmla="*/ 1400537 h 1400537"/>
                    <a:gd name="connsiteX3" fmla="*/ 46298 w 57873"/>
                    <a:gd name="connsiteY3" fmla="*/ 57873 h 1400537"/>
                    <a:gd name="connsiteX4" fmla="*/ 0 w 57873"/>
                    <a:gd name="connsiteY4" fmla="*/ 0 h 1400537"/>
                    <a:gd name="connsiteX0" fmla="*/ 0 w 83739"/>
                    <a:gd name="connsiteY0" fmla="*/ 0 h 1400537"/>
                    <a:gd name="connsiteX1" fmla="*/ 57873 w 83739"/>
                    <a:gd name="connsiteY1" fmla="*/ 1400537 h 1400537"/>
                    <a:gd name="connsiteX2" fmla="*/ 57873 w 83739"/>
                    <a:gd name="connsiteY2" fmla="*/ 1400537 h 1400537"/>
                    <a:gd name="connsiteX3" fmla="*/ 83646 w 83739"/>
                    <a:gd name="connsiteY3" fmla="*/ 1142730 h 1400537"/>
                    <a:gd name="connsiteX4" fmla="*/ 46298 w 83739"/>
                    <a:gd name="connsiteY4" fmla="*/ 57873 h 1400537"/>
                    <a:gd name="connsiteX5" fmla="*/ 0 w 83739"/>
                    <a:gd name="connsiteY5" fmla="*/ 0 h 1400537"/>
                    <a:gd name="connsiteX0" fmla="*/ 0 w 114172"/>
                    <a:gd name="connsiteY0" fmla="*/ 0 h 1400537"/>
                    <a:gd name="connsiteX1" fmla="*/ 57873 w 114172"/>
                    <a:gd name="connsiteY1" fmla="*/ 1400537 h 1400537"/>
                    <a:gd name="connsiteX2" fmla="*/ 57873 w 114172"/>
                    <a:gd name="connsiteY2" fmla="*/ 1400537 h 1400537"/>
                    <a:gd name="connsiteX3" fmla="*/ 114126 w 114172"/>
                    <a:gd name="connsiteY3" fmla="*/ 1136634 h 1400537"/>
                    <a:gd name="connsiteX4" fmla="*/ 46298 w 114172"/>
                    <a:gd name="connsiteY4" fmla="*/ 57873 h 1400537"/>
                    <a:gd name="connsiteX5" fmla="*/ 0 w 114172"/>
                    <a:gd name="connsiteY5" fmla="*/ 0 h 1400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4172" h="1400537">
                      <a:moveTo>
                        <a:pt x="0" y="0"/>
                      </a:moveTo>
                      <a:lnTo>
                        <a:pt x="57873" y="1400537"/>
                      </a:lnTo>
                      <a:lnTo>
                        <a:pt x="57873" y="1400537"/>
                      </a:lnTo>
                      <a:cubicBezTo>
                        <a:pt x="57089" y="1327089"/>
                        <a:pt x="116055" y="1360411"/>
                        <a:pt x="114126" y="1136634"/>
                      </a:cubicBezTo>
                      <a:cubicBezTo>
                        <a:pt x="112197" y="912857"/>
                        <a:pt x="55159" y="217848"/>
                        <a:pt x="46298" y="5787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wrap="none" rtlCol="0" anchor="ctr">
                  <a:noAutofit/>
                </a:bodyPr>
                <a:lstStyle/>
                <a:p>
                  <a:pPr algn="just">
                    <a:lnSpc>
                      <a:spcPct val="120000"/>
                    </a:lnSpc>
                    <a:spcBef>
                      <a:spcPts val="600"/>
                    </a:spcBef>
                  </a:pPr>
                  <a:endParaRPr lang="vi-VN" sz="2400" b="1">
                    <a:latin typeface="Segoe UI" pitchFamily="34" charset="0"/>
                    <a:ea typeface="Segoe UI" pitchFamily="34" charset="0"/>
                    <a:cs typeface="Segoe UI" pitchFamily="34" charset="0"/>
                  </a:endParaRPr>
                </a:p>
              </p:txBody>
            </p:sp>
            <p:pic>
              <p:nvPicPr>
                <p:cNvPr id="21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6" cstate="email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backgroundRemoval t="1966" b="96151" l="24898" r="76658">
                              <a14:foregroundMark x1="30139" y1="9337" x2="46274" y2="16216"/>
                              <a14:foregroundMark x1="46274" y1="17609" x2="54464" y2="23014"/>
                              <a14:foregroundMark x1="56921" y1="29894" x2="69533" y2="34316"/>
                              <a14:foregroundMark x1="69861" y1="35627" x2="69533" y2="63554"/>
                              <a14:foregroundMark x1="68223" y1="62735" x2="70352" y2="43325"/>
                              <a14:foregroundMark x1="71171" y1="38084" x2="71990" y2="51515"/>
                              <a14:foregroundMark x1="66830" y1="41360" x2="67649" y2="52334"/>
                              <a14:foregroundMark x1="68468" y1="43571" x2="48485" y2="34562"/>
                              <a14:foregroundMark x1="69533" y1="48239" x2="62408" y2="37592"/>
                              <a14:foregroundMark x1="63554" y1="38657" x2="66257" y2="47174"/>
                              <a14:foregroundMark x1="53153" y1="19492" x2="54464" y2="23014"/>
                              <a14:foregroundMark x1="27109" y1="8272" x2="29566" y2="50942"/>
                              <a14:foregroundMark x1="31777" y1="40868" x2="30631" y2="20066"/>
                              <a14:foregroundMark x1="28174" y1="8845" x2="29566" y2="42506"/>
                              <a14:foregroundMark x1="36691" y1="46847" x2="42424" y2="48485"/>
                              <a14:foregroundMark x1="45455" y1="56429" x2="46519" y2="60033"/>
                              <a14:foregroundMark x1="49877" y1="44144" x2="58886" y2="65766"/>
                              <a14:foregroundMark x1="44799" y1="56429" x2="44881" y2="52252"/>
                              <a14:foregroundMark x1="64046" y1="38903" x2="62326" y2="45127"/>
                              <a14:foregroundMark x1="65684" y1="38002" x2="63964" y2="43735"/>
                              <a14:foregroundMark x1="62981" y1="38084" x2="63554" y2="41687"/>
                              <a14:foregroundMark x1="64619" y1="37838" x2="62162" y2="40295"/>
                              <a14:foregroundMark x1="64373" y1="38084" x2="65192" y2="44554"/>
                              <a14:foregroundMark x1="62735" y1="38903" x2="66257" y2="41360"/>
                              <a14:foregroundMark x1="66011" y1="45373" x2="69124" y2="50696"/>
                              <a14:foregroundMark x1="67813" y1="44963" x2="69042" y2="50123"/>
                              <a14:foregroundMark x1="69042" y1="44554" x2="69533" y2="50041"/>
                              <a14:foregroundMark x1="69451" y1="44308" x2="69861" y2="50041"/>
                              <a14:foregroundMark x1="69861" y1="45946" x2="69943" y2="51843"/>
                              <a14:foregroundMark x1="69697" y1="45536" x2="69861" y2="51515"/>
                              <a14:foregroundMark x1="69861" y1="46192" x2="70516" y2="49877"/>
                              <a14:foregroundMark x1="71499" y1="51351" x2="66011" y2="47830"/>
                              <a14:foregroundMark x1="64865" y1="38657" x2="62408" y2="41360"/>
                              <a14:foregroundMark x1="61753" y1="38247" x2="64373" y2="41933"/>
                              <a14:foregroundMark x1="59951" y1="38411" x2="66011" y2="41278"/>
                              <a14:foregroundMark x1="65684" y1="37265" x2="63964" y2="41360"/>
                              <a14:foregroundMark x1="59541" y1="37428" x2="61179" y2="42506"/>
                              <a14:foregroundMark x1="61753" y1="38411" x2="64373" y2="43489"/>
                              <a14:foregroundMark x1="62735" y1="39230" x2="62981" y2="41933"/>
                              <a14:foregroundMark x1="61507" y1="37674" x2="62817" y2="43735"/>
                              <a14:foregroundMark x1="61998" y1="38084" x2="63145" y2="42097"/>
                              <a14:foregroundMark x1="61589" y1="38247" x2="63145" y2="42670"/>
                              <a14:foregroundMark x1="62408" y1="37428" x2="64046" y2="42916"/>
                              <a14:foregroundMark x1="62981" y1="37674" x2="65029" y2="43489"/>
                              <a14:foregroundMark x1="63145" y1="35790" x2="66093" y2="44144"/>
                              <a14:foregroundMark x1="64455" y1="37265" x2="66257" y2="45536"/>
                              <a14:foregroundMark x1="64373" y1="37838" x2="67240" y2="43079"/>
                              <a14:foregroundMark x1="62981" y1="38411" x2="62817" y2="43079"/>
                              <a14:foregroundMark x1="62817" y1="42097" x2="65192" y2="45536"/>
                              <a14:foregroundMark x1="28501" y1="26454" x2="29566" y2="42752"/>
                              <a14:foregroundMark x1="26863" y1="5815" x2="33170" y2="93939"/>
                              <a14:foregroundMark x1="27355" y1="4996" x2="27109" y2="8026"/>
                              <a14:foregroundMark x1="61916" y1="36773" x2="66749" y2="41769"/>
                              <a14:foregroundMark x1="65192" y1="34889" x2="67322" y2="46192"/>
                              <a14:foregroundMark x1="68468" y1="41032" x2="69206" y2="52334"/>
                              <a14:foregroundMark x1="70762" y1="46028" x2="70188" y2="51761"/>
                              <a14:foregroundMark x1="71335" y1="47174" x2="69042" y2="52170"/>
                              <a14:foregroundMark x1="71744" y1="51188" x2="65438" y2="48157"/>
                              <a14:foregroundMark x1="67158" y1="47748" x2="70188" y2="49877"/>
                              <a14:foregroundMark x1="71581" y1="52334" x2="62326" y2="36036"/>
                              <a14:foregroundMark x1="62572" y1="35299" x2="66339" y2="40049"/>
                              <a14:foregroundMark x1="64455" y1="35053" x2="65602" y2="41196"/>
                              <a14:foregroundMark x1="64619" y1="35872" x2="66175" y2="45045"/>
                              <a14:foregroundMark x1="62899" y1="38329" x2="65192" y2="44636"/>
                              <a14:foregroundMark x1="63145" y1="37183" x2="65029" y2="44308"/>
                              <a14:foregroundMark x1="62162" y1="37183" x2="67158" y2="46765"/>
                              <a14:foregroundMark x1="63309" y1="35463" x2="68059" y2="52334"/>
                              <a14:foregroundMark x1="65192" y1="40868" x2="70434" y2="50450"/>
                              <a14:foregroundMark x1="68059" y1="41769" x2="69451" y2="50205"/>
                              <a14:foregroundMark x1="67158" y1="41605" x2="68468" y2="52744"/>
                              <a14:foregroundMark x1="68468" y1="47174" x2="69861" y2="54218"/>
                              <a14:foregroundMark x1="68059" y1="44881" x2="69451" y2="53481"/>
                              <a14:foregroundMark x1="69206" y1="45618" x2="70434" y2="55201"/>
                              <a14:foregroundMark x1="68632" y1="45618" x2="70598" y2="54054"/>
                              <a14:foregroundMark x1="69861" y1="47748" x2="69861" y2="53317"/>
                              <a14:foregroundMark x1="69861" y1="46765" x2="69861" y2="51351"/>
                              <a14:foregroundMark x1="70598" y1="45618" x2="70598" y2="52170"/>
                              <a14:foregroundMark x1="70598" y1="48894" x2="71007" y2="53645"/>
                              <a14:foregroundMark x1="70434" y1="45455" x2="70434" y2="49304"/>
                              <a14:foregroundMark x1="70434" y1="46355" x2="70434" y2="54218"/>
                              <a14:foregroundMark x1="70434" y1="46929" x2="70598" y2="52170"/>
                              <a14:foregroundMark x1="70598" y1="47338" x2="70598" y2="53890"/>
                              <a14:foregroundMark x1="70188" y1="44472" x2="70188" y2="52170"/>
                              <a14:foregroundMark x1="70188" y1="43898" x2="70762" y2="52744"/>
                              <a14:foregroundMark x1="70434" y1="47748" x2="70762" y2="53071"/>
                              <a14:foregroundMark x1="69861" y1="43161" x2="70025" y2="50450"/>
                              <a14:foregroundMark x1="66175" y1="40459" x2="67486" y2="48321"/>
                              <a14:foregroundMark x1="65192" y1="35872" x2="67895" y2="47174"/>
                              <a14:foregroundMark x1="63882" y1="36036" x2="66585" y2="44308"/>
                              <a14:foregroundMark x1="64292" y1="38903" x2="65602" y2="45209"/>
                              <a14:foregroundMark x1="63882" y1="38739" x2="65766" y2="45209"/>
                              <a14:foregroundMark x1="64046" y1="39066" x2="65192" y2="44308"/>
                              <a14:foregroundMark x1="63882" y1="41032" x2="65029" y2="45618"/>
                              <a14:foregroundMark x1="64292" y1="41605" x2="65602" y2="46929"/>
                              <a14:foregroundMark x1="70188" y1="46765" x2="70025" y2="53972"/>
                              <a14:foregroundMark x1="70352" y1="45700" x2="70352" y2="51843"/>
                              <a14:foregroundMark x1="70352" y1="43980" x2="69861" y2="52007"/>
                              <a14:foregroundMark x1="69533" y1="44308" x2="69124" y2="52334"/>
                              <a14:foregroundMark x1="68305" y1="48321" x2="68305" y2="53645"/>
                              <a14:foregroundMark x1="67895" y1="46028" x2="67731" y2="50942"/>
                              <a14:foregroundMark x1="67568" y1="47502" x2="67568" y2="53071"/>
                              <a14:foregroundMark x1="66912" y1="47093" x2="66912" y2="53071"/>
                              <a14:foregroundMark x1="66912" y1="48894" x2="66912" y2="54136"/>
                              <a14:foregroundMark x1="66912" y1="45864" x2="67240" y2="53399"/>
                              <a14:foregroundMark x1="67404" y1="46355" x2="68141" y2="53972"/>
                              <a14:foregroundMark x1="68141" y1="47420" x2="69124" y2="54791"/>
                              <a14:foregroundMark x1="70025" y1="44308" x2="70188" y2="53071"/>
                              <a14:foregroundMark x1="71253" y1="43407" x2="71253" y2="50287"/>
                              <a14:foregroundMark x1="71253" y1="47256" x2="71253" y2="55528"/>
                              <a14:foregroundMark x1="71826" y1="45536" x2="71826" y2="52907"/>
                              <a14:foregroundMark x1="71826" y1="47093" x2="71826" y2="52580"/>
                              <a14:foregroundMark x1="71663" y1="45536" x2="71663" y2="52580"/>
                              <a14:foregroundMark x1="71663" y1="46028" x2="70925" y2="53563"/>
                              <a14:foregroundMark x1="70925" y1="46765" x2="70925" y2="52907"/>
                              <a14:foregroundMark x1="70925" y1="43898" x2="70598" y2="53235"/>
                              <a14:foregroundMark x1="70598" y1="48321" x2="70352" y2="53071"/>
                              <a14:foregroundMark x1="70188" y1="47256" x2="70352" y2="53972"/>
                              <a14:foregroundMark x1="70352" y1="46601" x2="70352" y2="54136"/>
                              <a14:foregroundMark x1="70352" y1="45700" x2="70352" y2="50614"/>
                              <a14:foregroundMark x1="70352" y1="47093" x2="70352" y2="53071"/>
                              <a14:foregroundMark x1="70352" y1="47502" x2="70188" y2="54300"/>
                              <a14:foregroundMark x1="69369" y1="46028" x2="69206" y2="50614"/>
                              <a14:foregroundMark x1="69206" y1="47666" x2="69206" y2="52416"/>
                              <a14:foregroundMark x1="69206" y1="44963" x2="69206" y2="49713"/>
                              <a14:foregroundMark x1="69206" y1="45536" x2="68960" y2="49959"/>
                              <a14:foregroundMark x1="68960" y1="45209" x2="68305" y2="53563"/>
                              <a14:foregroundMark x1="67731" y1="48731" x2="67731" y2="54464"/>
                              <a14:foregroundMark x1="66912" y1="47093" x2="66912" y2="52334"/>
                              <a14:foregroundMark x1="68059" y1="46192" x2="68468" y2="52334"/>
                              <a14:foregroundMark x1="69369" y1="48321" x2="69861" y2="52580"/>
                              <a14:foregroundMark x1="70598" y1="47256" x2="70925" y2="52907"/>
                              <a14:foregroundMark x1="70925" y1="49386" x2="71417" y2="55528"/>
                              <a14:foregroundMark x1="66667" y1="39885" x2="66667" y2="43079"/>
                              <a14:foregroundMark x1="63882" y1="36364" x2="63882" y2="44144"/>
                              <a14:foregroundMark x1="27518" y1="8108" x2="28583" y2="27518"/>
                              <a14:foregroundMark x1="27846" y1="9091" x2="27928" y2="15889"/>
                              <a14:foregroundMark x1="28256" y1="9091" x2="27928" y2="15233"/>
                              <a14:foregroundMark x1="27928" y1="9582" x2="27928" y2="15315"/>
                              <a14:foregroundMark x1="27518" y1="8518" x2="28583" y2="33743"/>
                              <a14:foregroundMark x1="28010" y1="9500" x2="28256" y2="33170"/>
                              <a14:foregroundMark x1="29238" y1="17199" x2="29238" y2="27027"/>
                              <a14:foregroundMark x1="28829" y1="20147" x2="28665" y2="29484"/>
                              <a14:foregroundMark x1="28665" y1="18509" x2="28665" y2="29975"/>
                              <a14:foregroundMark x1="28419" y1="18591" x2="28337" y2="29730"/>
                              <a14:foregroundMark x1="28256" y1="16462" x2="28256" y2="25471"/>
                              <a14:foregroundMark x1="27437" y1="9173" x2="27437" y2="20147"/>
                              <a14:foregroundMark x1="28010" y1="9337" x2="28337" y2="26454"/>
                              <a14:foregroundMark x1="28665" y1="8681" x2="28665" y2="17690"/>
                              <a14:foregroundMark x1="27928" y1="9582" x2="27928" y2="16871"/>
                              <a14:foregroundMark x1="27928" y1="10074" x2="27928" y2="16380"/>
                              <a14:foregroundMark x1="27928" y1="9910" x2="28092" y2="16953"/>
                              <a14:foregroundMark x1="27518" y1="10319" x2="28993" y2="23260"/>
                              <a14:foregroundMark x1="27764" y1="16462" x2="28092" y2="24652"/>
                              <a14:foregroundMark x1="27928" y1="18755" x2="27928" y2="22113"/>
                              <a14:foregroundMark x1="27682" y1="19165" x2="28010" y2="23915"/>
                              <a14:foregroundMark x1="29238" y1="36773" x2="28911" y2="43571"/>
                              <a14:foregroundMark x1="28829" y1="37183" x2="28829" y2="41769"/>
                              <a14:foregroundMark x1="28501" y1="36691" x2="28665" y2="40704"/>
                              <a14:foregroundMark x1="28665" y1="34562" x2="29566" y2="42015"/>
                              <a14:foregroundMark x1="29566" y1="33415" x2="30221" y2="41114"/>
                              <a14:foregroundMark x1="30221" y1="32187" x2="30631" y2="40459"/>
                              <a14:foregroundMark x1="30631" y1="26699" x2="30631" y2="33989"/>
                              <a14:foregroundMark x1="29484" y1="26699" x2="29484" y2="34808"/>
                              <a14:foregroundMark x1="28993" y1="24980" x2="29075" y2="33088"/>
                              <a14:foregroundMark x1="28501" y1="23833" x2="28501" y2="32596"/>
                              <a14:foregroundMark x1="28501" y1="23260" x2="29075" y2="33661"/>
                              <a14:foregroundMark x1="28419" y1="22932" x2="28419" y2="29975"/>
                              <a14:foregroundMark x1="28419" y1="21048" x2="28665" y2="31695"/>
                              <a14:foregroundMark x1="27928" y1="24161" x2="28419" y2="33907"/>
                              <a14:foregroundMark x1="28419" y1="24324" x2="30303" y2="36937"/>
                              <a14:backgroundMark x1="26044" y1="32596" x2="27764" y2="70844"/>
                              <a14:backgroundMark x1="33661" y1="54300" x2="36118" y2="74283"/>
                              <a14:backgroundMark x1="30958" y1="4423" x2="55610" y2="12940"/>
                              <a14:backgroundMark x1="51515" y1="11548" x2="67322" y2="26044"/>
                              <a14:backgroundMark x1="61916" y1="27191" x2="71744" y2="26618"/>
                              <a14:backgroundMark x1="69533" y1="6388" x2="71744" y2="19247"/>
                              <a14:backgroundMark x1="75020" y1="32924" x2="74201" y2="94267"/>
                              <a14:backgroundMark x1="70925" y1="92056" x2="38575" y2="91237"/>
                              <a14:backgroundMark x1="32023" y1="94758" x2="26044" y2="7699"/>
                              <a14:backgroundMark x1="31450" y1="53972" x2="34480" y2="93694"/>
                              <a14:backgroundMark x1="38575" y1="94758" x2="59132" y2="95086"/>
                              <a14:backgroundMark x1="37265" y1="58067" x2="45209" y2="80835"/>
                              <a14:backgroundMark x1="43243" y1="71007" x2="67649" y2="81081"/>
                              <a14:backgroundMark x1="70106" y1="73464" x2="40213" y2="84685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 l="20048" r="23612"/>
                <a:stretch/>
              </p:blipFill>
              <p:spPr bwMode="auto">
                <a:xfrm>
                  <a:off x="-84753" y="2896722"/>
                  <a:ext cx="2238173" cy="397250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grpSp>
          <p:pic>
            <p:nvPicPr>
              <p:cNvPr id="19" name="Picture 3"/>
              <p:cNvPicPr>
                <a:picLocks noChangeAspect="1" noChangeArrowheads="1"/>
              </p:cNvPicPr>
              <p:nvPr/>
            </p:nvPicPr>
            <p:blipFill rotWithShape="1">
              <a:blip r:embed="rId8" cstate="email">
                <a:clrChange>
                  <a:clrFrom>
                    <a:srgbClr val="CBC9CC"/>
                  </a:clrFrom>
                  <a:clrTo>
                    <a:srgbClr val="CBC9CC">
                      <a:alpha val="0"/>
                    </a:srgbClr>
                  </a:clrTo>
                </a:clrChange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2439" b="97073" l="9016" r="67213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100462" y="5057191"/>
                <a:ext cx="1150930" cy="19314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445554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XSS_ORIGINAL" val="10,Group 9,646,Slide391"/>
  <p:tag name="PPTXSS_SETTINGS" val="0,0,0,0,0,3,True,True"/>
  <p:tag name="PTXSS_ORIGID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XSS_ORIGINAL" val="10,Group 9,646,Slide391"/>
  <p:tag name="PPTXSS_SETTINGS" val="0,0,0,0,0,3,True,True"/>
  <p:tag name="PTXSS_ORIGID" val="1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11865</TotalTime>
  <Words>1157</Words>
  <Application>Microsoft Office PowerPoint</Application>
  <PresentationFormat>Widescreen</PresentationFormat>
  <Paragraphs>261</Paragraphs>
  <Slides>42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2" baseType="lpstr">
      <vt:lpstr>Arial</vt:lpstr>
      <vt:lpstr>Arial Narrow</vt:lpstr>
      <vt:lpstr>Calibri</vt:lpstr>
      <vt:lpstr>Cambria</vt:lpstr>
      <vt:lpstr>Courier New</vt:lpstr>
      <vt:lpstr>Roboto</vt:lpstr>
      <vt:lpstr>Roboto Lt</vt:lpstr>
      <vt:lpstr>Segoe UI</vt:lpstr>
      <vt:lpstr>Wingdings</vt:lpstr>
      <vt:lpstr>Custom Design</vt:lpstr>
      <vt:lpstr>Advanced RESTful API</vt:lpstr>
      <vt:lpstr>Course Introduction</vt:lpstr>
      <vt:lpstr>REST API Communication Model</vt:lpstr>
      <vt:lpstr>PowerPoint Presentation</vt:lpstr>
      <vt:lpstr>StudentRestController</vt:lpstr>
      <vt:lpstr>StudentRestController  Inplementation</vt:lpstr>
      <vt:lpstr>@CrossOrigin</vt:lpstr>
      <vt:lpstr>PowerPoint Presentation</vt:lpstr>
      <vt:lpstr>ResponseEntity API</vt:lpstr>
      <vt:lpstr>ResponseEntity API</vt:lpstr>
      <vt:lpstr>Return Void</vt:lpstr>
      <vt:lpstr>ResponseEntity API</vt:lpstr>
      <vt:lpstr>Using ResponseEntity</vt:lpstr>
      <vt:lpstr>PowerPoint Presentation</vt:lpstr>
      <vt:lpstr>Rest API &amp; JpaRepository</vt:lpstr>
      <vt:lpstr>Database Relationship Diagram</vt:lpstr>
      <vt:lpstr>ERD – Entity Relational Diagram</vt:lpstr>
      <vt:lpstr>Association Entity Class Mapping</vt:lpstr>
      <vt:lpstr>DAO Class Diagram</vt:lpstr>
      <vt:lpstr>Review JpaRepository API</vt:lpstr>
      <vt:lpstr>PowerPoint Presentation</vt:lpstr>
      <vt:lpstr>CategoryRestController</vt:lpstr>
      <vt:lpstr>CategoryRestController Structure</vt:lpstr>
      <vt:lpstr>CategoryRestController Implementation</vt:lpstr>
      <vt:lpstr>CategoryRestController Implementation</vt:lpstr>
      <vt:lpstr>PowerPoint Presentation</vt:lpstr>
      <vt:lpstr>PowerPoint Presentation</vt:lpstr>
      <vt:lpstr>Excel File Concepts</vt:lpstr>
      <vt:lpstr>FileReader &amp; ExcelJS</vt:lpstr>
      <vt:lpstr>FileReader API</vt:lpstr>
      <vt:lpstr>ExcelJS</vt:lpstr>
      <vt:lpstr>Read data from cells of a row</vt:lpstr>
      <vt:lpstr>PowerPoint Presentation</vt:lpstr>
      <vt:lpstr>PowerPoint Presentation</vt:lpstr>
      <vt:lpstr>Up/Down File App Model</vt:lpstr>
      <vt:lpstr>FileManagerRestController</vt:lpstr>
      <vt:lpstr>FileManagerService</vt:lpstr>
      <vt:lpstr>FileManagerRestController</vt:lpstr>
      <vt:lpstr>Web Consumer</vt:lpstr>
      <vt:lpstr>PowerPoint Presentation</vt:lpstr>
      <vt:lpstr>Tổng kết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 Học Văn Phòng</dc:title>
  <dc:creator>Hans</dc:creator>
  <cp:lastModifiedBy>Admin</cp:lastModifiedBy>
  <cp:revision>1718</cp:revision>
  <dcterms:created xsi:type="dcterms:W3CDTF">2013-04-23T08:05:33Z</dcterms:created>
  <dcterms:modified xsi:type="dcterms:W3CDTF">2021-03-10T07:02:41Z</dcterms:modified>
</cp:coreProperties>
</file>